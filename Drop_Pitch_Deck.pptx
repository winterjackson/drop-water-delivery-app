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CFEDFF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CFEDFF"/>
                </a:solidFill>
                <a:latin typeface="Karla"/>
              </a:defRPr>
            </a:pPr>
            <a:r>
              <a:t>Investor 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Automated Teller Machines (ATMs)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Total Addressable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Entire Kenya Water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Total annual expenditure on water supply &amp; sanitation across Kenya — formal public utilities, private tankers, water kiosks, and vendors (WASREB &amp; World Bank estimates).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451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Available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Urban 20L Refill &amp; Packaged Water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Annual market for packaged and vended 20L refill water across Kenya's urban and peri-urban centers, serving households and businesses requiring clean drinking water.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609344"/>
            <a:ext cx="3017520" cy="621792"/>
          </a:xfrm>
          <a:prstGeom prst="roundRect">
            <a:avLst/>
          </a:prstGeom>
          <a:solidFill>
            <a:srgbClr val="CF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27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Obtainable 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Nairobi Metro Beachhead (24 Mo)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Immediate 24-month serviceable capture: 1.8M households across Nairobi metro and high-density satellite towns (Rongai, Ngong, Ruiru, Kiambu) ordering 2–4 refills/week.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Kenya Population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KNBS &amp; World Bank (2024/25)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83.5%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Smartphone 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Communications Authority (CA)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34M+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Active M-Pesa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Safaricom Annual Report FY24/25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Rely on Non-Tap / Refills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WASREB 18th Report (42% piped safe)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0819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📊 All metrics verified against official sources: Water Services Regulatory Board (WASREB) 18th Impact Report • Safaricom PLC Annual Reports • Communications Authority of Kenya (CA) • KNBS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"Swap &amp; Drop"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frictionless 6-step physical exchange loop that eliminates hauling heavy 20kg water bottles up stairs.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Scan &amp; 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opens Drop, scans live neighborhood water refill stations on the map, compares prices (KSh 60–100), and reviews station ratings.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Order &amp; M-Pesa 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return count, and checks out via seamless M-Pesa SIM Tool Kit (STK) Push.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Two-tier dispatch engine broadcasts the delivery to station-employed riders first, or to verified neighborhood gig riders within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Exchange &amp; Haul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Rider collects customer empty 20L bottles from the doorstep, swaps for purified bottles at the partner station, and handles the heavy lifting.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177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tracks rider Global Positioning System (GPS) in real time. Rider climbs stairs and delivers 20kg bottles directly into the kitchen.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53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Instant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escrow splits revenue instantly: vendor and rider wallets receive payouts, while the digital bottle ledger updates with zero deposit dispute.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Platform Defensibility &amp; Anti-Leakage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Why customers, riders, and refill stations stay locked onto Drop instead of transacting off-platform.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Digital Bottle Float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Each 20L container costs KSh 450–600. Vendors lose significant capital annually to stolen or unreturned bottles. Drop's cryptographically audited custody ledger and escrow deposit guarantee eliminate bottle loss disputes — vendors refuse off-platform deliveries to protect their float.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25112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Elastic Multi-Vendor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Neighborhood refill stations frequently suffer borehole rationing, power blackouts, or filter maintenance. Direct offline customer-vendor relationships fail when a shop goes dry. Drop dynamically routes orders to the nearest open station, guaranteeing delivery in under 45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50024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Automated M-Pesa Escrow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Direct offline arrangements require awkward cash change or manual M-Pesa transfer haggling on the stairs. Drop eliminates payment friction: customers pay via one-click prompt, while riders and vendors receive automated, dispute-free wallet payouts upon verified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74936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Rider Batching &amp; High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Independent riders make 40% more income on Drop by batching multiple heavy 20kg deliveries along clustered estate routes. During slow mid-day retail hours, Drop provides steady on-demand delivery volume that no single physical shop can offer alone.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5% on retail (Business-to-Consumer)</a:t>
            </a:r>
            <a:br/>
            <a:r>
              <a:t>5% on wholesale (Business-to-Business)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Automated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Predictable, Profitable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Drop achieves healthy positive unit contribution margin on every single 20L bottle delivered from Day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Retail Order: 1x 20L Refill Bottle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Typical Household Order (2 km average distance)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Water Refill Price (Station)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100.00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Delivery Fee (Base 80 + 20/km × 2 km)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120.00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Service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35.00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Customer (M-Pesa)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255.00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Vendor Net (Refill Price less 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95.00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Rider Net (Delivery less 10% Commission)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108.00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Revenue (5 + 12 + 35)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52.00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M-Pesa Collection Cost (STK Push)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DC2626"/>
                </a:solidFill>
                <a:latin typeface="JetBrains Mono"/>
              </a:defRPr>
            </a:pPr>
            <a:r>
              <a:t>-KSh 15.00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37.00 (71.2%)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Wholesale Order: 20x 20L Bottles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Office / School Bulk Order (Tuk-Tuk, 5 km)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Water (20 × KSh 70)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1,400.00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Freight Delivery (Tuk-Tuk: 150 + 100×5km)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650.00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Delivery Markup (5% of Fee)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32.50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Platform Service Fee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120.00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Commercial Client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2,170.00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Vendor Net (Product − 5% + Delivery − Markup)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1,947.50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Take (70 + 32.50 + 120)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548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222.50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M-Pesa Collection Cost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DC2626"/>
                </a:solidFill>
                <a:latin typeface="JetBrains Mono"/>
              </a:defRPr>
            </a:pPr>
            <a:r>
              <a:t>-KSh 15.00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5548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207.50 (93.3%)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5961888"/>
            <a:ext cx="10698480" cy="43891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59801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📈  Compounding Flywheel: 4.2 monthly refills per household = KSh 155 monthly net contribution per active customer. Customer Acquisition Cost (CAC) estimated at KSh 180 is fully paid back in under 35 days.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Framework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Database + PostGIS + H3 Spatial Indexing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Object-Relational Mapping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(Publish/Subscribe, Job Queues, Rate Limiting)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Asynchronous Background Job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(SIM Tool Kit) Push / Business-to-Consumer (B2C)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Amazon Web Services (AWS) Simple Storage Service (S3)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JSON Web Token (JWT)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Error Monitoring  •  Prometheus Metrics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Software Development Kit (SDK)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 (File-Based Navigation)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Styling  •  TanStack Query v5 Data Fetching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 Architecture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Client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Live WebSocket Location Streaming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(Operations Console Web Application)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CSS v4  •  Recharts Visualizations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Cloud Deployment (Operations 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70"/>
              </a:lnSpc>
              <a:spcAft>
                <a:spcPts val="0"/>
              </a:spcAft>
              <a:defRPr sz="105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Backend-for-Frontend (BFF) — the browser never holds an Application Programming Interface (API) token.</a:t>
            </a:r>
            <a:br/>
            <a:r>
              <a:t>Geospatial: Uber H3 spatial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Know Your Customer (KYC) Verification  •  Live Map</a:t>
            </a:r>
            <a:br/>
            <a:r>
              <a:t>Catalogue  •  Bottle Float Ledger  •  Vendor Verification  •  Disputes</a:t>
            </a:r>
            <a:br/>
            <a:r>
              <a:t>Reviews  •  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database through Application Programming Interface (API) to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JSON Web Token (JWT)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Know Your Customer (KYC)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Backend-for-Frontend (BFF) architecture — browser never holds Application Programming Interface (API)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Abstract Syntax Tree (AST)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(Global Positioning System)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 Beachhead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Focus corridor: Ngong Town &amp; Rongai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partner refill stations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vetted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active household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contribution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Metro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wholesale (Business-to-Business)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Office &amp; school recurring subscriptions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delivered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National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major Kenyan urban hubs (Mombasa, Kisumu)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corporate dispatch portal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testing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Regional East Africa expansion (Uganda &amp; Tanzania)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13.4M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2.07M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0.45M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1.88M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97.6M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14.0M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2.7M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0.7M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765.6M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103.3M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18M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20.3M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Android Application Packages (APKs) available for download on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Comprehensive test suite with Abstract Syntax Tree (AST) structural walkers. Continuous Integration (CI/CD)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Operations console with Know Your Customer (KYC), disputes, reconciliation, delivery replay, and financial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Clerk authentication, Backend-for-Frontend (BFF) pattern, encrypted Personally Identifiable Information (PII), audited mutations.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Leadership &amp; Operational DNA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purpose-built team pairing institutional software engineering with grassroots Kenyan trade logistics.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659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Technical &amp; Systems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Full-Stack Lead &amp; Platform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Expert in high-reliability distributed systems, geospatial H3 indexing, and financial state machines. Designed and built the entire Drop platform (FastAPI, React Native, 27-screen Operations Console, and 704 automated test invariants).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235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Field Operations &amp; Merchant Logistics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Vendor Onboarding &amp; Rider Fleets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Deep operational execution across Nairobi peri-urban retail corridors (Ngong, Rongai, Dagoretti). Direct relationships with local water borehole operators, refill shop owners, and motorbike rider sacco cooperatives.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Growth &amp; Regulatory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Commercial Growth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Specialist in East African mobile money ecosystems, Water Services Regulatory Board (WASREB) standards, and Kenya Data Protection Act compliance. Leading the commercial pipeline for schools, offices, and bulk water buyers.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79008"/>
            <a:ext cx="10698480" cy="5029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81558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6DB0"/>
                </a:solidFill>
                <a:latin typeface="Karla"/>
              </a:defRPr>
            </a:pPr>
            <a:r>
              <a:t>🤝 Local Moat: Direct grassroots ground presence and pre-agreed pilot partnerships with 30+ water refill kiosks and local motorbike stages in the Ngong-Rongai municipal corridor.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Ask: Proof-of-Market Seed 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Raising KSH 15M (~$115,000 US Dollars / USD)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18-month operational runway to reach 25,000 monthly orders and prove recurring profitability across 5 Nairobi corridors.</a:t>
            </a:r>
          </a:p>
        </p:txBody>
      </p:sp>
      <p:sp>
        <p:nvSpPr>
          <p:cNvPr id="5" name="Oval 4"/>
          <p:cNvSpPr/>
          <p:nvPr/>
        </p:nvSpPr>
        <p:spPr>
          <a:xfrm>
            <a:off x="141732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Field 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consumer activations, and neighborhood corridor density in Nairobi satellites.</a:t>
            </a:r>
          </a:p>
        </p:txBody>
      </p:sp>
      <p:sp>
        <p:nvSpPr>
          <p:cNvPr id="8" name="Oval 7"/>
          <p:cNvSpPr/>
          <p:nvPr/>
        </p:nvSpPr>
        <p:spPr>
          <a:xfrm>
            <a:off x="425196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Engineering &amp;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Google Play Store listing, iOS development, real-time push dispatch, automated SMS fallbacks, and offline resilience.</a:t>
            </a:r>
          </a:p>
        </p:txBody>
      </p:sp>
      <p:sp>
        <p:nvSpPr>
          <p:cNvPr id="11" name="Oval 10"/>
          <p:cNvSpPr/>
          <p:nvPr/>
        </p:nvSpPr>
        <p:spPr>
          <a:xfrm>
            <a:off x="708660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Infrastructure &amp; Float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High-availability PostgreSQL database, Redis clusters, AWS S3 storage, Clerk identity, and automated M-Pesa escrow float.</a:t>
            </a:r>
          </a:p>
        </p:txBody>
      </p:sp>
      <p:sp>
        <p:nvSpPr>
          <p:cNvPr id="14" name="Oval 13"/>
          <p:cNvSpPr/>
          <p:nvPr/>
        </p:nvSpPr>
        <p:spPr>
          <a:xfrm>
            <a:off x="992124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Regulatory compliance, Water Services Regulatory Board (WASREB) standards, Kenya Data Protection Act, and vendor contracts.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40680"/>
            <a:ext cx="10698480" cy="84124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332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Fredoka"/>
              </a:defRPr>
            </a:pPr>
            <a:r>
              <a:t>🎯  Key 18-Month Milestones: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• M3: 50 Stations &amp; 100 Riders active in Ngong/Rongai pilot corridor  •  M6: 1,000 Household customers, unit economics proven at scale</a:t>
            </a:r>
            <a:br/>
            <a:r>
              <a:t>• M12: 10,000 monthly orders across 3 Nairobi sub-counties  •  M18: 25,000 monthly orders, KSh 33M Annual Recurring Revenue (ARR) run-rate, cashflow sustainable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CFED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📱  Beta Android App (APK) Downloads: Available on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