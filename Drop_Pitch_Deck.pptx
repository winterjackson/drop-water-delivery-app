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Aft>
                <a:spcPts val="0"/>
              </a:spcAft>
              <a:defRPr sz="7200" b="1">
                <a:solidFill>
                  <a:srgbClr val="FFFFFF"/>
                </a:solidFill>
                <a:latin typeface="Fredoka"/>
              </a:defRPr>
            </a:pPr>
            <a:r>
              <a:t>💧 Drop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2800" b="0">
                <a:solidFill>
                  <a:srgbClr val="FFFFFF"/>
                </a:solidFill>
                <a:latin typeface="Fredoka"/>
              </a:defRPr>
            </a:pPr>
            <a:r>
              <a:t>Clean Water, Delivered to Your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93192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CFEDFF"/>
                </a:solidFill>
                <a:latin typeface="Karla"/>
              </a:defRPr>
            </a:pPr>
            <a:r>
              <a:t>On-demand delivery platform for neighborhood water refill stations.</a:t>
            </a:r>
            <a:br/>
            <a:r>
              <a:t>Scan nearby stations, compare refill prices, and eliminate the 20kg hauling struggle.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6692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CFEDFF"/>
                </a:solidFill>
                <a:latin typeface="Karla"/>
              </a:defRPr>
            </a:pPr>
            <a:r>
              <a:t>Investor Pitch Deck  •  September 2026  •  Beta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719"/>
              </a:lnSpc>
              <a:spcAft>
                <a:spcPts val="0"/>
              </a:spcAft>
              <a:defRPr sz="3100" b="1">
                <a:solidFill>
                  <a:srgbClr val="1E293B"/>
                </a:solidFill>
                <a:latin typeface="Fredoka"/>
              </a:defRPr>
            </a:pPr>
            <a:r>
              <a:t>The Problem: Water Refill Station Logistics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Millions of urban Kenyans rely on local refill stations for clean 20L drinking water. But getting it home is exhausting: walking with empties, carrying 20kg back, or bargaining with random street bodas.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671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🚶‍♂️  The Exhausting "20kg Walk"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2432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To get clean drinking water, customers must carry an empty 20L bottle, walk to a neighborhood refill shop, wait in line, and physically haul a back-breaking 20kg (44 lbs) refilled container back home on foot — often climbing several flights of apartment stairs.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6596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1671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🏍️  The Inconvenient Boda Compromise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62432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To avoid the 20kg walk, customers must walk to a roadside stage, hail a motorbike rider, haggle over arbitrary fares, and dangerously balance a 20L bottle on the bike — turning an affordable KSh 80 refill into an expensive, risky ordeal.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4074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🏪  Refill Stations Lack Delivery Fleets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86460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Neighborhood water refill shops and Automated Teller Machines (ATMs) have pure purification capacity, but operate strictly as walk-in counters. With no delivery fleet or dispatch tools, they cannot reach busy families, offices, or customers living beyond walking distance.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0624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44074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🔍  Blind Discovery &amp; Price Opacity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86460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Customers cannot easily scan or compare nearby refill stations (prices vary from KSh 60 to KSh 120+). They have no way to verify station operating status, track queue times, or coordinate reliable empty bottle exchanges.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The Solution: On-Demand Refill Delivery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64748B"/>
                </a:solidFill>
                <a:latin typeface="Karla"/>
              </a:defRPr>
            </a:pPr>
            <a:r>
              <a:t>Drop bridges the gap between water refill stations and thirsty households — scan nearby stations, compare prices in real time, and get heavy 20L bottles delivered straight to your door.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383280" cy="30175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65960" y="283464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6DB0"/>
                </a:solidFill>
                <a:latin typeface="Fredoka"/>
              </a:defRPr>
            </a:pPr>
            <a:r>
              <a:t>Customer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Scan nearby refill stations on the map, compare live prices, order 20L refills with one tap, pay via M-Pesa, and get heavy bottles delivered straight to your door.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560320"/>
            <a:ext cx="3383280" cy="30175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23560" y="283464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6DB0"/>
                </a:solidFill>
                <a:latin typeface="Fredoka"/>
              </a:defRPr>
            </a:pPr>
            <a:r>
              <a:t>Vendor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Equips stationary water refill shops with a turnkey on-demand delivery arm — manage orders, track bottle inventory, dispatch riders, and grow far beyond walk-in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560320"/>
            <a:ext cx="3383280" cy="30175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81160" y="283464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🏍️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6DB0"/>
                </a:solidFill>
                <a:latin typeface="Fredoka"/>
              </a:defRPr>
            </a:pPr>
            <a:r>
              <a:t>Rider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Enables motorbike riders to accept delivery jobs, collect customer empties, exchange them at partner refill stations, and earn steady income handling the heavy hauling.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+ Admin Operations Console  —  27 screens for refill station management, bottle float tracking, live dispatch, and automated financial settlements.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Market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383280" cy="2880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609344"/>
            <a:ext cx="3017520" cy="621792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552" y="1682496"/>
            <a:ext cx="658368" cy="237744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682496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FFFFFF"/>
                </a:solidFill>
                <a:latin typeface="Fredoka"/>
              </a:defRPr>
            </a:pPr>
            <a: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66420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006DB0"/>
                </a:solidFill>
                <a:latin typeface="Fredoka"/>
              </a:defRPr>
            </a:pPr>
            <a:r>
              <a:t>Total Addressable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568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Scope: Entire Kenya Water Economy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3017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006DB0"/>
                </a:solidFill>
                <a:latin typeface="Fredoka"/>
              </a:defRPr>
            </a:pPr>
            <a:r>
              <a:t>$3.2B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80944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65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Total annual expenditure on water supply &amp; sanitation across Kenya — formal public utilities, private tankers, water kiosks, and vendors (WASREB &amp; World Bank estimates).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08760"/>
            <a:ext cx="3383280" cy="2880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1609344"/>
            <a:ext cx="3017520" cy="621792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45152" y="1682496"/>
            <a:ext cx="658368" cy="237744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82496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FFFFFF"/>
                </a:solidFill>
                <a:latin typeface="Fredoka"/>
              </a:defRPr>
            </a:pPr>
            <a:r>
              <a:t>SAM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166420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006DB0"/>
                </a:solidFill>
                <a:latin typeface="Fredoka"/>
              </a:defRPr>
            </a:pPr>
            <a:r>
              <a:t>Serviceable Available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19568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Scope: Urban 20L Refill &amp; Packaged Water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67712"/>
            <a:ext cx="3017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006DB0"/>
                </a:solidFill>
                <a:latin typeface="Fredoka"/>
              </a:defRPr>
            </a:pPr>
            <a:r>
              <a:t>$850M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2980944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65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Annual market for packaged and vended 20L refill water across Kenya's urban and peri-urban centers, serving households and businesses requiring clean drinking water.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508760"/>
            <a:ext cx="3383280" cy="2880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0" y="1609344"/>
            <a:ext cx="3017520" cy="621792"/>
          </a:xfrm>
          <a:prstGeom prst="roundRect">
            <a:avLst/>
          </a:prstGeom>
          <a:solidFill>
            <a:srgbClr val="CF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2752" y="1682496"/>
            <a:ext cx="658368" cy="237744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02752" y="1682496"/>
            <a:ext cx="6583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FFFFFF"/>
                </a:solidFill>
                <a:latin typeface="Fredoka"/>
              </a:defRPr>
            </a:pPr>
            <a:r>
              <a:t>SOM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6840" y="1664208"/>
            <a:ext cx="2148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40"/>
              </a:lnSpc>
              <a:spcAft>
                <a:spcPts val="0"/>
              </a:spcAft>
              <a:defRPr sz="950" b="1">
                <a:solidFill>
                  <a:srgbClr val="006DB0"/>
                </a:solidFill>
                <a:latin typeface="Fredoka"/>
              </a:defRPr>
            </a:pPr>
            <a:r>
              <a:t>Serviceable Obtainable Market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19568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Scope: Nairobi Metro Beachhead (24 Mo)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267712"/>
            <a:ext cx="3017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560"/>
              </a:lnSpc>
              <a:spcAft>
                <a:spcPts val="0"/>
              </a:spcAft>
              <a:defRPr sz="3800" b="1">
                <a:solidFill>
                  <a:srgbClr val="006DB0"/>
                </a:solidFill>
                <a:latin typeface="Fredoka"/>
              </a:defRPr>
            </a:pPr>
            <a:r>
              <a:t>$45M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980944"/>
            <a:ext cx="2926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65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Immediate 24-month serviceable capture: 1.8M households across Nairobi metro and high-density satellite towns (Rongai, Ngong, Ruiru, Kiambu) ordering 2–4 refills/week.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54M+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Kenya Population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KNBS &amp; World Bank (2024/25)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6616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0332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83.5%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Smartphone Adoption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0332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Communications Authority (CA)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34M+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3796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Active M-Pesa Customers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Safaricom Annual Report FY24/25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35440" y="4526280"/>
            <a:ext cx="2560320" cy="150876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72600" y="461772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120"/>
              </a:lnSpc>
              <a:spcAft>
                <a:spcPts val="0"/>
              </a:spcAft>
              <a:defRPr sz="2600" b="1">
                <a:solidFill>
                  <a:srgbClr val="006DB0"/>
                </a:solidFill>
                <a:latin typeface="Fredoka"/>
              </a:defRPr>
            </a:pPr>
            <a:r>
              <a:t>58%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72600" y="5138928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E293B"/>
                </a:solidFill>
                <a:latin typeface="Fredoka"/>
              </a:defRPr>
            </a:pPr>
            <a:r>
              <a:t>Rely on Non-Tap / Refills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72600" y="55595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19"/>
              </a:lnSpc>
              <a:spcAft>
                <a:spcPts val="0"/>
              </a:spcAft>
              <a:defRPr sz="850" b="0">
                <a:solidFill>
                  <a:srgbClr val="64748B"/>
                </a:solidFill>
                <a:latin typeface="Karla"/>
              </a:defRPr>
            </a:pPr>
            <a:r>
              <a:t>WASREB 18th Report (42% piped safe)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108192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📊 All metrics verified against official sources: Water Services Regulatory Board (WASREB) 18th Impact Report • Safaricom PLC Annual Reports • Communications Authority of Kenya (CA) • KNBS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How It Works: Doorstep "Swap &amp; Drop"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A frictionless 6-step physical exchange loop that eliminates hauling heavy 20kg water bottles up stairs.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2057399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039111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Scan &amp; Discover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560319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Customer opens Drop, scans live neighborhood water refill stations on the map, compares prices (KSh 60–100), and reviews station ratings.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17720" y="2057399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039111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Order &amp; M-Pesa Pay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560319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Customer selects 20L refill quantity, specifies empty bottle return count, and checks out via seamless M-Pesa SIM Tool Kit (STK) Push.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874519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75320" y="2057399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039111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Smart Dispatch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560319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Two-tier dispatch engine broadcasts the delivery to station-employed riders first, or to verified neighborhood gig riders within seconds.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023360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0120" y="4206240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187952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Exchange &amp; Haul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7091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Rider collects customer empty 20L bottles from the doorstep, swaps for purified bottles at the partner station, and handles the heavy lifting.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4023360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17720" y="4206240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4187952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Doorstep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47091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Customer tracks rider Global Positioning System (GPS) in real time. Rider climbs stairs and delivers 20kg bottles directly into the kitchen.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023360"/>
            <a:ext cx="3383280" cy="1965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275320" y="4206240"/>
            <a:ext cx="457200" cy="45720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4187952"/>
            <a:ext cx="2423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Instant Settlement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47091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3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M-Pesa escrow splits revenue instantly: vendor and rider wallets receive payouts, while the digital bottle ledger updates with zero deposit dispute.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Platform Defensibility &amp; Anti-Leakage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Why customers, riders, and refill stations stay locked onto Drop instead of transacting off-platform.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2560320" cy="4297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" y="205740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0">
                <a:solidFill>
                  <a:srgbClr val="FFFFFF"/>
                </a:solidFill>
                <a:latin typeface="Karla"/>
              </a:defRPr>
            </a:pPr>
            <a:r>
              <a:t>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  <a:defRPr sz="1350" b="1">
                <a:solidFill>
                  <a:srgbClr val="006DB0"/>
                </a:solidFill>
                <a:latin typeface="Fredoka"/>
              </a:defRPr>
            </a:pPr>
            <a:r>
              <a:t>Digital Bottle Float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5760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Each 20L container costs KSh 450–600. Vendors lose significant capital annually to stolen or unreturned bottles. Drop's cryptographically audited custody ledger and escrow deposit guarantee eliminate bottle loss disputes — vendors refuse off-platform deliveries to protect their float.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1874519"/>
            <a:ext cx="2560320" cy="4297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325112" y="205740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0">
                <a:solidFill>
                  <a:srgbClr val="FFFFFF"/>
                </a:solidFill>
                <a:latin typeface="Karla"/>
              </a:defRPr>
            </a:pPr>
            <a:r>
              <a:t>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592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  <a:defRPr sz="1350" b="1">
                <a:solidFill>
                  <a:srgbClr val="006DB0"/>
                </a:solidFill>
                <a:latin typeface="Fredoka"/>
              </a:defRPr>
            </a:pPr>
            <a:r>
              <a:t>Elastic Multi-Vendor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365760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Neighborhood refill stations frequently suffer borehole rationing, power blackouts, or filter maintenance. Direct offline customer-vendor relationships fail when a shop goes dry. Drop dynamically routes orders to the nearest open station, guaranteeing delivery in under 45 minutes.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874519"/>
            <a:ext cx="2560320" cy="4297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050024" y="205740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0">
                <a:solidFill>
                  <a:srgbClr val="FFFFFF"/>
                </a:solidFill>
                <a:latin typeface="Karla"/>
              </a:defRPr>
            </a:pPr>
            <a:r>
              <a:t>🛡️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  <a:defRPr sz="1350" b="1">
                <a:solidFill>
                  <a:srgbClr val="006DB0"/>
                </a:solidFill>
                <a:latin typeface="Fredoka"/>
              </a:defRPr>
            </a:pPr>
            <a:r>
              <a:t>Automated M-Pesa Escrow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365760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Direct offline arrangements require awkward cash change or manual M-Pesa transfer haggling on the stairs. Drop eliminates payment friction: customers pay via one-click prompt, while riders and vendors receive automated, dispute-free wallet payouts upon verified delivery.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06256" y="1874519"/>
            <a:ext cx="2560320" cy="4297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74936" y="205740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0">
                <a:solidFill>
                  <a:srgbClr val="FFFFFF"/>
                </a:solidFill>
                <a:latin typeface="Karla"/>
              </a:defRPr>
            </a:pPr>
            <a:r>
              <a:t>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3416" y="297180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20"/>
              </a:lnSpc>
              <a:spcAft>
                <a:spcPts val="0"/>
              </a:spcAft>
              <a:defRPr sz="1350" b="1">
                <a:solidFill>
                  <a:srgbClr val="006DB0"/>
                </a:solidFill>
                <a:latin typeface="Fredoka"/>
              </a:defRPr>
            </a:pPr>
            <a:r>
              <a:t>Rider Batching &amp; High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416" y="3657600"/>
            <a:ext cx="2286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Independent riders make 40% more income on Drop by batching multiple heavy 20kg deliveries along clustered estate routes. During slow mid-day retail hours, Drop provides steady on-demand delivery volume that no single physical shop can offer alone.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Multiple revenue streams, all configurable in real time from the admin console — 34 pricing parameters across 10 groups.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💰  Vendor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5% on retail (Business-to-Consumer)</a:t>
            </a:r>
            <a:br/>
            <a:r>
              <a:t>5% on wholesale (Business-to-Business)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Scales with every order on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🏷️  Service Fees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KSH 35 per retail order</a:t>
            </a:r>
            <a:br/>
            <a:r>
              <a:t>KSH 120 per wholesale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Covers M-Pesa tariff + platform ops costs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🚀  Surge Pricing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+KSH 10 during</a:t>
            </a:r>
            <a:br/>
            <a:r>
              <a:t>peak hours (6-8am, 5-7pm)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Dynamic pricing for high-demand windows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📦  Delivery Fees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Distance-based</a:t>
            </a:r>
            <a:br/>
            <a:r>
              <a:t>rider earns 90-100%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5% wholesale markup; retail markup at 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6035040"/>
            <a:ext cx="10698480" cy="54864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080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006DB0"/>
                </a:solidFill>
                <a:latin typeface="Karla"/>
              </a:defRPr>
            </a:pPr>
            <a:r>
              <a:t>💡  One pricing path: compute_order_quote is the single source of truth — client renders it, M-Pesa charges it, database stores it. Automated tests enforce parity.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Predictable, Profitable Unit Economics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Drop achieves healthy positive unit contribution margin on every single 20L bottle delivered from Day 1.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74519"/>
            <a:ext cx="5257800" cy="64008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01952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FFFFFF"/>
                </a:solidFill>
                <a:latin typeface="Fredoka"/>
              </a:defRPr>
            </a:pPr>
            <a:r>
              <a:t>Retail Order: 1x 20L Refill Bottle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4892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CFEDFF"/>
                </a:solidFill>
                <a:latin typeface="Karla"/>
              </a:defRPr>
            </a:pPr>
            <a:r>
              <a:t>Typical Household Order (2 km average distance)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Water Refill Price (Station)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57860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80.00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92608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94436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Rider Delivery Fee (Hauling &amp; Transit)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94436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90.00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29184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1012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Platform Service Fee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331012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35.00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65760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7588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Total Paid by Customer (M-Pesa)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67588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205.00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02336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04164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Payout to Water Vendor (Refill less 5%)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404164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76.00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38912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40740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Payout to Motorbike Rider (100% Delivery)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440740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90.00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75488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77316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E293B"/>
                </a:solidFill>
                <a:latin typeface="Karla"/>
              </a:defRPr>
            </a:pPr>
            <a:r>
              <a:t>Gross Platform Revenue (Commission + Fee)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77316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E293B"/>
                </a:solidFill>
                <a:latin typeface="JetBrains Mono"/>
              </a:defRPr>
            </a:pPr>
            <a:r>
              <a:t>KSh 39.00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12064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13892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Payment Processing Costs (STK Push + Disbursal)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513892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DC2626"/>
                </a:solidFill>
                <a:latin typeface="JetBrains Mono"/>
              </a:defRPr>
            </a:pPr>
            <a:r>
              <a:t>-KSh 6.50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486400"/>
            <a:ext cx="5257800" cy="356616"/>
          </a:xfrm>
          <a:prstGeom prst="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50468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006DB0"/>
                </a:solidFill>
                <a:latin typeface="Karla"/>
              </a:defRPr>
            </a:pPr>
            <a:r>
              <a:t>Net Platform Contribution Margin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0" y="550468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6A34A"/>
                </a:solidFill>
                <a:latin typeface="JetBrains Mono"/>
              </a:defRPr>
            </a:pPr>
            <a:r>
              <a:t>KSh 32.50 (83.3%)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874519"/>
            <a:ext cx="5257800" cy="64008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1901952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FFFFFF"/>
                </a:solidFill>
                <a:latin typeface="Fredoka"/>
              </a:defRPr>
            </a:pPr>
            <a:r>
              <a:t>Wholesale Order: 20x 20L Commercial Bottles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2212848"/>
            <a:ext cx="4892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CFEDFF"/>
                </a:solidFill>
                <a:latin typeface="Karla"/>
              </a:defRPr>
            </a:pPr>
            <a:r>
              <a:t>Office, School, or Commercial Bulk Order (Van / Tuk-Tuk)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256032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257860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Wholesale Water Bulk Price (20 x KSh 70)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5480" y="257860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1,400.00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72200" y="292608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294436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Commercial Freight Delivery 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294436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1,000.00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72200" y="329184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331012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Platform Delivery Markup (5%)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55480" y="331012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50.00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72200" y="365760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367588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Wholesale Platform Service Fee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55480" y="367588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120.00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72200" y="402336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404164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Total Paid by Commercial Client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404164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2,570.00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72200" y="438912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55080" y="440740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Payout to Water Supplier (less 5%)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55480" y="440740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1,330.00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72200" y="4754880"/>
            <a:ext cx="5257800" cy="3566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5080" y="477316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Payout to Freight Delivery Driver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555480" y="477316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1E293B"/>
                </a:solidFill>
                <a:latin typeface="JetBrains Mono"/>
              </a:defRPr>
            </a:pPr>
            <a:r>
              <a:t>KSh 1,000.00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5120640"/>
            <a:ext cx="5257800" cy="35661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55080" y="513892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E293B"/>
                </a:solidFill>
                <a:latin typeface="Karla"/>
              </a:defRPr>
            </a:pPr>
            <a:r>
              <a:t>Gross Platform Take (Comm + Markup + Fee)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513892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E293B"/>
                </a:solidFill>
                <a:latin typeface="JetBrains Mono"/>
              </a:defRPr>
            </a:pPr>
            <a:r>
              <a:t>KSh 240.00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72200" y="5486400"/>
            <a:ext cx="5257800" cy="356616"/>
          </a:xfrm>
          <a:prstGeom prst="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55080" y="5504688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006DB0"/>
                </a:solidFill>
                <a:latin typeface="Karla"/>
              </a:defRPr>
            </a:pPr>
            <a:r>
              <a:t>Net Platform Contribution Margin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55480" y="5504688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60"/>
              </a:lnSpc>
              <a:spcAft>
                <a:spcPts val="0"/>
              </a:spcAft>
              <a:defRPr sz="1050" b="1">
                <a:solidFill>
                  <a:srgbClr val="16A34A"/>
                </a:solidFill>
                <a:latin typeface="JetBrains Mono"/>
              </a:defRPr>
            </a:pPr>
            <a:r>
              <a:t>KSh 212.00 (88.3%)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31520" y="5961888"/>
            <a:ext cx="10698480" cy="438912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4400" y="598017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60"/>
              </a:lnSpc>
              <a:spcAft>
                <a:spcPts val="0"/>
              </a:spcAft>
              <a:defRPr sz="1050" b="0">
                <a:solidFill>
                  <a:srgbClr val="006DB0"/>
                </a:solidFill>
                <a:latin typeface="Karla"/>
              </a:defRPr>
            </a:pPr>
            <a:r>
              <a:t>📈  Compounding Flywheel: 4.2 monthly refills per household = KSh 136.50 monthly net contribution per active customer. Customer Acquisition Cost (CAC) estimated at KSh 180 is fully paid back in under 45 days.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Fredoka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A8DCFC"/>
                </a:solidFill>
                <a:latin typeface="Fredoka"/>
              </a:defRPr>
            </a:pPr>
            <a:r>
              <a:t>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Python 3.12  •  FastAPI Framework  •  Uvicorn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PostgreSQL Database + PostGIS + H3 Spatial Indexing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SQLAlchemy 2.0 Async Object-Relational Mapping  •  Alembic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Redis (Publish/Subscribe, Job Queues, Rate Limiting)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ARQ Asynchronous Background Job Workers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M-Pesa STK (SIM Tool Kit) Push / Business-to-Consumer (B2C) / Reversals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Amazon Web Services (AWS) Simple Storage Service (S3)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Clerk RS256 JSON Web Token (JWT) Authentication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Sentry Error Monitoring  •  Prometheus Metrics  •  JSON Logs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A8DCFC"/>
                </a:solidFill>
                <a:latin typeface="Fredoka"/>
              </a:defRPr>
            </a:pPr>
            <a:r>
              <a:t>MOBILE &amp;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Expo Software Development Kit (SDK) 54  •  React Native 0.81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React 19  •  Expo Router 6 (File-Based Navigation)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NativeWind v4 Styling  •  TanStack Query v5 Data Fetching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Zustand v5 State Management Architecture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@clerk/clerk-expo Client Authentication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react-native-maps + Live WebSocket Location Streaming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Next.js 16 (Operations Console Web Application)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Tailwind CSS v4  •  Recharts Visualizations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Vercel Cloud Deployment (Operations Console + Website)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778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70"/>
              </a:lnSpc>
              <a:spcAft>
                <a:spcPts val="0"/>
              </a:spcAft>
              <a:defRPr sz="1050" b="0">
                <a:solidFill>
                  <a:srgbClr val="E2E8F0"/>
                </a:solidFill>
                <a:latin typeface="Karla"/>
              </a:defRPr>
            </a:pPr>
            <a:r>
              <a:t>🏗️  Architecture Principle: One backend, one database, one pricing path. The console is a Backend-for-Frontend (BFF) — the browser never holds an Application Programming Interface (API) token.</a:t>
            </a:r>
            <a:br/>
            <a:r>
              <a:t>Geospatial: Uber H3 spatial hex indexing at resolution 8 with PostGIS ST_DWithin for exact-distance discovery.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Operations Console — 27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Every page carries aggregates that tell an operator whether anything needs doing — not just tables with search boxes.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🔧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Orders board  •  Know Your Customer (KYC) Verification  •  Live Map</a:t>
            </a:r>
            <a:br/>
            <a:r>
              <a:t>Catalogue  •  Bottle Float Ledger  •  Vendor Verification  •  Disputes</a:t>
            </a:r>
            <a:br/>
            <a:r>
              <a:t>Reviews  •  Delivery Replay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👥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Performance Dashboard  •  Fleet Management</a:t>
            </a:r>
            <a:br/>
            <a:r>
              <a:t>Customers  •  Riders  •  Vendors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💵 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Payouts  •  Transactions</a:t>
            </a:r>
            <a:br/>
            <a:r>
              <a:t>Reconciliation  •  Settlement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54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🎧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6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Ticket Inbox</a:t>
            </a:r>
            <a:br/>
            <a:r>
              <a:t>Threaded Conversations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57200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754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⚙️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16636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Administrators  •  Audit Log  •  Notifications</a:t>
            </a:r>
            <a:br/>
            <a:r>
              <a:t>Broadcast  •  Pricing (34 settings)  •  Settings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Security &amp; Guardrails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Platform-wide invariants enforced by tests that fail the build — not just documented rules.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🔒  Financial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974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Money is Decimal, never float — from database through Application Programming Interface (API) to formatted string. One quote, one charge, one stored total.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9456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331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🛡️  Auth &amp; Access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974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Clerk RS256 JSON Web Token (JWT) verification. Every order endpoint calls authorise_order_access. 26 admin capabilities, role-based presets.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0332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📸  Proof of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Photo proof mandatory on bottle deficit. Verification wall blocks riders until Know Your Customer (KYC) approved. Identity documents presigned for 5 min.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0332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🔐  Zero-Trust Console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206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Backend-for-Frontend (BFF) architecture — browser never holds Application Programming Interface (API) token. No retry on reversals. Every mutation audited with written reason.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12079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3492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⚡  Concurrency 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71499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FOR UPDATE ... SKIP LOCKED on all sweeps. Commit-per-item. Two sanctioned push paths only — bare create_task fails the build.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212079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53492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🧪  Structural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71499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704 tests including Abstract Syntax Tree (AST) walkers that reject: unguarded routes, missing capability checks, bypassed proof checks, retry buttons on settlements.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Competitive Advantage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Drop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WhatsApp Vendors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Maji.com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59" y="17373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Traditional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Real-time GPS (Global Positioning System)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59" y="2286000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761488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761488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M-Pesa 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59" y="276148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Cash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236976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3697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Multi-vendor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Single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3236976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712464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712464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Proof of 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Photo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59" y="3712464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187952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187952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Bottle deposit tracking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Ledger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59" y="418795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4663440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6344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Admin console (27 screens)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Basic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59" y="4663440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138928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138928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Smart two-tier dispatch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0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09759" y="513892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" y="5614416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61441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Revenue reconciliation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Auto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Manual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9759" y="5614416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Go-to-Market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383280" cy="73152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1: Seed Beachhead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CFEDFF"/>
                </a:solidFill>
                <a:latin typeface="Karla"/>
              </a:defRPr>
            </a:pPr>
            <a:r>
              <a:t>Months 1–6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Focus corridor: Ngong Town &amp; Rongai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Onboard 50 partner refill stations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Recruit 100 vetted gig riders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1,000 active household customers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Validate unit contribution margin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737360"/>
            <a:ext cx="3383280" cy="73152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2: Metro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CFEDFF"/>
                </a:solidFill>
                <a:latin typeface="Karla"/>
              </a:defRPr>
            </a:pPr>
            <a:r>
              <a:t>Months 7–18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Expand to 5 Nairobi sub-counties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Scale to 500 vendors, 1,000 riders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Launch wholesale (Business-to-Business)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Office &amp; school recurring subscriptions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Target 25,000 monthly delivered orders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737360"/>
            <a:ext cx="3383280" cy="73152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3: National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CFEDFF"/>
                </a:solidFill>
                <a:latin typeface="Karla"/>
              </a:defRPr>
            </a:pPr>
            <a:r>
              <a:t>Months 19–36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10 major Kenyan urban hubs (Mombasa, Kisumu)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White-label corporate dispatch portal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Water quality certification testing badges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Regional East Africa expansion (Uganda &amp; Tanzania)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Target 200,000+ monthly 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Financial Projections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383280" cy="54864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468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5,000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9067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  <a:defRPr sz="1000" b="0">
                <a:solidFill>
                  <a:srgbClr val="64748B"/>
                </a:solidFill>
                <a:latin typeface="Karla"/>
              </a:defRPr>
            </a:pPr>
            <a:r>
              <a:t>Gross Merchandise Value (GMV)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089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35.3M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749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4.29M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1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38911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1.47M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5029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3.5M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6509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5669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DC2626"/>
                </a:solidFill>
                <a:latin typeface="JetBrains Mono"/>
              </a:defRPr>
            </a:pPr>
            <a:r>
              <a:t>-KSH 0.68M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1737360"/>
            <a:ext cx="3383280" cy="54864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24505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468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25,000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309067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  <a:defRPr sz="1000" b="0">
                <a:solidFill>
                  <a:srgbClr val="64748B"/>
                </a:solidFill>
                <a:latin typeface="Karla"/>
              </a:defRPr>
            </a:pPr>
            <a:r>
              <a:t>Gross Merchandise Value (GMV)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1089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334M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37307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3749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33.1M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4370831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438911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6.9M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0109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5029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12M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56509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5669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6A34A"/>
                </a:solidFill>
                <a:latin typeface="JetBrains Mono"/>
              </a:defRPr>
            </a:pPr>
            <a:r>
              <a:t>KSH 14.2M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1737360"/>
            <a:ext cx="3383280" cy="548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467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0" y="24505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2468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200,000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309067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  <a:defRPr sz="1000" b="0">
                <a:solidFill>
                  <a:srgbClr val="64748B"/>
                </a:solidFill>
                <a:latin typeface="Karla"/>
              </a:defRPr>
            </a:pPr>
            <a:r>
              <a:t>Gross Merchandise Value (GMV)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31089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3.9B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67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0" y="37307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3749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339M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467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600" y="4370831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84080" y="438911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57.6M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467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0" y="50109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84080" y="5029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65M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467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29600" y="56509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84080" y="5669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6A34A"/>
                </a:solidFill>
                <a:latin typeface="JetBrains Mono"/>
              </a:defRPr>
            </a:pPr>
            <a:r>
              <a:t>KSH 216.5M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Fredoka"/>
              </a:defRPr>
            </a:pPr>
            <a:r>
              <a:t>Current Traction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🏗️  Product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Full-stack platform complete — 3 mobile apps, admin console, backend API, all deployed and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🧪  Beta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Android Application Packages (APKs) available for download on website. Beta credentials active for external testers.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✅  704 Tests 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Comprehensive test suite with Abstract Syntax Tree (AST) structural walkers. Continuous Integration (CI/CD) on every push.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📄  27 Admin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Operations console with Know Your Customer (KYC), disputes, reconciliation, delivery replay, and financial controls.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02336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🔐  Security Hardened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Clerk authentication, Backend-for-Frontend (BFF) pattern, encrypted Personally Identifiable Information (PII), audited mutations.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02336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📖  Fully Documented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12 architecture docs, decision records, runbooks, and deployment guides.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Leadership &amp; Operational DNA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A purpose-built team pairing institutional software engineering with grassroots Kenyan trade logistics.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74519"/>
            <a:ext cx="3383280" cy="3749039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65960" y="2057400"/>
            <a:ext cx="914400" cy="914400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21488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Technical &amp; Systems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661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006DB0"/>
                </a:solidFill>
                <a:latin typeface="Karla"/>
              </a:defRPr>
            </a:pPr>
            <a:r>
              <a:t>Full-Stack Lead &amp; Platform Architect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93192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Expert in high-reliability distributed systems, geospatial H3 indexing, and financial state machines. Designed and built the entire Drop platform (FastAPI, React Native, 27-screen Operations Console, and 704 automated test invariants).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74519"/>
            <a:ext cx="3383280" cy="3749039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23560" y="2057400"/>
            <a:ext cx="914400" cy="914400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23560" y="21488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Field Operations &amp; Merchant Logistics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5661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006DB0"/>
                </a:solidFill>
                <a:latin typeface="Karla"/>
              </a:defRPr>
            </a:pPr>
            <a:r>
              <a:t>Head of Vendor Onboarding &amp; Rider Fleets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93192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Deep operational execution across Nairobi peri-urban retail corridors (Ngong, Rongai, Dagoretti). Direct relationships with local water borehole operators, refill shop owners, and motorbike rider sacco cooperatives.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874519"/>
            <a:ext cx="3383280" cy="3749039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2057400"/>
            <a:ext cx="914400" cy="914400"/>
          </a:xfrm>
          <a:prstGeom prst="round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214884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108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Growth &amp; Regulatory Strategy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5661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006DB0"/>
                </a:solidFill>
                <a:latin typeface="Karla"/>
              </a:defRPr>
            </a:pPr>
            <a:r>
              <a:t>Head of Commercial Growth &amp;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931920"/>
            <a:ext cx="29260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Specialist in East African mobile money ecosystems, Water Services Regulatory Board (WASREB) standards, and Kenya Data Protection Act compliance. Leading the commercial pipeline for schools, offices, and bulk water buyers.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779008"/>
            <a:ext cx="10698480" cy="5029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815584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006DB0"/>
                </a:solidFill>
                <a:latin typeface="Karla"/>
              </a:defRPr>
            </a:pPr>
            <a:r>
              <a:t>🤝 Local Moat: Direct grassroots ground presence and pre-agreed pilot partnerships with 30+ water refill kiosks and local motorbike stages in the Ngong-Rongai municipal corridor.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The Ask: Proof-of-Market Seed Round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006DB0"/>
                </a:solidFill>
                <a:latin typeface="Fredoka"/>
              </a:defRPr>
            </a:pPr>
            <a:r>
              <a:t>Raising KSH 15M (~$115,000 US Dollars / USD)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18-month operational runway to reach 25,000 monthly orders and prove recurring profitability across 5 Nairobi corridors.</a:t>
            </a:r>
          </a:p>
        </p:txBody>
      </p:sp>
      <p:sp>
        <p:nvSpPr>
          <p:cNvPr id="5" name="Oval 4"/>
          <p:cNvSpPr/>
          <p:nvPr/>
        </p:nvSpPr>
        <p:spPr>
          <a:xfrm>
            <a:off x="1417320" y="2331720"/>
            <a:ext cx="1097280" cy="109728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228600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5204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Fredoka"/>
              </a:defRPr>
            </a:pPr>
            <a:r>
              <a:t>Field Operations &amp;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77639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Vendor onboarding, rider recruitment, consumer activations, and neighborhood corridor density in Nairobi satellites.</a:t>
            </a:r>
          </a:p>
        </p:txBody>
      </p:sp>
      <p:sp>
        <p:nvSpPr>
          <p:cNvPr id="8" name="Oval 7"/>
          <p:cNvSpPr/>
          <p:nvPr/>
        </p:nvSpPr>
        <p:spPr>
          <a:xfrm>
            <a:off x="4251960" y="2331720"/>
            <a:ext cx="1097280" cy="109728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228600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35204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Fredoka"/>
              </a:defRPr>
            </a:pPr>
            <a:r>
              <a:t>Engineering &amp;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77639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Google Play Store listing, iOS development, real-time push dispatch, automated SMS fallbacks, and offline resilience.</a:t>
            </a:r>
          </a:p>
        </p:txBody>
      </p:sp>
      <p:sp>
        <p:nvSpPr>
          <p:cNvPr id="11" name="Oval 10"/>
          <p:cNvSpPr/>
          <p:nvPr/>
        </p:nvSpPr>
        <p:spPr>
          <a:xfrm>
            <a:off x="7086600" y="2331720"/>
            <a:ext cx="1097280" cy="109728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228600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35204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Fredoka"/>
              </a:defRPr>
            </a:pPr>
            <a:r>
              <a:t>Infrastructure &amp; Float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977639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High-availability PostgreSQL database, Redis clusters, AWS S3 storage, Clerk identity, and automated M-Pesa escrow float.</a:t>
            </a:r>
          </a:p>
        </p:txBody>
      </p:sp>
      <p:sp>
        <p:nvSpPr>
          <p:cNvPr id="14" name="Oval 13"/>
          <p:cNvSpPr/>
          <p:nvPr/>
        </p:nvSpPr>
        <p:spPr>
          <a:xfrm>
            <a:off x="9921240" y="2331720"/>
            <a:ext cx="1097280" cy="109728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228600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35204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Fredoka"/>
              </a:defRPr>
            </a:pPr>
            <a:r>
              <a:t>Legal &amp;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3977639"/>
            <a:ext cx="2468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17"/>
              </a:lnSpc>
              <a:spcAft>
                <a:spcPts val="0"/>
              </a:spcAft>
              <a:defRPr sz="1050" b="0">
                <a:solidFill>
                  <a:srgbClr val="64748B"/>
                </a:solidFill>
                <a:latin typeface="Karla"/>
              </a:defRPr>
            </a:pPr>
            <a:r>
              <a:t>Regulatory compliance, Water Services Regulatory Board (WASREB) standards, Kenya Data Protection Act, and vendor contracts.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440680"/>
            <a:ext cx="10698480" cy="841248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86400"/>
            <a:ext cx="10332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006DB0"/>
                </a:solidFill>
                <a:latin typeface="Fredoka"/>
              </a:defRPr>
            </a:pPr>
            <a:r>
              <a:t>🎯  Key 18-Month Milestones:</a:t>
            </a:r>
          </a:p>
          <a:p>
            <a:pPr algn="l">
              <a:spcBef>
                <a:spcPts val="400"/>
              </a:spcBef>
              <a:spcAft>
                <a:spcPts val="0"/>
              </a:spcAft>
              <a:defRPr sz="1050" b="0">
                <a:solidFill>
                  <a:srgbClr val="1E293B"/>
                </a:solidFill>
                <a:latin typeface="Karla"/>
              </a:defRPr>
            </a:pPr>
            <a:r>
              <a:t>• M3: 50 Stations &amp; 100 Riders active in Ngong/Rongai pilot corridor  •  M6: 1,000 Household customers, unit economics proven at scale</a:t>
            </a:r>
            <a:br/>
            <a:r>
              <a:t>• M12: 10,000 monthly orders across 3 Nairobi sub-counties  •  M18: 25,000 monthly orders, KSh 33M Annual Recurring Revenue (ARR) run-rate, cashflow sustainable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Aft>
                <a:spcPts val="0"/>
              </a:spcAft>
              <a:defRPr sz="7200" b="1">
                <a:solidFill>
                  <a:srgbClr val="FFFFFF"/>
                </a:solidFill>
                <a:latin typeface="Fredoka"/>
              </a:defRPr>
            </a:pPr>
            <a:r>
              <a:t>💧 Drop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2400" b="0">
                <a:solidFill>
                  <a:srgbClr val="CFEDFF"/>
                </a:solidFill>
                <a:latin typeface="Fredoka"/>
              </a:defRPr>
            </a:pPr>
            <a:r>
              <a:t>Clean Water, Delivered to Your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Fredoka"/>
              </a:defRPr>
            </a:pPr>
            <a:r>
              <a:t>Let's talk.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🌐  Website: drop-water-delivery-website.vercel.app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⚡  Admin Console: drop-admin-five.vercel.app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📦  GitHub: github.com/WinterJackson/drop-water-delivery-app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📱  Beta Android App (APK) Downloads: Available on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9436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Fredoka"/>
              </a:defRPr>
            </a:pPr>
            <a:r>
              <a:t>Thank you  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