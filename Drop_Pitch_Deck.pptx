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800" b="0">
                <a:solidFill>
                  <a:srgbClr val="FFFF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393192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20"/>
              </a:lnSpc>
              <a:spcAft>
                <a:spcPts val="0"/>
              </a:spcAft>
              <a:defRPr sz="1600" b="0">
                <a:solidFill>
                  <a:srgbClr val="CFEDFF"/>
                </a:solidFill>
                <a:latin typeface="Karla"/>
              </a:defRPr>
            </a:pPr>
            <a:r>
              <a:t>On-demand delivery platform for neighborhood water refill stations.</a:t>
            </a:r>
            <a:br/>
            <a:r>
              <a:t>Scan nearby stations, compare refill prices, and eliminate the 20kg hauling struggle.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66928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CFEDFF"/>
                </a:solidFill>
                <a:latin typeface="Karla"/>
              </a:defRPr>
            </a:pPr>
            <a:r>
              <a:t>Pitch Deck  •  September 2026  •  Beta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789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719"/>
              </a:lnSpc>
              <a:spcAft>
                <a:spcPts val="0"/>
              </a:spcAft>
              <a:defRPr sz="3100" b="1">
                <a:solidFill>
                  <a:srgbClr val="1E293B"/>
                </a:solidFill>
                <a:latin typeface="Fredoka"/>
              </a:defRPr>
            </a:pPr>
            <a:r>
              <a:t>The Problem: Water Refill Station Logistics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984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60"/>
              </a:lnSpc>
              <a:spcAft>
                <a:spcPts val="0"/>
              </a:spcAft>
              <a:defRPr sz="1300" b="0">
                <a:solidFill>
                  <a:srgbClr val="64748B"/>
                </a:solidFill>
                <a:latin typeface="Karla"/>
              </a:defRPr>
            </a:pPr>
            <a:r>
              <a:t>Millions of urban Kenyans rely on local refill stations for clean 20L drinking water. But getting it home is exhausting: walking with empties, carrying 20kg back, or bargaining with random street bodas.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🚶‍♂️  The Exhausting "20kg Walk"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get clean drinking water, customers must carry an empty 20L bottle, walk to a neighborhood refill shop, wait in line, and physically haul a back-breaking 20kg (44 lbs) refilled container back home on foot — often climbing several flights of apartment stairs.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6596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37960" y="2167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🏍️  The Inconvenient Boda Compromise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62432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To avoid the 20kg walk, customers must walk to a roadside stage, hail a motorbike rider, haggle over arbitrary fares, and dangerously balance a 20L bottle on the bike — turning an affordable KSh 80 refill into an expensive, risky ordeal.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🏪  Refill Stations Lack Delivery Fleets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Neighborhood water refill shops and ATMs have pure purification capacity, but operate strictly as walk-in counters. With no delivery fleet or dispatch tools, they cannot reach busy families, offices, or customers living beyond walking distance.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06240"/>
            <a:ext cx="5212080" cy="2057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44074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1">
                <a:solidFill>
                  <a:srgbClr val="006DB0"/>
                </a:solidFill>
                <a:latin typeface="Fredoka"/>
              </a:defRPr>
            </a:pPr>
            <a:r>
              <a:t>🔍  Blind Discovery &amp; Price Opacity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4864608"/>
            <a:ext cx="4572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  <a:defRPr sz="1150" b="0">
                <a:solidFill>
                  <a:srgbClr val="64748B"/>
                </a:solidFill>
                <a:latin typeface="Karla"/>
              </a:defRPr>
            </a:pPr>
            <a:r>
              <a:t>Customers cannot easily scan or compare nearby refill stations (prices vary from KSh 60 to KSh 120+). They have no way to verify station operating status, track queue times, or coordinate reliable empty bottle exchanges.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Solution: On-Demand Refill Delivery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Aft>
                <a:spcPts val="0"/>
              </a:spcAft>
              <a:defRPr sz="1500" b="0">
                <a:solidFill>
                  <a:srgbClr val="64748B"/>
                </a:solidFill>
                <a:latin typeface="Karla"/>
              </a:defRPr>
            </a:pPr>
            <a:r>
              <a:t>Drop bridges the gap between water refill stations and thirsty households — scan nearby stations, compare prices in real time, and get heavy 20L bottles delivered straight to your door.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9659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Customer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Scan nearby refill stations on the map, compare live prices, order 20L refills with one tap, pay via M-Pesa, and get heavy bottles delivered straight to your door.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6235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Vendor 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Equips stationary water refill shops with a turnkey on-demand delivery arm — manage orders, track bottle inventory, dispatch riders, and grow far beyond walk-in traffic.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560320"/>
            <a:ext cx="3383280" cy="301752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81160" y="2834640"/>
            <a:ext cx="822960" cy="82296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879"/>
              </a:lnSpc>
              <a:spcAft>
                <a:spcPts val="0"/>
              </a:spcAft>
              <a:defRPr sz="2400" b="0">
                <a:solidFill>
                  <a:srgbClr val="FFFFFF"/>
                </a:solidFill>
                <a:latin typeface="Karla"/>
              </a:defRPr>
            </a:pPr>
            <a:r>
              <a:t>🏍️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38404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006DB0"/>
                </a:solidFill>
                <a:latin typeface="Fredoka"/>
              </a:defRPr>
            </a:pPr>
            <a:r>
              <a:t>Rider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29768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Enables motorbike riders to accept delivery jobs, collect customer empties, exchange them at partner refill stations, and earn steady income handling the heavy hauling.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52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+ Admin Operations Console  —  27 screens for refill station management, bottle float tracking, live dispatch, and automated financial settlements.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Market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83280" cy="2651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8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Fredoka"/>
              </a:defRPr>
            </a:pPr>
            <a:r>
              <a:t>Total Addressable Market (TAM)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006DB0"/>
                </a:solidFill>
                <a:latin typeface="Fredoka"/>
              </a:defRPr>
            </a:pPr>
            <a:r>
              <a:t>$3.2B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54680"/>
            <a:ext cx="3017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Kenya's entire water supply &amp; sanitation market — formal and informal combined.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91640"/>
            <a:ext cx="3383280" cy="2651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83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8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Fredoka"/>
              </a:defRPr>
            </a:pPr>
            <a:r>
              <a:t>Serviceable Available Market (SAM)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774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006DB0"/>
                </a:solidFill>
                <a:latin typeface="Fredoka"/>
              </a:defRPr>
            </a:pPr>
            <a:r>
              <a:t>$850M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154680"/>
            <a:ext cx="3017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Urban &amp; peri-urban bottled/tanker water delivery market across Kenya's 10 largest cities.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91640"/>
            <a:ext cx="3383280" cy="26517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7830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8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Fredoka"/>
              </a:defRPr>
            </a:pPr>
            <a:r>
              <a:t>Serviceable Obtainable Market (SOM)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3774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800"/>
              </a:lnSpc>
              <a:spcAft>
                <a:spcPts val="0"/>
              </a:spcAft>
              <a:defRPr sz="4000" b="1">
                <a:solidFill>
                  <a:srgbClr val="006DB0"/>
                </a:solidFill>
                <a:latin typeface="Fredoka"/>
              </a:defRPr>
            </a:pPr>
            <a:r>
              <a:t>$45M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154680"/>
            <a:ext cx="3017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85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Nairobi metro + satellite boomtowns (Rongai, Ngong, Ruiru, Kiambu) — our first 24-month target.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2560320" cy="146304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091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006DB0"/>
                </a:solidFill>
                <a:latin typeface="Fredoka"/>
              </a:defRPr>
            </a:pPr>
            <a:r>
              <a:t>54M+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303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Kenya's Population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66160" y="4572000"/>
            <a:ext cx="2560320" cy="146304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49040" y="47091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006DB0"/>
                </a:solidFill>
                <a:latin typeface="Fredoka"/>
              </a:defRPr>
            </a:pPr>
            <a:r>
              <a:t>90%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5303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Mobile Penetration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4572000"/>
            <a:ext cx="2560320" cy="146304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7091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006DB0"/>
                </a:solidFill>
                <a:latin typeface="Fredoka"/>
              </a:defRPr>
            </a:pPr>
            <a:r>
              <a:t>28M+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5303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M-Pesa Active Users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35440" y="4572000"/>
            <a:ext cx="2560320" cy="146304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47091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006DB0"/>
                </a:solidFill>
                <a:latin typeface="Fredoka"/>
              </a:defRPr>
            </a:pPr>
            <a:r>
              <a:t>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530352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Lack Reliable Water Access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How It Works: Doorstep Refill in 6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78308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Scan &amp; 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Customer opens Drop, scans nearby water refill stations on the live map, and compares real-time refill prices.</a:t>
            </a:r>
          </a:p>
        </p:txBody>
      </p:sp>
      <p:sp>
        <p:nvSpPr>
          <p:cNvPr id="7" name="Oval 6"/>
          <p:cNvSpPr/>
          <p:nvPr/>
        </p:nvSpPr>
        <p:spPr>
          <a:xfrm>
            <a:off x="4389120" y="178308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Order &amp; Pay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Customer selects 20L refill quantity, specifies empty bottle exchange, and checks out securely via M-Pesa SIM Tool Kit (STK) Push.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78308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Smart Dispatch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10312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Two-tier dispatch broadcasts the delivery to station-employed riders or nearby freelance gig riders.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25196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Pickup Empties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Rider collects customer's empty 20L bottles from their doorstep and takes them to the chosen refill station.</a:t>
            </a:r>
          </a:p>
        </p:txBody>
      </p:sp>
      <p:sp>
        <p:nvSpPr>
          <p:cNvPr id="16" name="Oval 15"/>
          <p:cNvSpPr/>
          <p:nvPr/>
        </p:nvSpPr>
        <p:spPr>
          <a:xfrm>
            <a:off x="4389120" y="425196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Doorstep Delivery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Customer tracks rider GPS (Global Positioning System) in real time. Rider climbs stairs and delivers the heavy 20kg bottles directly into the home.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251960"/>
            <a:ext cx="502920" cy="50292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1">
                <a:solidFill>
                  <a:srgbClr val="FFFFFF"/>
                </a:solidFill>
                <a:latin typeface="Fredoka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1E293B"/>
                </a:solidFill>
                <a:latin typeface="Fredoka"/>
              </a:defRPr>
            </a:pPr>
            <a:r>
              <a:t>Settle &amp;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572000"/>
            <a:ext cx="2743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Instant revenue split credits vendor and rider M-Pesa wallets. Digital bottle ledger updates with zero deposit disputes.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Business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Multiple revenue streams, all configurable in real time from the admin console — 34 pricing parameters across 10 groups.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💰  Vendor Commission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5% on retail (Business-to-Consumer)</a:t>
            </a:r>
            <a:br/>
            <a:r>
              <a:t>5% on wholesale (Business-to-Business)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Scales with every order on the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🏷️  Service Fees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KSH 35 per retail order</a:t>
            </a:r>
            <a:br/>
            <a:r>
              <a:t>KSH 120 per wholesale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Covers M-Pesa tariff + platform ops costs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🚀  Surge Pricing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+KSH 10 during</a:t>
            </a:r>
            <a:br/>
            <a:r>
              <a:t>peak hours (6-8am, 5-7pm)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Dynamic pricing for high-demand windows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2377440"/>
            <a:ext cx="256032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25603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📦  Delivery Fees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2004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006DB0"/>
                </a:solidFill>
                <a:latin typeface="JetBrains Mono"/>
              </a:defRPr>
            </a:pPr>
            <a:r>
              <a:t>Distance-based</a:t>
            </a:r>
            <a:br/>
            <a:r>
              <a:t>rider earns 90-100%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448056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5% wholesale markup; retail markup at 0%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6035040"/>
            <a:ext cx="10698480" cy="548640"/>
          </a:xfrm>
          <a:prstGeom prst="roundRect">
            <a:avLst/>
          </a:prstGeom>
          <a:solidFill>
            <a:srgbClr val="E9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6080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006DB0"/>
                </a:solidFill>
                <a:latin typeface="Karla"/>
              </a:defRPr>
            </a:pPr>
            <a:r>
              <a:t>💡  One pricing path: compute_order_quote is the single source of truth — client renders it, M-Pesa charges it, database stores it. Automated tests enforce parity.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Technology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A8DCFC"/>
                </a:solidFill>
                <a:latin typeface="Fredoka"/>
              </a:defRPr>
            </a:pPr>
            <a:r>
              <a:t>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Python 3.12  •  FastAPI Framework  •  Uvicorn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PostgreSQL Database + PostGIS + H3 Spatial Indexing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SQLAlchemy 2.0 Async Object-Relational Mapping  •  Alembic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Redis (Publish/Subscribe, Job Queues, Rate Limiting)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ARQ Asynchronous Background Job Workers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M-Pesa STK (SIM Tool Kit) Push / Business-to-Consumer (B2C) / Reversals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Amazon Web Services (AWS) Simple Storage Service (S3)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Clerk RS256 JSON Web Token (JWT) Authentication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Sentry Error Monitoring  •  Prometheus Metrics  •  JSON 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6459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A8DCFC"/>
                </a:solidFill>
                <a:latin typeface="Fredoka"/>
              </a:defRPr>
            </a:pPr>
            <a:r>
              <a:t>MOBILE &amp; WEB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Expo Software Development Kit (SDK) 54  •  React Native 0.81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 19  •  Expo Router 6 (File-Based Navigation)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NativeWind v4 Styling  •  TanStack Query v5 Data Fetching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Zustand v5 State Management Architecture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@clerk/clerk-expo Client Authentication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react-native-maps + Live WebSocket Location Streaming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Next.js 16 (Operations Console Web Application)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Tailwind CSS v4  •  Recharts Visualizations</a:t>
            </a:r>
          </a:p>
          <a:p>
            <a:pPr algn="l">
              <a:spcBef>
                <a:spcPts val="800"/>
              </a:spcBef>
              <a:spcAft>
                <a:spcPts val="0"/>
              </a:spcAft>
              <a:defRPr sz="1100" b="0">
                <a:solidFill>
                  <a:srgbClr val="E2E8F0"/>
                </a:solidFill>
                <a:latin typeface="JetBrains Mono"/>
              </a:defRPr>
            </a:pPr>
            <a:r>
              <a:t>▸  Vercel Cloud Deployment (Operations Console + Website)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10698480" cy="9144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57784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70"/>
              </a:lnSpc>
              <a:spcAft>
                <a:spcPts val="0"/>
              </a:spcAft>
              <a:defRPr sz="1050" b="0">
                <a:solidFill>
                  <a:srgbClr val="E2E8F0"/>
                </a:solidFill>
                <a:latin typeface="Karla"/>
              </a:defRPr>
            </a:pPr>
            <a:r>
              <a:t>🏗️  Architecture Principle: One backend, one database, one pricing path. The console is a Backend-for-Frontend (BFF) — the browser never holds an Application Programming Interface (API) token.</a:t>
            </a:r>
            <a:br/>
            <a:r>
              <a:t>Geospatial: Uber H3 spatial hex indexing at resolution 8 with PostGIS ST_DWithin for exact-distance discovery.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Operations Console — 27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Every page carries aggregates that tell an operator whether anything needs doing — not just tables with search boxes.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🔧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Orders board  •  Know Your Customer (KYC) Verification  •  Live Map</a:t>
            </a:r>
            <a:br/>
            <a:r>
              <a:t>Catalogue  •  Bottle Float Ledger  •  Vendor Verification  •  Disputes</a:t>
            </a:r>
            <a:br/>
            <a:r>
              <a:t>Reviews  •  Delivery Replay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👥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Performance Dashboard  •  Fleet Management</a:t>
            </a:r>
            <a:br/>
            <a:r>
              <a:t>Customers  •  Riders  •  Vendors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286000"/>
            <a:ext cx="338328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💵 Finance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880360"/>
            <a:ext cx="28346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Payouts  •  Transactions</a:t>
            </a:r>
            <a:br/>
            <a:r>
              <a:t>Reconciliation  •  Settlement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🎧 Support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Ticket Inbox</a:t>
            </a:r>
            <a:br/>
            <a:r>
              <a:t>Threaded Conversations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572000"/>
            <a:ext cx="5029200" cy="20116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75488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⚙️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4480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5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Administrators  •  Audit Log  •  Notifications</a:t>
            </a:r>
            <a:br/>
            <a:r>
              <a:t>Broadcast  •  Pricing (34 settings)  •  Settings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Security &amp; Guardrails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Platform-wide invariants enforced by tests that fail the build — not just documented rules.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🔒  Financial Integrity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Money is Decimal, never float — from database through Application Programming Interface (API) to formatted string. One quote, one charge, one stored total.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9456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331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🛡️  Auth &amp; Access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9748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Clerk RS256 JSON Web Token (JWT) verification. Every order endpoint calls authorise_order_access. 26 admin capabilities, role-based presets.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📸  Proof of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Photo proof mandatory on bottle deficit. Verification wall blocks riders until Know Your Customer (KYC) approved. Identity documents presigned for 5 min.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703320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840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🔐  Zero-Trust Console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206240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Backend-for-Frontend (BFF) architecture — browser never holds Application Programming Interface (API) token. No retry on reversals. Every mutation audited with written reason.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⚡  Concurrency Safety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FOR UPDATE ... SKIP LOCKED on all sweeps. Commit-per-item. Two sanctioned push paths only — bare create_task fails the build.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5212079"/>
            <a:ext cx="5394960" cy="1325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5349239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🧪  Structural Tests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71499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704 tests including Abstract Syntax Tree (AST) walkers that reject: unguarded routes, missing capability checks, bypassed proof checks, retry buttons on settlements.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Competitive Advantage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Feature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Drop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WhatsApp Vendors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7373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Maji.com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59" y="173736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39"/>
              </a:lnSpc>
              <a:spcAft>
                <a:spcPts val="0"/>
              </a:spcAft>
              <a:defRPr sz="1200" b="1">
                <a:solidFill>
                  <a:srgbClr val="FFFFFF"/>
                </a:solidFill>
                <a:latin typeface="Fredoka"/>
              </a:defRPr>
            </a:pPr>
            <a:r>
              <a:t>Traditional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Real-time GPS (Global Positioning System)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28600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59" y="228600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61488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76148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M-Pesa integration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276148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59" y="276148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Cash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236976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23697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Multi-vendor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23697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Single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59" y="323697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712464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712464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Proof of delivery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Photo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3712464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09759" y="3712464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187952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4187952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Bottle deposit tracking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Ledger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187952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09759" y="4187952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4663440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63440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Admin console (27 screens)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4663440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Basic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59" y="4663440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138928"/>
            <a:ext cx="10698480" cy="47548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5138928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Smart two-tier dispatch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7472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138928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59" y="5138928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1520" y="5614416"/>
            <a:ext cx="106984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5614416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1E293B"/>
                </a:solidFill>
                <a:latin typeface="Karla"/>
              </a:defRPr>
            </a:pPr>
            <a:r>
              <a:t>Revenue reconciliation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7472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1">
                <a:solidFill>
                  <a:srgbClr val="16A34A"/>
                </a:solidFill>
                <a:latin typeface="Karla"/>
              </a:defRPr>
            </a:pPr>
            <a:r>
              <a:t>✅ Auto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614416"/>
            <a:ext cx="2011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Manual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59" y="5614416"/>
            <a:ext cx="1920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DC2626"/>
                </a:solidFill>
                <a:latin typeface="Karla"/>
              </a:defRPr>
            </a:pPr>
            <a:r>
              <a:t>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Go-to-Market Strategy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1: Seed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1–6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Launch in Ngong + Nairobi satellite towns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Onboard 50 water vendors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Recruit 100 gig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1,000 beta customers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Validate unit economics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2: Grow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7–18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Expand to 5 Nairobi sub-counties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Scale to 500 vendors, 1,000 riders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Wholesale (Business-to-Business) launch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Subscription model for offices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25,000 monthly orders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737360"/>
            <a:ext cx="3383280" cy="73152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Phase 3: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10312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100" b="0">
                <a:solidFill>
                  <a:srgbClr val="CFEDFF"/>
                </a:solidFill>
                <a:latin typeface="Karla"/>
              </a:defRPr>
            </a:pPr>
            <a:r>
              <a:t>Months 19–36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68880"/>
            <a:ext cx="33832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265176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10 Kenyan cities (Mombasa, Kisumu, etc.)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White-label for water corporates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Water quality certification badges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East Africa expansion (Uganda &amp; Tanzania)</a:t>
            </a:r>
          </a:p>
          <a:p>
            <a:pPr algn="l">
              <a:spcBef>
                <a:spcPts val="1200"/>
              </a:spcBef>
              <a:spcAft>
                <a:spcPts val="0"/>
              </a:spcAft>
              <a:defRPr sz="1200" b="0">
                <a:solidFill>
                  <a:srgbClr val="1E293B"/>
                </a:solidFill>
                <a:latin typeface="Karla"/>
              </a:defRPr>
            </a:pPr>
            <a:r>
              <a:t>▸  Target 200,000+ monthly 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Financial Projections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33832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5,000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35.3M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4.29M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1.47M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3.5M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DC2626"/>
                </a:solidFill>
                <a:latin typeface="JetBrains Mono"/>
              </a:defRPr>
            </a:pPr>
            <a:r>
              <a:t>-KSH 0.68M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1737360"/>
            <a:ext cx="3383280" cy="54864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25,000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1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334M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33.1M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6.9M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891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12M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1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6A34A"/>
                </a:solidFill>
                <a:latin typeface="JetBrains Mono"/>
              </a:defRPr>
            </a:pPr>
            <a:r>
              <a:t>KSH 14.2M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46720" y="1737360"/>
            <a:ext cx="3383280" cy="548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46720" y="1755648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60"/>
              </a:lnSpc>
              <a:spcAft>
                <a:spcPts val="0"/>
              </a:spcAft>
              <a:defRPr sz="1800" b="1">
                <a:solidFill>
                  <a:srgbClr val="FFFFFF"/>
                </a:solidFill>
                <a:latin typeface="Fredoka"/>
              </a:defRPr>
            </a:pPr>
            <a:r>
              <a:t>Year 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46720" y="237744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0" y="24505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Monthly Orders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24688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200,000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046720" y="301752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0" y="3090672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  <a:defRPr sz="1000" b="0">
                <a:solidFill>
                  <a:srgbClr val="64748B"/>
                </a:solidFill>
                <a:latin typeface="Karla"/>
              </a:defRPr>
            </a:pPr>
            <a:r>
              <a:t>Gross Merchandise Value (GMV)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3108960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3.9B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20" y="365760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0" y="373075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Platform 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3749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339M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46720" y="4297679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29600" y="4370831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Payment Costs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84080" y="4389119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57.6M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46720" y="4937760"/>
            <a:ext cx="3383280" cy="5943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501091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0">
                <a:solidFill>
                  <a:srgbClr val="64748B"/>
                </a:solidFill>
                <a:latin typeface="Karla"/>
              </a:defRPr>
            </a:pPr>
            <a:r>
              <a:t>Operating Costs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84080" y="5029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E293B"/>
                </a:solidFill>
                <a:latin typeface="JetBrains Mono"/>
              </a:defRPr>
            </a:pPr>
            <a:r>
              <a:t>KSH 65M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46720" y="5577840"/>
            <a:ext cx="3383280" cy="594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29600" y="5650992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20"/>
              </a:lnSpc>
              <a:spcAft>
                <a:spcPts val="0"/>
              </a:spcAft>
              <a:defRPr sz="1200" b="1">
                <a:solidFill>
                  <a:srgbClr val="64748B"/>
                </a:solidFill>
                <a:latin typeface="Karla"/>
              </a:defRPr>
            </a:pPr>
            <a:r>
              <a:t>Net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84080" y="5669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560"/>
              </a:lnSpc>
              <a:spcAft>
                <a:spcPts val="0"/>
              </a:spcAft>
              <a:defRPr sz="1300" b="1">
                <a:solidFill>
                  <a:srgbClr val="16A34A"/>
                </a:solidFill>
                <a:latin typeface="JetBrains Mono"/>
              </a:defRPr>
            </a:pPr>
            <a:r>
              <a:t>KSH 216.5M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FFFFFF"/>
                </a:solidFill>
                <a:latin typeface="Fredoka"/>
              </a:defRPr>
            </a:pPr>
            <a:r>
              <a:t>Current Traction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🏗️  Product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Full-stack platform complete — 3 mobile apps, admin console, backend API, all deployed and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🧪  Beta Live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Android Application Packages (APKs) available for download on website. Beta credentials active for external testers.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5448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8288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✅  704 Tests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37744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Comprehensive test suite with Abstract Syntax Tree (AST) structural walkers. Continuous Integration (CI/CD) on every push.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📄  27 Admin Screens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Operations console with Know Your Customer (KYC), disputes, reconciliation, delivery replay, and financial controls.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🔐  Security Hardened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Clerk authentication, Backend-for-Frontend (BFF) pattern, encrypted Personally Identifiable Information (PII), audited mutations.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4023360"/>
            <a:ext cx="3383280" cy="2194560"/>
          </a:xfrm>
          <a:prstGeom prst="roundRect">
            <a:avLst/>
          </a:prstGeom>
          <a:solidFill>
            <a:srgbClr val="0057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42976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20"/>
              </a:lnSpc>
              <a:spcAft>
                <a:spcPts val="0"/>
              </a:spcAft>
              <a:defRPr sz="1600" b="1">
                <a:solidFill>
                  <a:srgbClr val="FFFFFF"/>
                </a:solidFill>
                <a:latin typeface="Fredoka"/>
              </a:defRPr>
            </a:pPr>
            <a:r>
              <a:t>📖  Fully Documented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846320"/>
            <a:ext cx="2834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79"/>
              </a:lnSpc>
              <a:spcAft>
                <a:spcPts val="0"/>
              </a:spcAft>
              <a:defRPr sz="1200" b="0">
                <a:solidFill>
                  <a:srgbClr val="CFEDFF"/>
                </a:solidFill>
                <a:latin typeface="Karla"/>
              </a:defRPr>
            </a:pPr>
            <a:r>
              <a:t>12 architecture docs, decision records, runbooks, and deployment guides.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20"/>
              </a:lnSpc>
              <a:spcAft>
                <a:spcPts val="0"/>
              </a:spcAft>
              <a:defRPr sz="3600" b="1">
                <a:solidFill>
                  <a:srgbClr val="1E293B"/>
                </a:solidFill>
                <a:latin typeface="Fredoka"/>
              </a:defRPr>
            </a:pPr>
            <a:r>
              <a:t>The Ask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48640" cy="50800"/>
          </a:xfrm>
          <a:prstGeom prst="rect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spcAft>
                <a:spcPts val="0"/>
              </a:spcAft>
              <a:defRPr sz="3000" b="1">
                <a:solidFill>
                  <a:srgbClr val="006DB0"/>
                </a:solidFill>
                <a:latin typeface="Fredoka"/>
              </a:defRPr>
            </a:pPr>
            <a:r>
              <a:t>Seed Round: KSH 15M (~$115K US Dollars / USD)</a:t>
            </a:r>
          </a:p>
          <a:p>
            <a:pPr algn="ctr">
              <a:spcBef>
                <a:spcPts val="800"/>
              </a:spcBef>
              <a:spcAft>
                <a:spcPts val="0"/>
              </a:spcAft>
              <a:defRPr sz="1400" b="0">
                <a:solidFill>
                  <a:srgbClr val="64748B"/>
                </a:solidFill>
                <a:latin typeface="Karla"/>
              </a:defRPr>
            </a:pPr>
            <a:r>
              <a:t>18-month runway to achieve product-market fit and reach 25,000 monthly orders</a:t>
            </a:r>
          </a:p>
        </p:txBody>
      </p:sp>
      <p:sp>
        <p:nvSpPr>
          <p:cNvPr id="5" name="Oval 4"/>
          <p:cNvSpPr/>
          <p:nvPr/>
        </p:nvSpPr>
        <p:spPr>
          <a:xfrm>
            <a:off x="1508760" y="3200400"/>
            <a:ext cx="1005840" cy="100584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40%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Operations &amp;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Vendor onboarding, rider recruitment, customer acquisition, and market activation across Nairobi satellite towns.</a:t>
            </a:r>
          </a:p>
        </p:txBody>
      </p:sp>
      <p:sp>
        <p:nvSpPr>
          <p:cNvPr id="8" name="Oval 7"/>
          <p:cNvSpPr/>
          <p:nvPr/>
        </p:nvSpPr>
        <p:spPr>
          <a:xfrm>
            <a:off x="4343400" y="3200400"/>
            <a:ext cx="1005840" cy="100584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25%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Android and iOS mobile builds, Google Play Store listing, push notifications, payment edge cases, and performance.</a:t>
            </a:r>
          </a:p>
        </p:txBody>
      </p:sp>
      <p:sp>
        <p:nvSpPr>
          <p:cNvPr id="11" name="Oval 10"/>
          <p:cNvSpPr/>
          <p:nvPr/>
        </p:nvSpPr>
        <p:spPr>
          <a:xfrm>
            <a:off x="7178040" y="3200400"/>
            <a:ext cx="1005840" cy="100584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Infrastructure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Cloud hosting, Neon PostgreSQL database, Redis cache, Amazon Web Services (AWS) S3 storage, and Clerk authentication.</a:t>
            </a:r>
          </a:p>
        </p:txBody>
      </p:sp>
      <p:sp>
        <p:nvSpPr>
          <p:cNvPr id="14" name="Oval 13"/>
          <p:cNvSpPr/>
          <p:nvPr/>
        </p:nvSpPr>
        <p:spPr>
          <a:xfrm>
            <a:off x="10012680" y="3200400"/>
            <a:ext cx="1005840" cy="1005840"/>
          </a:xfrm>
          <a:prstGeom prst="ellipse">
            <a:avLst/>
          </a:prstGeom>
          <a:solidFill>
            <a:srgbClr val="006D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ts val="2640"/>
              </a:lnSpc>
              <a:spcAft>
                <a:spcPts val="0"/>
              </a:spcAft>
              <a:defRPr sz="2200" b="1">
                <a:solidFill>
                  <a:srgbClr val="FFFFFF"/>
                </a:solidFill>
                <a:latin typeface="Fredoka"/>
              </a:defRPr>
            </a:pPr>
            <a:r>
              <a:t>15%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4389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80"/>
              </a:lnSpc>
              <a:spcAft>
                <a:spcPts val="0"/>
              </a:spcAft>
              <a:defRPr sz="1400" b="1">
                <a:solidFill>
                  <a:srgbClr val="006DB0"/>
                </a:solidFill>
                <a:latin typeface="Fredoka"/>
              </a:defRPr>
            </a:pPr>
            <a:r>
              <a:t>Legal &amp;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48463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39"/>
              </a:lnSpc>
              <a:spcAft>
                <a:spcPts val="0"/>
              </a:spcAft>
              <a:defRPr sz="1100" b="0">
                <a:solidFill>
                  <a:srgbClr val="64748B"/>
                </a:solidFill>
                <a:latin typeface="Karla"/>
              </a:defRPr>
            </a:pPr>
            <a:r>
              <a:t>Business registration, M-Pesa partnership agreements, data protection compliance (Kenya Data Protection Act), and insurance.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Fredoka"/>
              </a:defRPr>
            </a:pPr>
            <a:r>
              <a:t>💧 Drop — Multivendor Water Delivery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8640"/>
              </a:lnSpc>
              <a:spcAft>
                <a:spcPts val="0"/>
              </a:spcAft>
              <a:defRPr sz="7200" b="1">
                <a:solidFill>
                  <a:srgbClr val="FFFFFF"/>
                </a:solidFill>
                <a:latin typeface="Fredoka"/>
              </a:defRPr>
            </a:pPr>
            <a:r>
              <a:t>💧 Drop</a:t>
            </a:r>
          </a:p>
          <a:p>
            <a:pPr algn="ctr">
              <a:spcBef>
                <a:spcPts val="400"/>
              </a:spcBef>
              <a:spcAft>
                <a:spcPts val="0"/>
              </a:spcAft>
              <a:defRPr sz="2400" b="0">
                <a:solidFill>
                  <a:srgbClr val="CFEDFF"/>
                </a:solidFill>
                <a:latin typeface="Fredoka"/>
              </a:defRPr>
            </a:pPr>
            <a:r>
              <a:t>Clean Water, Delivered to Your Door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6000" y="34747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60"/>
              </a:lnSpc>
              <a:spcAft>
                <a:spcPts val="0"/>
              </a:spcAft>
              <a:defRPr sz="2800" b="1">
                <a:solidFill>
                  <a:srgbClr val="FFFFFF"/>
                </a:solidFill>
                <a:latin typeface="Fredoka"/>
              </a:defRPr>
            </a:pPr>
            <a:r>
              <a:t>Let's talk.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🌐  Website: drop-water-delivery-website.vercel.app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⚡  Admin Console: drop-admin-five.vercel.app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📦  GitHub: github.com/WinterJackson/drop-water-delivery-app</a:t>
            </a:r>
          </a:p>
          <a:p>
            <a:pPr algn="ctr">
              <a:spcBef>
                <a:spcPts val="1200"/>
              </a:spcBef>
              <a:spcAft>
                <a:spcPts val="0"/>
              </a:spcAft>
              <a:defRPr sz="1400" b="0">
                <a:solidFill>
                  <a:srgbClr val="CFEDFF"/>
                </a:solidFill>
                <a:latin typeface="Karla"/>
              </a:defRPr>
            </a:pPr>
            <a:r>
              <a:t>📱  Beta Android App (APK) Downloads: Available on website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59436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400"/>
              </a:lnSpc>
              <a:spcAft>
                <a:spcPts val="0"/>
              </a:spcAft>
              <a:defRPr sz="2000" b="0">
                <a:solidFill>
                  <a:srgbClr val="FFFFFF"/>
                </a:solidFill>
                <a:latin typeface="Fredoka"/>
              </a:defRPr>
            </a:pPr>
            <a:r>
              <a:t>Thank you  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64008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080"/>
              </a:lnSpc>
              <a:spcAft>
                <a:spcPts val="0"/>
              </a:spcAft>
              <a:defRPr sz="900" b="0">
                <a:solidFill>
                  <a:srgbClr val="64748B"/>
                </a:solidFill>
                <a:latin typeface="Karla"/>
              </a:defRPr>
            </a:pPr>
            <a: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