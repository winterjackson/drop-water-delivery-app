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563EB"/>
        </a:solidFill>
        <a:effectLst/>
      </p:bgPr>
    </p:bg>
    <p:spTree>
      <p:nvGrpSpPr>
        <p:cNvPr id="1" name=""/>
        <p:cNvGrpSpPr/>
        <p:nvPr/>
      </p:nvGrpSpPr>
      <p:grpSpPr/>
      <p:sp>
        <p:nvSpPr>
          <p:cNvPr id="2" name="TextBox 1"/>
          <p:cNvSpPr txBox="1"/>
          <p:nvPr/>
        </p:nvSpPr>
        <p:spPr>
          <a:xfrm>
            <a:off x="914400" y="1645920"/>
            <a:ext cx="10058400" cy="1828800"/>
          </a:xfrm>
          <a:prstGeom prst="rect">
            <a:avLst/>
          </a:prstGeom>
          <a:noFill/>
        </p:spPr>
        <p:txBody>
          <a:bodyPr wrap="square">
            <a:spAutoFit/>
          </a:bodyPr>
          <a:lstStyle/>
          <a:p>
            <a:pPr algn="ctr">
              <a:lnSpc>
                <a:spcPts val="8640"/>
              </a:lnSpc>
              <a:spcAft>
                <a:spcPts val="0"/>
              </a:spcAft>
              <a:defRPr sz="7200" b="1">
                <a:solidFill>
                  <a:srgbClr val="FFFFFF"/>
                </a:solidFill>
                <a:latin typeface="Fredoka"/>
              </a:defRPr>
            </a:pPr>
            <a:r>
              <a:t>💧 Drop</a:t>
            </a:r>
          </a:p>
          <a:p>
            <a:pPr algn="ctr">
              <a:spcBef>
                <a:spcPts val="400"/>
              </a:spcBef>
              <a:spcAft>
                <a:spcPts val="0"/>
              </a:spcAft>
              <a:defRPr sz="2800" b="0">
                <a:solidFill>
                  <a:srgbClr val="FFFFFF"/>
                </a:solidFill>
                <a:latin typeface="Fredoka"/>
              </a:defRPr>
            </a:pPr>
            <a:r>
              <a:t>Clean Water, Delivered to Your Door</a:t>
            </a:r>
          </a:p>
        </p:txBody>
      </p:sp>
      <p:sp>
        <p:nvSpPr>
          <p:cNvPr id="3" name="TextBox 2"/>
          <p:cNvSpPr txBox="1"/>
          <p:nvPr/>
        </p:nvSpPr>
        <p:spPr>
          <a:xfrm>
            <a:off x="2286000" y="3931920"/>
            <a:ext cx="7315200" cy="914400"/>
          </a:xfrm>
          <a:prstGeom prst="rect">
            <a:avLst/>
          </a:prstGeom>
          <a:noFill/>
        </p:spPr>
        <p:txBody>
          <a:bodyPr wrap="square">
            <a:spAutoFit/>
          </a:bodyPr>
          <a:lstStyle/>
          <a:p>
            <a:pPr algn="ctr">
              <a:lnSpc>
                <a:spcPts val="1920"/>
              </a:lnSpc>
              <a:spcAft>
                <a:spcPts val="0"/>
              </a:spcAft>
              <a:defRPr sz="1600" b="0">
                <a:solidFill>
                  <a:srgbClr val="DBEAFE"/>
                </a:solidFill>
                <a:latin typeface="Karla"/>
              </a:defRPr>
            </a:pPr>
            <a:r>
              <a:t>Kenya's first multivendor water delivery marketplace.</a:t>
            </a:r>
            <a:br/>
            <a:r>
              <a:t>Connecting communities with clean water through technology.</a:t>
            </a:r>
          </a:p>
        </p:txBody>
      </p:sp>
      <p:sp>
        <p:nvSpPr>
          <p:cNvPr id="4" name="TextBox 3"/>
          <p:cNvSpPr txBox="1"/>
          <p:nvPr/>
        </p:nvSpPr>
        <p:spPr>
          <a:xfrm>
            <a:off x="2743200" y="5669280"/>
            <a:ext cx="6400800" cy="731520"/>
          </a:xfrm>
          <a:prstGeom prst="rect">
            <a:avLst/>
          </a:prstGeom>
          <a:noFill/>
        </p:spPr>
        <p:txBody>
          <a:bodyPr wrap="square">
            <a:spAutoFit/>
          </a:bodyPr>
          <a:lstStyle/>
          <a:p>
            <a:pPr algn="ctr">
              <a:lnSpc>
                <a:spcPts val="1560"/>
              </a:lnSpc>
              <a:spcAft>
                <a:spcPts val="0"/>
              </a:spcAft>
              <a:defRPr sz="1300" b="0">
                <a:solidFill>
                  <a:srgbClr val="93C5FD"/>
                </a:solidFill>
                <a:latin typeface="Karla"/>
              </a:defRPr>
            </a:pPr>
            <a:r>
              <a:t>Pitch Deck  •  September 2026  •  Beta Live</a:t>
            </a:r>
          </a:p>
        </p:txBody>
      </p:sp>
      <p:sp>
        <p:nvSpPr>
          <p:cNvPr id="5" name="TextBox 4"/>
          <p:cNvSpPr txBox="1"/>
          <p:nvPr/>
        </p:nvSpPr>
        <p:spPr>
          <a:xfrm>
            <a:off x="10515600" y="6400800"/>
            <a:ext cx="1371600" cy="365760"/>
          </a:xfrm>
          <a:prstGeom prst="rect">
            <a:avLst/>
          </a:prstGeom>
          <a:noFill/>
        </p:spPr>
        <p:txBody>
          <a:bodyPr wrap="square">
            <a:spAutoFit/>
          </a:bodyPr>
          <a:lstStyle/>
          <a:p>
            <a:pPr algn="r">
              <a:lnSpc>
                <a:spcPts val="1080"/>
              </a:lnSpc>
              <a:spcAft>
                <a:spcPts val="0"/>
              </a:spcAft>
              <a:defRPr sz="900" b="0">
                <a:solidFill>
                  <a:srgbClr val="64748B"/>
                </a:solidFill>
                <a:latin typeface="Karla"/>
              </a:defRPr>
            </a:pPr>
            <a:r>
              <a:t>1 /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48640"/>
            <a:ext cx="10058400" cy="685800"/>
          </a:xfrm>
          <a:prstGeom prst="rect">
            <a:avLst/>
          </a:prstGeom>
          <a:noFill/>
        </p:spPr>
        <p:txBody>
          <a:bodyPr wrap="square">
            <a:spAutoFit/>
          </a:bodyPr>
          <a:lstStyle/>
          <a:p>
            <a:pPr algn="l">
              <a:lnSpc>
                <a:spcPts val="4079"/>
              </a:lnSpc>
              <a:spcAft>
                <a:spcPts val="0"/>
              </a:spcAft>
              <a:defRPr sz="3400" b="1">
                <a:solidFill>
                  <a:srgbClr val="1E293B"/>
                </a:solidFill>
                <a:latin typeface="Fredoka"/>
              </a:defRPr>
            </a:pPr>
            <a:r>
              <a:t>The Problem: Kenya's Urban Water Crisis</a:t>
            </a:r>
          </a:p>
        </p:txBody>
      </p:sp>
      <p:sp>
        <p:nvSpPr>
          <p:cNvPr id="3" name="Rectangle 2"/>
          <p:cNvSpPr/>
          <p:nvPr/>
        </p:nvSpPr>
        <p:spPr>
          <a:xfrm>
            <a:off x="731520" y="1234440"/>
            <a:ext cx="548640" cy="50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25880"/>
            <a:ext cx="10698480" cy="502920"/>
          </a:xfrm>
          <a:prstGeom prst="rect">
            <a:avLst/>
          </a:prstGeom>
          <a:noFill/>
        </p:spPr>
        <p:txBody>
          <a:bodyPr wrap="square">
            <a:spAutoFit/>
          </a:bodyPr>
          <a:lstStyle/>
          <a:p>
            <a:pPr algn="l">
              <a:lnSpc>
                <a:spcPts val="1560"/>
              </a:lnSpc>
              <a:spcAft>
                <a:spcPts val="0"/>
              </a:spcAft>
              <a:defRPr sz="1300" b="0">
                <a:solidFill>
                  <a:srgbClr val="64748B"/>
                </a:solidFill>
                <a:latin typeface="Karla"/>
              </a:defRPr>
            </a:pPr>
            <a:r>
              <a:t>In rapid-growth satellite towns like Rongai and Ngong, municipal taps stay dry for weeks. Over 15M urban Kenyans depend on informal vendors — enduring predatory cartels, unverified water quality, and logistics chaos.</a:t>
            </a:r>
          </a:p>
        </p:txBody>
      </p:sp>
      <p:sp>
        <p:nvSpPr>
          <p:cNvPr id="5" name="Rounded Rectangle 4"/>
          <p:cNvSpPr/>
          <p:nvPr/>
        </p:nvSpPr>
        <p:spPr>
          <a:xfrm>
            <a:off x="731520" y="1965960"/>
            <a:ext cx="5212080" cy="2057400"/>
          </a:xfrm>
          <a:prstGeom prst="round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167128"/>
            <a:ext cx="4572000" cy="365760"/>
          </a:xfrm>
          <a:prstGeom prst="rect">
            <a:avLst/>
          </a:prstGeom>
          <a:noFill/>
        </p:spPr>
        <p:txBody>
          <a:bodyPr wrap="square">
            <a:spAutoFit/>
          </a:bodyPr>
          <a:lstStyle/>
          <a:p>
            <a:pPr algn="l">
              <a:lnSpc>
                <a:spcPts val="1800"/>
              </a:lnSpc>
              <a:spcAft>
                <a:spcPts val="0"/>
              </a:spcAft>
              <a:defRPr sz="1500" b="1">
                <a:solidFill>
                  <a:srgbClr val="1D4ED8"/>
                </a:solidFill>
                <a:latin typeface="Fredoka"/>
              </a:defRPr>
            </a:pPr>
            <a:r>
              <a:t>⚠️  Chronic Rationing &amp; Cartel Price Gouging</a:t>
            </a:r>
          </a:p>
        </p:txBody>
      </p:sp>
      <p:sp>
        <p:nvSpPr>
          <p:cNvPr id="7" name="TextBox 6"/>
          <p:cNvSpPr txBox="1"/>
          <p:nvPr/>
        </p:nvSpPr>
        <p:spPr>
          <a:xfrm>
            <a:off x="1051560" y="2624328"/>
            <a:ext cx="4572000" cy="1325880"/>
          </a:xfrm>
          <a:prstGeom prst="rect">
            <a:avLst/>
          </a:prstGeom>
          <a:noFill/>
        </p:spPr>
        <p:txBody>
          <a:bodyPr wrap="square">
            <a:spAutoFit/>
          </a:bodyPr>
          <a:lstStyle/>
          <a:p>
            <a:pPr algn="l">
              <a:lnSpc>
                <a:spcPts val="1495"/>
              </a:lnSpc>
              <a:spcAft>
                <a:spcPts val="0"/>
              </a:spcAft>
              <a:defRPr sz="1150" b="0">
                <a:solidFill>
                  <a:srgbClr val="64748B"/>
                </a:solidFill>
                <a:latin typeface="Karla"/>
              </a:defRPr>
            </a:pPr>
            <a:r>
              <a:t>Municipal piped supply (Oloolaiser, NCWSC) dries up for weeks on end. Households and apartments are forced onto unregulated vendors who arbitrarily double or triple prices during shortages (KSh 20 jumping to KSh 60–80 per 20L; bowsers surging from KSh 2,500 to KSh 6,000+) with zero price transparency.</a:t>
            </a:r>
          </a:p>
        </p:txBody>
      </p:sp>
      <p:sp>
        <p:nvSpPr>
          <p:cNvPr id="8" name="Rounded Rectangle 7"/>
          <p:cNvSpPr/>
          <p:nvPr/>
        </p:nvSpPr>
        <p:spPr>
          <a:xfrm>
            <a:off x="6217920" y="1965960"/>
            <a:ext cx="5212080" cy="2057400"/>
          </a:xfrm>
          <a:prstGeom prst="round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2167128"/>
            <a:ext cx="4572000" cy="365760"/>
          </a:xfrm>
          <a:prstGeom prst="rect">
            <a:avLst/>
          </a:prstGeom>
          <a:noFill/>
        </p:spPr>
        <p:txBody>
          <a:bodyPr wrap="square">
            <a:spAutoFit/>
          </a:bodyPr>
          <a:lstStyle/>
          <a:p>
            <a:pPr algn="l">
              <a:lnSpc>
                <a:spcPts val="1800"/>
              </a:lnSpc>
              <a:spcAft>
                <a:spcPts val="0"/>
              </a:spcAft>
              <a:defRPr sz="1500" b="1">
                <a:solidFill>
                  <a:srgbClr val="1D4ED8"/>
                </a:solidFill>
                <a:latin typeface="Fredoka"/>
              </a:defRPr>
            </a:pPr>
            <a:r>
              <a:t>🧪  Water Quality Roulette &amp; Health Hazards</a:t>
            </a:r>
          </a:p>
        </p:txBody>
      </p:sp>
      <p:sp>
        <p:nvSpPr>
          <p:cNvPr id="10" name="TextBox 9"/>
          <p:cNvSpPr txBox="1"/>
          <p:nvPr/>
        </p:nvSpPr>
        <p:spPr>
          <a:xfrm>
            <a:off x="6537960" y="2624328"/>
            <a:ext cx="4572000" cy="1325880"/>
          </a:xfrm>
          <a:prstGeom prst="rect">
            <a:avLst/>
          </a:prstGeom>
          <a:noFill/>
        </p:spPr>
        <p:txBody>
          <a:bodyPr wrap="square">
            <a:spAutoFit/>
          </a:bodyPr>
          <a:lstStyle/>
          <a:p>
            <a:pPr algn="l">
              <a:lnSpc>
                <a:spcPts val="1495"/>
              </a:lnSpc>
              <a:spcAft>
                <a:spcPts val="0"/>
              </a:spcAft>
              <a:defRPr sz="1150" b="0">
                <a:solidFill>
                  <a:srgbClr val="64748B"/>
                </a:solidFill>
                <a:latin typeface="Karla"/>
              </a:defRPr>
            </a:pPr>
            <a:r>
              <a:t>Groundwater across the Rongai–Ngong corridor suffers from dangerous fluoride concentrations and high salinity. Informal vendors routinely source from uncertified boreholes or mix untreated water into dirty jerricans, with zero KEBS verification, testing logs, or hygiene oversight.</a:t>
            </a:r>
          </a:p>
        </p:txBody>
      </p:sp>
      <p:sp>
        <p:nvSpPr>
          <p:cNvPr id="11" name="Rounded Rectangle 10"/>
          <p:cNvSpPr/>
          <p:nvPr/>
        </p:nvSpPr>
        <p:spPr>
          <a:xfrm>
            <a:off x="731520" y="4206240"/>
            <a:ext cx="5212080" cy="2057400"/>
          </a:xfrm>
          <a:prstGeom prst="round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4407408"/>
            <a:ext cx="4572000" cy="365760"/>
          </a:xfrm>
          <a:prstGeom prst="rect">
            <a:avLst/>
          </a:prstGeom>
          <a:noFill/>
        </p:spPr>
        <p:txBody>
          <a:bodyPr wrap="square">
            <a:spAutoFit/>
          </a:bodyPr>
          <a:lstStyle/>
          <a:p>
            <a:pPr algn="l">
              <a:lnSpc>
                <a:spcPts val="1800"/>
              </a:lnSpc>
              <a:spcAft>
                <a:spcPts val="0"/>
              </a:spcAft>
              <a:defRPr sz="1500" b="1">
                <a:solidFill>
                  <a:srgbClr val="1D4ED8"/>
                </a:solidFill>
                <a:latin typeface="Fredoka"/>
              </a:defRPr>
            </a:pPr>
            <a:r>
              <a:t>⏳  Broken "Call-and-Pray" Delivery</a:t>
            </a:r>
          </a:p>
        </p:txBody>
      </p:sp>
      <p:sp>
        <p:nvSpPr>
          <p:cNvPr id="13" name="TextBox 12"/>
          <p:cNvSpPr txBox="1"/>
          <p:nvPr/>
        </p:nvSpPr>
        <p:spPr>
          <a:xfrm>
            <a:off x="1051560" y="4864608"/>
            <a:ext cx="4572000" cy="1325880"/>
          </a:xfrm>
          <a:prstGeom prst="rect">
            <a:avLst/>
          </a:prstGeom>
          <a:noFill/>
        </p:spPr>
        <p:txBody>
          <a:bodyPr wrap="square">
            <a:spAutoFit/>
          </a:bodyPr>
          <a:lstStyle/>
          <a:p>
            <a:pPr algn="l">
              <a:lnSpc>
                <a:spcPts val="1495"/>
              </a:lnSpc>
              <a:spcAft>
                <a:spcPts val="0"/>
              </a:spcAft>
              <a:defRPr sz="1150" b="0">
                <a:solidFill>
                  <a:srgbClr val="64748B"/>
                </a:solidFill>
                <a:latin typeface="Karla"/>
              </a:defRPr>
            </a:pPr>
            <a:r>
              <a:t>Residents must call faded phone numbers scrawled on electricity poles and estate gates. Vendors promise "niko njiani" but arrive 4–8 hours late or abandon orders for higher bidders. Furthermore, high-value 20L dispenser bottles (KSh 1,200+ deposit) are frequently stolen or swapped for counterfeit jugs.</a:t>
            </a:r>
          </a:p>
        </p:txBody>
      </p:sp>
      <p:sp>
        <p:nvSpPr>
          <p:cNvPr id="14" name="Rounded Rectangle 13"/>
          <p:cNvSpPr/>
          <p:nvPr/>
        </p:nvSpPr>
        <p:spPr>
          <a:xfrm>
            <a:off x="6217920" y="4206240"/>
            <a:ext cx="5212080" cy="2057400"/>
          </a:xfrm>
          <a:prstGeom prst="round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60" y="4407408"/>
            <a:ext cx="4572000" cy="365760"/>
          </a:xfrm>
          <a:prstGeom prst="rect">
            <a:avLst/>
          </a:prstGeom>
          <a:noFill/>
        </p:spPr>
        <p:txBody>
          <a:bodyPr wrap="square">
            <a:spAutoFit/>
          </a:bodyPr>
          <a:lstStyle/>
          <a:p>
            <a:pPr algn="l">
              <a:lnSpc>
                <a:spcPts val="1800"/>
              </a:lnSpc>
              <a:spcAft>
                <a:spcPts val="0"/>
              </a:spcAft>
              <a:defRPr sz="1500" b="1">
                <a:solidFill>
                  <a:srgbClr val="1D4ED8"/>
                </a:solidFill>
                <a:latin typeface="Fredoka"/>
              </a:defRPr>
            </a:pPr>
            <a:r>
              <a:t>📱  Offline Chaos in a Mobile-First Economy</a:t>
            </a:r>
          </a:p>
        </p:txBody>
      </p:sp>
      <p:sp>
        <p:nvSpPr>
          <p:cNvPr id="16" name="TextBox 15"/>
          <p:cNvSpPr txBox="1"/>
          <p:nvPr/>
        </p:nvSpPr>
        <p:spPr>
          <a:xfrm>
            <a:off x="6537960" y="4864608"/>
            <a:ext cx="4572000" cy="1325880"/>
          </a:xfrm>
          <a:prstGeom prst="rect">
            <a:avLst/>
          </a:prstGeom>
          <a:noFill/>
        </p:spPr>
        <p:txBody>
          <a:bodyPr wrap="square">
            <a:spAutoFit/>
          </a:bodyPr>
          <a:lstStyle/>
          <a:p>
            <a:pPr algn="l">
              <a:lnSpc>
                <a:spcPts val="1495"/>
              </a:lnSpc>
              <a:spcAft>
                <a:spcPts val="0"/>
              </a:spcAft>
              <a:defRPr sz="1150" b="0">
                <a:solidFill>
                  <a:srgbClr val="64748B"/>
                </a:solidFill>
                <a:latin typeface="Karla"/>
              </a:defRPr>
            </a:pPr>
            <a:r>
              <a:t>Kenya is the world leader in mobile money, yet water delivery remains stubbornly analog. Direct peer-to-peer M-Pesa transfers offer zero buyer escrow, no real-time delivery tracking, no proof-of-delivery receipts, and zero dispute recourse when orders fail or water is foul.</a:t>
            </a:r>
          </a:p>
        </p:txBody>
      </p:sp>
      <p:sp>
        <p:nvSpPr>
          <p:cNvPr id="17" name="TextBox 16"/>
          <p:cNvSpPr txBox="1"/>
          <p:nvPr/>
        </p:nvSpPr>
        <p:spPr>
          <a:xfrm>
            <a:off x="731520" y="6400800"/>
            <a:ext cx="3657600" cy="365760"/>
          </a:xfrm>
          <a:prstGeom prst="rect">
            <a:avLst/>
          </a:prstGeom>
          <a:noFill/>
        </p:spPr>
        <p:txBody>
          <a:bodyPr wrap="square">
            <a:spAutoFit/>
          </a:bodyPr>
          <a:lstStyle/>
          <a:p>
            <a:pPr algn="l">
              <a:lnSpc>
                <a:spcPts val="1080"/>
              </a:lnSpc>
              <a:spcAft>
                <a:spcPts val="0"/>
              </a:spcAft>
              <a:defRPr sz="900" b="0">
                <a:solidFill>
                  <a:srgbClr val="64748B"/>
                </a:solidFill>
                <a:latin typeface="Fredoka"/>
              </a:defRPr>
            </a:pPr>
            <a:r>
              <a:t>💧 Drop — Multivendor Water Delivery Platform</a:t>
            </a:r>
          </a:p>
        </p:txBody>
      </p:sp>
      <p:sp>
        <p:nvSpPr>
          <p:cNvPr id="18" name="TextBox 17"/>
          <p:cNvSpPr txBox="1"/>
          <p:nvPr/>
        </p:nvSpPr>
        <p:spPr>
          <a:xfrm>
            <a:off x="10515600" y="6400800"/>
            <a:ext cx="1371600" cy="365760"/>
          </a:xfrm>
          <a:prstGeom prst="rect">
            <a:avLst/>
          </a:prstGeom>
          <a:noFill/>
        </p:spPr>
        <p:txBody>
          <a:bodyPr wrap="square">
            <a:spAutoFit/>
          </a:bodyPr>
          <a:lstStyle/>
          <a:p>
            <a:pPr algn="r">
              <a:lnSpc>
                <a:spcPts val="1080"/>
              </a:lnSpc>
              <a:spcAft>
                <a:spcPts val="0"/>
              </a:spcAft>
              <a:defRPr sz="900" b="0">
                <a:solidFill>
                  <a:srgbClr val="64748B"/>
                </a:solidFill>
                <a:latin typeface="Karla"/>
              </a:defRPr>
            </a:pPr>
            <a:r>
              <a:t>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48640"/>
            <a:ext cx="10058400" cy="731520"/>
          </a:xfrm>
          <a:prstGeom prst="rect">
            <a:avLst/>
          </a:prstGeom>
          <a:noFill/>
        </p:spPr>
        <p:txBody>
          <a:bodyPr wrap="square">
            <a:spAutoFit/>
          </a:bodyPr>
          <a:lstStyle/>
          <a:p>
            <a:pPr algn="l">
              <a:lnSpc>
                <a:spcPts val="4320"/>
              </a:lnSpc>
              <a:spcAft>
                <a:spcPts val="0"/>
              </a:spcAft>
              <a:defRPr sz="3600" b="1">
                <a:solidFill>
                  <a:srgbClr val="1E293B"/>
                </a:solidFill>
                <a:latin typeface="Fredoka"/>
              </a:defRPr>
            </a:pPr>
            <a:r>
              <a:t>The Solution</a:t>
            </a:r>
          </a:p>
        </p:txBody>
      </p:sp>
      <p:sp>
        <p:nvSpPr>
          <p:cNvPr id="3" name="Rectangle 2"/>
          <p:cNvSpPr/>
          <p:nvPr/>
        </p:nvSpPr>
        <p:spPr>
          <a:xfrm>
            <a:off x="731520" y="1234440"/>
            <a:ext cx="548640" cy="50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54480"/>
            <a:ext cx="10058400" cy="640080"/>
          </a:xfrm>
          <a:prstGeom prst="rect">
            <a:avLst/>
          </a:prstGeom>
          <a:noFill/>
        </p:spPr>
        <p:txBody>
          <a:bodyPr wrap="square">
            <a:spAutoFit/>
          </a:bodyPr>
          <a:lstStyle/>
          <a:p>
            <a:pPr algn="l">
              <a:lnSpc>
                <a:spcPts val="1920"/>
              </a:lnSpc>
              <a:spcAft>
                <a:spcPts val="0"/>
              </a:spcAft>
              <a:defRPr sz="1600" b="0">
                <a:solidFill>
                  <a:srgbClr val="64748B"/>
                </a:solidFill>
                <a:latin typeface="Karla"/>
              </a:defRPr>
            </a:pPr>
            <a:r>
              <a:t>Drop is a full-stack multivendor marketplace for water delivery — purpose-built for Kenya's mobile-first economy.</a:t>
            </a:r>
          </a:p>
        </p:txBody>
      </p:sp>
      <p:sp>
        <p:nvSpPr>
          <p:cNvPr id="5" name="Rounded Rectangle 4"/>
          <p:cNvSpPr/>
          <p:nvPr/>
        </p:nvSpPr>
        <p:spPr>
          <a:xfrm>
            <a:off x="731520" y="2560320"/>
            <a:ext cx="3383280" cy="3017520"/>
          </a:xfrm>
          <a:prstGeom prst="round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65960" y="2834640"/>
            <a:ext cx="822960" cy="82296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ts val="2879"/>
              </a:lnSpc>
              <a:spcAft>
                <a:spcPts val="0"/>
              </a:spcAft>
              <a:defRPr sz="2400" b="0">
                <a:solidFill>
                  <a:srgbClr val="FFFFFF"/>
                </a:solidFill>
                <a:latin typeface="Karla"/>
              </a:defRPr>
            </a:pPr>
            <a:r>
              <a:t>📱</a:t>
            </a:r>
          </a:p>
        </p:txBody>
      </p:sp>
      <p:sp>
        <p:nvSpPr>
          <p:cNvPr id="7" name="TextBox 6"/>
          <p:cNvSpPr txBox="1"/>
          <p:nvPr/>
        </p:nvSpPr>
        <p:spPr>
          <a:xfrm>
            <a:off x="1005840" y="3840480"/>
            <a:ext cx="2834640" cy="457200"/>
          </a:xfrm>
          <a:prstGeom prst="rect">
            <a:avLst/>
          </a:prstGeom>
          <a:noFill/>
        </p:spPr>
        <p:txBody>
          <a:bodyPr wrap="square">
            <a:spAutoFit/>
          </a:bodyPr>
          <a:lstStyle/>
          <a:p>
            <a:pPr algn="ctr">
              <a:lnSpc>
                <a:spcPts val="2160"/>
              </a:lnSpc>
              <a:spcAft>
                <a:spcPts val="0"/>
              </a:spcAft>
              <a:defRPr sz="1800" b="1">
                <a:solidFill>
                  <a:srgbClr val="1D4ED8"/>
                </a:solidFill>
                <a:latin typeface="Fredoka"/>
              </a:defRPr>
            </a:pPr>
            <a:r>
              <a:t>Customer App</a:t>
            </a:r>
          </a:p>
        </p:txBody>
      </p:sp>
      <p:sp>
        <p:nvSpPr>
          <p:cNvPr id="8" name="TextBox 7"/>
          <p:cNvSpPr txBox="1"/>
          <p:nvPr/>
        </p:nvSpPr>
        <p:spPr>
          <a:xfrm>
            <a:off x="1005840" y="4297680"/>
            <a:ext cx="2834640" cy="1188720"/>
          </a:xfrm>
          <a:prstGeom prst="rect">
            <a:avLst/>
          </a:prstGeom>
          <a:noFill/>
        </p:spPr>
        <p:txBody>
          <a:bodyPr wrap="square">
            <a:spAutoFit/>
          </a:bodyPr>
          <a:lstStyle/>
          <a:p>
            <a:pPr algn="ctr">
              <a:lnSpc>
                <a:spcPts val="1679"/>
              </a:lnSpc>
              <a:spcAft>
                <a:spcPts val="0"/>
              </a:spcAft>
              <a:defRPr sz="1200" b="0">
                <a:solidFill>
                  <a:srgbClr val="64748B"/>
                </a:solidFill>
                <a:latin typeface="Karla"/>
              </a:defRPr>
            </a:pPr>
            <a:r>
              <a:t>Browse nearby vendors, compare prices, order with one tap, pay via M-Pesa, and track your rider in real time.</a:t>
            </a:r>
          </a:p>
        </p:txBody>
      </p:sp>
      <p:sp>
        <p:nvSpPr>
          <p:cNvPr id="9" name="Rounded Rectangle 8"/>
          <p:cNvSpPr/>
          <p:nvPr/>
        </p:nvSpPr>
        <p:spPr>
          <a:xfrm>
            <a:off x="4389120" y="2560320"/>
            <a:ext cx="3383280" cy="3017520"/>
          </a:xfrm>
          <a:prstGeom prst="round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623560" y="2834640"/>
            <a:ext cx="822960" cy="82296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ts val="2879"/>
              </a:lnSpc>
              <a:spcAft>
                <a:spcPts val="0"/>
              </a:spcAft>
              <a:defRPr sz="2400" b="0">
                <a:solidFill>
                  <a:srgbClr val="FFFFFF"/>
                </a:solidFill>
                <a:latin typeface="Karla"/>
              </a:defRPr>
            </a:pPr>
            <a:r>
              <a:t>🏪</a:t>
            </a:r>
          </a:p>
        </p:txBody>
      </p:sp>
      <p:sp>
        <p:nvSpPr>
          <p:cNvPr id="11" name="TextBox 10"/>
          <p:cNvSpPr txBox="1"/>
          <p:nvPr/>
        </p:nvSpPr>
        <p:spPr>
          <a:xfrm>
            <a:off x="4663440" y="3840480"/>
            <a:ext cx="2834640" cy="457200"/>
          </a:xfrm>
          <a:prstGeom prst="rect">
            <a:avLst/>
          </a:prstGeom>
          <a:noFill/>
        </p:spPr>
        <p:txBody>
          <a:bodyPr wrap="square">
            <a:spAutoFit/>
          </a:bodyPr>
          <a:lstStyle/>
          <a:p>
            <a:pPr algn="ctr">
              <a:lnSpc>
                <a:spcPts val="2160"/>
              </a:lnSpc>
              <a:spcAft>
                <a:spcPts val="0"/>
              </a:spcAft>
              <a:defRPr sz="1800" b="1">
                <a:solidFill>
                  <a:srgbClr val="1D4ED8"/>
                </a:solidFill>
                <a:latin typeface="Fredoka"/>
              </a:defRPr>
            </a:pPr>
            <a:r>
              <a:t>Vendor App</a:t>
            </a:r>
          </a:p>
        </p:txBody>
      </p:sp>
      <p:sp>
        <p:nvSpPr>
          <p:cNvPr id="12" name="TextBox 11"/>
          <p:cNvSpPr txBox="1"/>
          <p:nvPr/>
        </p:nvSpPr>
        <p:spPr>
          <a:xfrm>
            <a:off x="4663440" y="4297680"/>
            <a:ext cx="2834640" cy="1188720"/>
          </a:xfrm>
          <a:prstGeom prst="rect">
            <a:avLst/>
          </a:prstGeom>
          <a:noFill/>
        </p:spPr>
        <p:txBody>
          <a:bodyPr wrap="square">
            <a:spAutoFit/>
          </a:bodyPr>
          <a:lstStyle/>
          <a:p>
            <a:pPr algn="ctr">
              <a:lnSpc>
                <a:spcPts val="1679"/>
              </a:lnSpc>
              <a:spcAft>
                <a:spcPts val="0"/>
              </a:spcAft>
              <a:defRPr sz="1200" b="0">
                <a:solidFill>
                  <a:srgbClr val="64748B"/>
                </a:solidFill>
                <a:latin typeface="Karla"/>
              </a:defRPr>
            </a:pPr>
            <a:r>
              <a:t>Manage your storefront, accept and fulfill orders, dispatch riders, and grow your business with analytics.</a:t>
            </a:r>
          </a:p>
        </p:txBody>
      </p:sp>
      <p:sp>
        <p:nvSpPr>
          <p:cNvPr id="13" name="Rounded Rectangle 12"/>
          <p:cNvSpPr/>
          <p:nvPr/>
        </p:nvSpPr>
        <p:spPr>
          <a:xfrm>
            <a:off x="8046720" y="2560320"/>
            <a:ext cx="3383280" cy="3017520"/>
          </a:xfrm>
          <a:prstGeom prst="round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281160" y="2834640"/>
            <a:ext cx="822960" cy="82296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ts val="2879"/>
              </a:lnSpc>
              <a:spcAft>
                <a:spcPts val="0"/>
              </a:spcAft>
              <a:defRPr sz="2400" b="0">
                <a:solidFill>
                  <a:srgbClr val="FFFFFF"/>
                </a:solidFill>
                <a:latin typeface="Karla"/>
              </a:defRPr>
            </a:pPr>
            <a:r>
              <a:t>🏍️</a:t>
            </a:r>
          </a:p>
        </p:txBody>
      </p:sp>
      <p:sp>
        <p:nvSpPr>
          <p:cNvPr id="15" name="TextBox 14"/>
          <p:cNvSpPr txBox="1"/>
          <p:nvPr/>
        </p:nvSpPr>
        <p:spPr>
          <a:xfrm>
            <a:off x="8321040" y="3840480"/>
            <a:ext cx="2834640" cy="457200"/>
          </a:xfrm>
          <a:prstGeom prst="rect">
            <a:avLst/>
          </a:prstGeom>
          <a:noFill/>
        </p:spPr>
        <p:txBody>
          <a:bodyPr wrap="square">
            <a:spAutoFit/>
          </a:bodyPr>
          <a:lstStyle/>
          <a:p>
            <a:pPr algn="ctr">
              <a:lnSpc>
                <a:spcPts val="2160"/>
              </a:lnSpc>
              <a:spcAft>
                <a:spcPts val="0"/>
              </a:spcAft>
              <a:defRPr sz="1800" b="1">
                <a:solidFill>
                  <a:srgbClr val="1D4ED8"/>
                </a:solidFill>
                <a:latin typeface="Fredoka"/>
              </a:defRPr>
            </a:pPr>
            <a:r>
              <a:t>Rider App</a:t>
            </a:r>
          </a:p>
        </p:txBody>
      </p:sp>
      <p:sp>
        <p:nvSpPr>
          <p:cNvPr id="16" name="TextBox 15"/>
          <p:cNvSpPr txBox="1"/>
          <p:nvPr/>
        </p:nvSpPr>
        <p:spPr>
          <a:xfrm>
            <a:off x="8321040" y="4297680"/>
            <a:ext cx="2834640" cy="1188720"/>
          </a:xfrm>
          <a:prstGeom prst="rect">
            <a:avLst/>
          </a:prstGeom>
          <a:noFill/>
        </p:spPr>
        <p:txBody>
          <a:bodyPr wrap="square">
            <a:spAutoFit/>
          </a:bodyPr>
          <a:lstStyle/>
          <a:p>
            <a:pPr algn="ctr">
              <a:lnSpc>
                <a:spcPts val="1679"/>
              </a:lnSpc>
              <a:spcAft>
                <a:spcPts val="0"/>
              </a:spcAft>
              <a:defRPr sz="1200" b="0">
                <a:solidFill>
                  <a:srgbClr val="64748B"/>
                </a:solidFill>
                <a:latin typeface="Karla"/>
              </a:defRPr>
            </a:pPr>
            <a:r>
              <a:t>Accept deliveries, navigate efficiently, earn on your schedule, manage bottle deposits, and build your reputation.</a:t>
            </a:r>
          </a:p>
        </p:txBody>
      </p:sp>
      <p:sp>
        <p:nvSpPr>
          <p:cNvPr id="17" name="TextBox 16"/>
          <p:cNvSpPr txBox="1"/>
          <p:nvPr/>
        </p:nvSpPr>
        <p:spPr>
          <a:xfrm>
            <a:off x="731520" y="5852160"/>
            <a:ext cx="10058400" cy="457200"/>
          </a:xfrm>
          <a:prstGeom prst="rect">
            <a:avLst/>
          </a:prstGeom>
          <a:noFill/>
        </p:spPr>
        <p:txBody>
          <a:bodyPr wrap="square">
            <a:spAutoFit/>
          </a:bodyPr>
          <a:lstStyle/>
          <a:p>
            <a:pPr algn="ctr">
              <a:lnSpc>
                <a:spcPts val="1439"/>
              </a:lnSpc>
              <a:spcAft>
                <a:spcPts val="0"/>
              </a:spcAft>
              <a:defRPr sz="1200" b="0">
                <a:solidFill>
                  <a:srgbClr val="64748B"/>
                </a:solidFill>
                <a:latin typeface="Karla"/>
              </a:defRPr>
            </a:pPr>
            <a:r>
              <a:t>+ Admin Operations Console  —  27 screens for real-time business management, KYC verification, dispute resolution, and financial oversight.</a:t>
            </a:r>
          </a:p>
        </p:txBody>
      </p:sp>
      <p:sp>
        <p:nvSpPr>
          <p:cNvPr id="18" name="TextBox 17"/>
          <p:cNvSpPr txBox="1"/>
          <p:nvPr/>
        </p:nvSpPr>
        <p:spPr>
          <a:xfrm>
            <a:off x="731520" y="6400800"/>
            <a:ext cx="3657600" cy="365760"/>
          </a:xfrm>
          <a:prstGeom prst="rect">
            <a:avLst/>
          </a:prstGeom>
          <a:noFill/>
        </p:spPr>
        <p:txBody>
          <a:bodyPr wrap="square">
            <a:spAutoFit/>
          </a:bodyPr>
          <a:lstStyle/>
          <a:p>
            <a:pPr algn="l">
              <a:lnSpc>
                <a:spcPts val="1080"/>
              </a:lnSpc>
              <a:spcAft>
                <a:spcPts val="0"/>
              </a:spcAft>
              <a:defRPr sz="900" b="0">
                <a:solidFill>
                  <a:srgbClr val="64748B"/>
                </a:solidFill>
                <a:latin typeface="Fredoka"/>
              </a:defRPr>
            </a:pPr>
            <a:r>
              <a:t>💧 Drop — Multivendor Water Delivery Platform</a:t>
            </a:r>
          </a:p>
        </p:txBody>
      </p:sp>
      <p:sp>
        <p:nvSpPr>
          <p:cNvPr id="19" name="TextBox 18"/>
          <p:cNvSpPr txBox="1"/>
          <p:nvPr/>
        </p:nvSpPr>
        <p:spPr>
          <a:xfrm>
            <a:off x="10515600" y="6400800"/>
            <a:ext cx="1371600" cy="365760"/>
          </a:xfrm>
          <a:prstGeom prst="rect">
            <a:avLst/>
          </a:prstGeom>
          <a:noFill/>
        </p:spPr>
        <p:txBody>
          <a:bodyPr wrap="square">
            <a:spAutoFit/>
          </a:bodyPr>
          <a:lstStyle/>
          <a:p>
            <a:pPr algn="r">
              <a:lnSpc>
                <a:spcPts val="1080"/>
              </a:lnSpc>
              <a:spcAft>
                <a:spcPts val="0"/>
              </a:spcAft>
              <a:defRPr sz="900" b="0">
                <a:solidFill>
                  <a:srgbClr val="64748B"/>
                </a:solidFill>
                <a:latin typeface="Karla"/>
              </a:defRPr>
            </a:pPr>
            <a:r>
              <a:t>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48640"/>
            <a:ext cx="10058400" cy="731520"/>
          </a:xfrm>
          <a:prstGeom prst="rect">
            <a:avLst/>
          </a:prstGeom>
          <a:noFill/>
        </p:spPr>
        <p:txBody>
          <a:bodyPr wrap="square">
            <a:spAutoFit/>
          </a:bodyPr>
          <a:lstStyle/>
          <a:p>
            <a:pPr algn="l">
              <a:lnSpc>
                <a:spcPts val="4320"/>
              </a:lnSpc>
              <a:spcAft>
                <a:spcPts val="0"/>
              </a:spcAft>
              <a:defRPr sz="3600" b="1">
                <a:solidFill>
                  <a:srgbClr val="1E293B"/>
                </a:solidFill>
                <a:latin typeface="Fredoka"/>
              </a:defRPr>
            </a:pPr>
            <a:r>
              <a:t>Market Opportunity</a:t>
            </a:r>
          </a:p>
        </p:txBody>
      </p:sp>
      <p:sp>
        <p:nvSpPr>
          <p:cNvPr id="3" name="Rectangle 2"/>
          <p:cNvSpPr/>
          <p:nvPr/>
        </p:nvSpPr>
        <p:spPr>
          <a:xfrm>
            <a:off x="731520" y="1234440"/>
            <a:ext cx="548640" cy="50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737360"/>
            <a:ext cx="3383280" cy="2377440"/>
          </a:xfrm>
          <a:prstGeom prst="round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920240"/>
            <a:ext cx="2834640" cy="457200"/>
          </a:xfrm>
          <a:prstGeom prst="rect">
            <a:avLst/>
          </a:prstGeom>
          <a:noFill/>
        </p:spPr>
        <p:txBody>
          <a:bodyPr wrap="square">
            <a:spAutoFit/>
          </a:bodyPr>
          <a:lstStyle/>
          <a:p>
            <a:pPr algn="ctr">
              <a:lnSpc>
                <a:spcPts val="1680"/>
              </a:lnSpc>
              <a:spcAft>
                <a:spcPts val="0"/>
              </a:spcAft>
              <a:defRPr sz="1400" b="1">
                <a:solidFill>
                  <a:srgbClr val="64748B"/>
                </a:solidFill>
                <a:latin typeface="Fredoka"/>
              </a:defRPr>
            </a:pPr>
            <a:r>
              <a:t>TAM</a:t>
            </a:r>
          </a:p>
        </p:txBody>
      </p:sp>
      <p:sp>
        <p:nvSpPr>
          <p:cNvPr id="6" name="TextBox 5"/>
          <p:cNvSpPr txBox="1"/>
          <p:nvPr/>
        </p:nvSpPr>
        <p:spPr>
          <a:xfrm>
            <a:off x="1005840" y="2286000"/>
            <a:ext cx="2834640" cy="731520"/>
          </a:xfrm>
          <a:prstGeom prst="rect">
            <a:avLst/>
          </a:prstGeom>
          <a:noFill/>
        </p:spPr>
        <p:txBody>
          <a:bodyPr wrap="square">
            <a:spAutoFit/>
          </a:bodyPr>
          <a:lstStyle/>
          <a:p>
            <a:pPr algn="ctr">
              <a:lnSpc>
                <a:spcPts val="5040"/>
              </a:lnSpc>
              <a:spcAft>
                <a:spcPts val="0"/>
              </a:spcAft>
              <a:defRPr sz="4200" b="1">
                <a:solidFill>
                  <a:srgbClr val="2563EB"/>
                </a:solidFill>
                <a:latin typeface="Fredoka"/>
              </a:defRPr>
            </a:pPr>
            <a:r>
              <a:t>$3.2B</a:t>
            </a:r>
          </a:p>
        </p:txBody>
      </p:sp>
      <p:sp>
        <p:nvSpPr>
          <p:cNvPr id="7" name="TextBox 6"/>
          <p:cNvSpPr txBox="1"/>
          <p:nvPr/>
        </p:nvSpPr>
        <p:spPr>
          <a:xfrm>
            <a:off x="1005840" y="3108960"/>
            <a:ext cx="2834640" cy="914400"/>
          </a:xfrm>
          <a:prstGeom prst="rect">
            <a:avLst/>
          </a:prstGeom>
          <a:noFill/>
        </p:spPr>
        <p:txBody>
          <a:bodyPr wrap="square">
            <a:spAutoFit/>
          </a:bodyPr>
          <a:lstStyle/>
          <a:p>
            <a:pPr algn="ctr">
              <a:lnSpc>
                <a:spcPts val="1679"/>
              </a:lnSpc>
              <a:spcAft>
                <a:spcPts val="0"/>
              </a:spcAft>
              <a:defRPr sz="1200" b="0">
                <a:solidFill>
                  <a:srgbClr val="64748B"/>
                </a:solidFill>
                <a:latin typeface="Karla"/>
              </a:defRPr>
            </a:pPr>
            <a:r>
              <a:t>Kenya's entire water supply &amp; sanitation market — formal and informal combined.</a:t>
            </a:r>
          </a:p>
        </p:txBody>
      </p:sp>
      <p:sp>
        <p:nvSpPr>
          <p:cNvPr id="8" name="Rounded Rectangle 7"/>
          <p:cNvSpPr/>
          <p:nvPr/>
        </p:nvSpPr>
        <p:spPr>
          <a:xfrm>
            <a:off x="4389120" y="1737360"/>
            <a:ext cx="3383280" cy="2377440"/>
          </a:xfrm>
          <a:prstGeom prst="round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63440" y="1920240"/>
            <a:ext cx="2834640" cy="457200"/>
          </a:xfrm>
          <a:prstGeom prst="rect">
            <a:avLst/>
          </a:prstGeom>
          <a:noFill/>
        </p:spPr>
        <p:txBody>
          <a:bodyPr wrap="square">
            <a:spAutoFit/>
          </a:bodyPr>
          <a:lstStyle/>
          <a:p>
            <a:pPr algn="ctr">
              <a:lnSpc>
                <a:spcPts val="1680"/>
              </a:lnSpc>
              <a:spcAft>
                <a:spcPts val="0"/>
              </a:spcAft>
              <a:defRPr sz="1400" b="1">
                <a:solidFill>
                  <a:srgbClr val="64748B"/>
                </a:solidFill>
                <a:latin typeface="Fredoka"/>
              </a:defRPr>
            </a:pPr>
            <a:r>
              <a:t>SAM</a:t>
            </a:r>
          </a:p>
        </p:txBody>
      </p:sp>
      <p:sp>
        <p:nvSpPr>
          <p:cNvPr id="10" name="TextBox 9"/>
          <p:cNvSpPr txBox="1"/>
          <p:nvPr/>
        </p:nvSpPr>
        <p:spPr>
          <a:xfrm>
            <a:off x="4663440" y="2286000"/>
            <a:ext cx="2834640" cy="731520"/>
          </a:xfrm>
          <a:prstGeom prst="rect">
            <a:avLst/>
          </a:prstGeom>
          <a:noFill/>
        </p:spPr>
        <p:txBody>
          <a:bodyPr wrap="square">
            <a:spAutoFit/>
          </a:bodyPr>
          <a:lstStyle/>
          <a:p>
            <a:pPr algn="ctr">
              <a:lnSpc>
                <a:spcPts val="5040"/>
              </a:lnSpc>
              <a:spcAft>
                <a:spcPts val="0"/>
              </a:spcAft>
              <a:defRPr sz="4200" b="1">
                <a:solidFill>
                  <a:srgbClr val="2563EB"/>
                </a:solidFill>
                <a:latin typeface="Fredoka"/>
              </a:defRPr>
            </a:pPr>
            <a:r>
              <a:t>$850M</a:t>
            </a:r>
          </a:p>
        </p:txBody>
      </p:sp>
      <p:sp>
        <p:nvSpPr>
          <p:cNvPr id="11" name="TextBox 10"/>
          <p:cNvSpPr txBox="1"/>
          <p:nvPr/>
        </p:nvSpPr>
        <p:spPr>
          <a:xfrm>
            <a:off x="4663440" y="3108960"/>
            <a:ext cx="2834640" cy="914400"/>
          </a:xfrm>
          <a:prstGeom prst="rect">
            <a:avLst/>
          </a:prstGeom>
          <a:noFill/>
        </p:spPr>
        <p:txBody>
          <a:bodyPr wrap="square">
            <a:spAutoFit/>
          </a:bodyPr>
          <a:lstStyle/>
          <a:p>
            <a:pPr algn="ctr">
              <a:lnSpc>
                <a:spcPts val="1679"/>
              </a:lnSpc>
              <a:spcAft>
                <a:spcPts val="0"/>
              </a:spcAft>
              <a:defRPr sz="1200" b="0">
                <a:solidFill>
                  <a:srgbClr val="64748B"/>
                </a:solidFill>
                <a:latin typeface="Karla"/>
              </a:defRPr>
            </a:pPr>
            <a:r>
              <a:t>Urban &amp; peri-urban bottled/tanker water delivery market across Kenya's 10 largest cities.</a:t>
            </a:r>
          </a:p>
        </p:txBody>
      </p:sp>
      <p:sp>
        <p:nvSpPr>
          <p:cNvPr id="12" name="Rounded Rectangle 11"/>
          <p:cNvSpPr/>
          <p:nvPr/>
        </p:nvSpPr>
        <p:spPr>
          <a:xfrm>
            <a:off x="8046720" y="1737360"/>
            <a:ext cx="3383280" cy="2377440"/>
          </a:xfrm>
          <a:prstGeom prst="round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920240"/>
            <a:ext cx="2834640" cy="457200"/>
          </a:xfrm>
          <a:prstGeom prst="rect">
            <a:avLst/>
          </a:prstGeom>
          <a:noFill/>
        </p:spPr>
        <p:txBody>
          <a:bodyPr wrap="square">
            <a:spAutoFit/>
          </a:bodyPr>
          <a:lstStyle/>
          <a:p>
            <a:pPr algn="ctr">
              <a:lnSpc>
                <a:spcPts val="1680"/>
              </a:lnSpc>
              <a:spcAft>
                <a:spcPts val="0"/>
              </a:spcAft>
              <a:defRPr sz="1400" b="1">
                <a:solidFill>
                  <a:srgbClr val="64748B"/>
                </a:solidFill>
                <a:latin typeface="Fredoka"/>
              </a:defRPr>
            </a:pPr>
            <a:r>
              <a:t>SOM</a:t>
            </a:r>
          </a:p>
        </p:txBody>
      </p:sp>
      <p:sp>
        <p:nvSpPr>
          <p:cNvPr id="14" name="TextBox 13"/>
          <p:cNvSpPr txBox="1"/>
          <p:nvPr/>
        </p:nvSpPr>
        <p:spPr>
          <a:xfrm>
            <a:off x="8321040" y="2286000"/>
            <a:ext cx="2834640" cy="731520"/>
          </a:xfrm>
          <a:prstGeom prst="rect">
            <a:avLst/>
          </a:prstGeom>
          <a:noFill/>
        </p:spPr>
        <p:txBody>
          <a:bodyPr wrap="square">
            <a:spAutoFit/>
          </a:bodyPr>
          <a:lstStyle/>
          <a:p>
            <a:pPr algn="ctr">
              <a:lnSpc>
                <a:spcPts val="5040"/>
              </a:lnSpc>
              <a:spcAft>
                <a:spcPts val="0"/>
              </a:spcAft>
              <a:defRPr sz="4200" b="1">
                <a:solidFill>
                  <a:srgbClr val="2563EB"/>
                </a:solidFill>
                <a:latin typeface="Fredoka"/>
              </a:defRPr>
            </a:pPr>
            <a:r>
              <a:t>$45M</a:t>
            </a:r>
          </a:p>
        </p:txBody>
      </p:sp>
      <p:sp>
        <p:nvSpPr>
          <p:cNvPr id="15" name="TextBox 14"/>
          <p:cNvSpPr txBox="1"/>
          <p:nvPr/>
        </p:nvSpPr>
        <p:spPr>
          <a:xfrm>
            <a:off x="8321040" y="3108960"/>
            <a:ext cx="2834640" cy="914400"/>
          </a:xfrm>
          <a:prstGeom prst="rect">
            <a:avLst/>
          </a:prstGeom>
          <a:noFill/>
        </p:spPr>
        <p:txBody>
          <a:bodyPr wrap="square">
            <a:spAutoFit/>
          </a:bodyPr>
          <a:lstStyle/>
          <a:p>
            <a:pPr algn="ctr">
              <a:lnSpc>
                <a:spcPts val="1679"/>
              </a:lnSpc>
              <a:spcAft>
                <a:spcPts val="0"/>
              </a:spcAft>
              <a:defRPr sz="1200" b="0">
                <a:solidFill>
                  <a:srgbClr val="64748B"/>
                </a:solidFill>
                <a:latin typeface="Karla"/>
              </a:defRPr>
            </a:pPr>
            <a:r>
              <a:t>Nairobi metro + satellite boomtowns (Rongai, Ngong, Ruiru, Kiambu) — our first 24-month target.</a:t>
            </a:r>
          </a:p>
        </p:txBody>
      </p:sp>
      <p:sp>
        <p:nvSpPr>
          <p:cNvPr id="16" name="Rounded Rectangle 15"/>
          <p:cNvSpPr/>
          <p:nvPr/>
        </p:nvSpPr>
        <p:spPr>
          <a:xfrm>
            <a:off x="731520" y="4572000"/>
            <a:ext cx="2560320" cy="1463040"/>
          </a:xfrm>
          <a:prstGeom prst="round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754880"/>
            <a:ext cx="2194560" cy="640080"/>
          </a:xfrm>
          <a:prstGeom prst="rect">
            <a:avLst/>
          </a:prstGeom>
          <a:noFill/>
        </p:spPr>
        <p:txBody>
          <a:bodyPr wrap="square">
            <a:spAutoFit/>
          </a:bodyPr>
          <a:lstStyle/>
          <a:p>
            <a:pPr algn="ctr">
              <a:lnSpc>
                <a:spcPts val="3360"/>
              </a:lnSpc>
              <a:spcAft>
                <a:spcPts val="0"/>
              </a:spcAft>
              <a:defRPr sz="2800" b="1">
                <a:solidFill>
                  <a:srgbClr val="2563EB"/>
                </a:solidFill>
                <a:latin typeface="Fredoka"/>
              </a:defRPr>
            </a:pPr>
            <a:r>
              <a:t>54M+</a:t>
            </a:r>
          </a:p>
        </p:txBody>
      </p:sp>
      <p:sp>
        <p:nvSpPr>
          <p:cNvPr id="18" name="TextBox 17"/>
          <p:cNvSpPr txBox="1"/>
          <p:nvPr/>
        </p:nvSpPr>
        <p:spPr>
          <a:xfrm>
            <a:off x="914400" y="5303520"/>
            <a:ext cx="2194560" cy="457200"/>
          </a:xfrm>
          <a:prstGeom prst="rect">
            <a:avLst/>
          </a:prstGeom>
          <a:noFill/>
        </p:spPr>
        <p:txBody>
          <a:bodyPr wrap="square">
            <a:spAutoFit/>
          </a:bodyPr>
          <a:lstStyle/>
          <a:p>
            <a:pPr algn="ctr">
              <a:lnSpc>
                <a:spcPts val="1320"/>
              </a:lnSpc>
              <a:spcAft>
                <a:spcPts val="0"/>
              </a:spcAft>
              <a:defRPr sz="1100" b="0">
                <a:solidFill>
                  <a:srgbClr val="64748B"/>
                </a:solidFill>
                <a:latin typeface="Karla"/>
              </a:defRPr>
            </a:pPr>
            <a:r>
              <a:t>Kenya's Population</a:t>
            </a:r>
          </a:p>
        </p:txBody>
      </p:sp>
      <p:sp>
        <p:nvSpPr>
          <p:cNvPr id="19" name="Rounded Rectangle 18"/>
          <p:cNvSpPr/>
          <p:nvPr/>
        </p:nvSpPr>
        <p:spPr>
          <a:xfrm>
            <a:off x="3566160" y="4572000"/>
            <a:ext cx="2560320" cy="1463040"/>
          </a:xfrm>
          <a:prstGeom prst="round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49040" y="4754880"/>
            <a:ext cx="2194560" cy="640080"/>
          </a:xfrm>
          <a:prstGeom prst="rect">
            <a:avLst/>
          </a:prstGeom>
          <a:noFill/>
        </p:spPr>
        <p:txBody>
          <a:bodyPr wrap="square">
            <a:spAutoFit/>
          </a:bodyPr>
          <a:lstStyle/>
          <a:p>
            <a:pPr algn="ctr">
              <a:lnSpc>
                <a:spcPts val="3360"/>
              </a:lnSpc>
              <a:spcAft>
                <a:spcPts val="0"/>
              </a:spcAft>
              <a:defRPr sz="2800" b="1">
                <a:solidFill>
                  <a:srgbClr val="2563EB"/>
                </a:solidFill>
                <a:latin typeface="Fredoka"/>
              </a:defRPr>
            </a:pPr>
            <a:r>
              <a:t>90%</a:t>
            </a:r>
          </a:p>
        </p:txBody>
      </p:sp>
      <p:sp>
        <p:nvSpPr>
          <p:cNvPr id="21" name="TextBox 20"/>
          <p:cNvSpPr txBox="1"/>
          <p:nvPr/>
        </p:nvSpPr>
        <p:spPr>
          <a:xfrm>
            <a:off x="3749040" y="5303520"/>
            <a:ext cx="2194560" cy="457200"/>
          </a:xfrm>
          <a:prstGeom prst="rect">
            <a:avLst/>
          </a:prstGeom>
          <a:noFill/>
        </p:spPr>
        <p:txBody>
          <a:bodyPr wrap="square">
            <a:spAutoFit/>
          </a:bodyPr>
          <a:lstStyle/>
          <a:p>
            <a:pPr algn="ctr">
              <a:lnSpc>
                <a:spcPts val="1320"/>
              </a:lnSpc>
              <a:spcAft>
                <a:spcPts val="0"/>
              </a:spcAft>
              <a:defRPr sz="1100" b="0">
                <a:solidFill>
                  <a:srgbClr val="64748B"/>
                </a:solidFill>
                <a:latin typeface="Karla"/>
              </a:defRPr>
            </a:pPr>
            <a:r>
              <a:t>Mobile Penetration</a:t>
            </a:r>
          </a:p>
        </p:txBody>
      </p:sp>
      <p:sp>
        <p:nvSpPr>
          <p:cNvPr id="22" name="Rounded Rectangle 21"/>
          <p:cNvSpPr/>
          <p:nvPr/>
        </p:nvSpPr>
        <p:spPr>
          <a:xfrm>
            <a:off x="6400800" y="4572000"/>
            <a:ext cx="2560320" cy="1463040"/>
          </a:xfrm>
          <a:prstGeom prst="round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0" y="4754880"/>
            <a:ext cx="2194560" cy="640080"/>
          </a:xfrm>
          <a:prstGeom prst="rect">
            <a:avLst/>
          </a:prstGeom>
          <a:noFill/>
        </p:spPr>
        <p:txBody>
          <a:bodyPr wrap="square">
            <a:spAutoFit/>
          </a:bodyPr>
          <a:lstStyle/>
          <a:p>
            <a:pPr algn="ctr">
              <a:lnSpc>
                <a:spcPts val="3360"/>
              </a:lnSpc>
              <a:spcAft>
                <a:spcPts val="0"/>
              </a:spcAft>
              <a:defRPr sz="2800" b="1">
                <a:solidFill>
                  <a:srgbClr val="2563EB"/>
                </a:solidFill>
                <a:latin typeface="Fredoka"/>
              </a:defRPr>
            </a:pPr>
            <a:r>
              <a:t>28M+</a:t>
            </a:r>
          </a:p>
        </p:txBody>
      </p:sp>
      <p:sp>
        <p:nvSpPr>
          <p:cNvPr id="24" name="TextBox 23"/>
          <p:cNvSpPr txBox="1"/>
          <p:nvPr/>
        </p:nvSpPr>
        <p:spPr>
          <a:xfrm>
            <a:off x="6583680" y="5303520"/>
            <a:ext cx="2194560" cy="457200"/>
          </a:xfrm>
          <a:prstGeom prst="rect">
            <a:avLst/>
          </a:prstGeom>
          <a:noFill/>
        </p:spPr>
        <p:txBody>
          <a:bodyPr wrap="square">
            <a:spAutoFit/>
          </a:bodyPr>
          <a:lstStyle/>
          <a:p>
            <a:pPr algn="ctr">
              <a:lnSpc>
                <a:spcPts val="1320"/>
              </a:lnSpc>
              <a:spcAft>
                <a:spcPts val="0"/>
              </a:spcAft>
              <a:defRPr sz="1100" b="0">
                <a:solidFill>
                  <a:srgbClr val="64748B"/>
                </a:solidFill>
                <a:latin typeface="Karla"/>
              </a:defRPr>
            </a:pPr>
            <a:r>
              <a:t>M-Pesa Active Users</a:t>
            </a:r>
          </a:p>
        </p:txBody>
      </p:sp>
      <p:sp>
        <p:nvSpPr>
          <p:cNvPr id="25" name="Rounded Rectangle 24"/>
          <p:cNvSpPr/>
          <p:nvPr/>
        </p:nvSpPr>
        <p:spPr>
          <a:xfrm>
            <a:off x="9235440" y="4572000"/>
            <a:ext cx="2560320" cy="1463040"/>
          </a:xfrm>
          <a:prstGeom prst="round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18320" y="4754880"/>
            <a:ext cx="2194560" cy="640080"/>
          </a:xfrm>
          <a:prstGeom prst="rect">
            <a:avLst/>
          </a:prstGeom>
          <a:noFill/>
        </p:spPr>
        <p:txBody>
          <a:bodyPr wrap="square">
            <a:spAutoFit/>
          </a:bodyPr>
          <a:lstStyle/>
          <a:p>
            <a:pPr algn="ctr">
              <a:lnSpc>
                <a:spcPts val="3360"/>
              </a:lnSpc>
              <a:spcAft>
                <a:spcPts val="0"/>
              </a:spcAft>
              <a:defRPr sz="2800" b="1">
                <a:solidFill>
                  <a:srgbClr val="2563EB"/>
                </a:solidFill>
                <a:latin typeface="Fredoka"/>
              </a:defRPr>
            </a:pPr>
            <a:r>
              <a:t>40%</a:t>
            </a:r>
          </a:p>
        </p:txBody>
      </p:sp>
      <p:sp>
        <p:nvSpPr>
          <p:cNvPr id="27" name="TextBox 26"/>
          <p:cNvSpPr txBox="1"/>
          <p:nvPr/>
        </p:nvSpPr>
        <p:spPr>
          <a:xfrm>
            <a:off x="9418320" y="5303520"/>
            <a:ext cx="2194560" cy="457200"/>
          </a:xfrm>
          <a:prstGeom prst="rect">
            <a:avLst/>
          </a:prstGeom>
          <a:noFill/>
        </p:spPr>
        <p:txBody>
          <a:bodyPr wrap="square">
            <a:spAutoFit/>
          </a:bodyPr>
          <a:lstStyle/>
          <a:p>
            <a:pPr algn="ctr">
              <a:lnSpc>
                <a:spcPts val="1320"/>
              </a:lnSpc>
              <a:spcAft>
                <a:spcPts val="0"/>
              </a:spcAft>
              <a:defRPr sz="1100" b="0">
                <a:solidFill>
                  <a:srgbClr val="64748B"/>
                </a:solidFill>
                <a:latin typeface="Karla"/>
              </a:defRPr>
            </a:pPr>
            <a:r>
              <a:t>Lack Reliable Water Access</a:t>
            </a:r>
          </a:p>
        </p:txBody>
      </p:sp>
      <p:sp>
        <p:nvSpPr>
          <p:cNvPr id="28" name="TextBox 27"/>
          <p:cNvSpPr txBox="1"/>
          <p:nvPr/>
        </p:nvSpPr>
        <p:spPr>
          <a:xfrm>
            <a:off x="731520" y="6400800"/>
            <a:ext cx="3657600" cy="365760"/>
          </a:xfrm>
          <a:prstGeom prst="rect">
            <a:avLst/>
          </a:prstGeom>
          <a:noFill/>
        </p:spPr>
        <p:txBody>
          <a:bodyPr wrap="square">
            <a:spAutoFit/>
          </a:bodyPr>
          <a:lstStyle/>
          <a:p>
            <a:pPr algn="l">
              <a:lnSpc>
                <a:spcPts val="1080"/>
              </a:lnSpc>
              <a:spcAft>
                <a:spcPts val="0"/>
              </a:spcAft>
              <a:defRPr sz="900" b="0">
                <a:solidFill>
                  <a:srgbClr val="64748B"/>
                </a:solidFill>
                <a:latin typeface="Fredoka"/>
              </a:defRPr>
            </a:pPr>
            <a:r>
              <a:t>💧 Drop — Multivendor Water Delivery Platform</a:t>
            </a:r>
          </a:p>
        </p:txBody>
      </p:sp>
      <p:sp>
        <p:nvSpPr>
          <p:cNvPr id="29" name="TextBox 28"/>
          <p:cNvSpPr txBox="1"/>
          <p:nvPr/>
        </p:nvSpPr>
        <p:spPr>
          <a:xfrm>
            <a:off x="10515600" y="6400800"/>
            <a:ext cx="1371600" cy="365760"/>
          </a:xfrm>
          <a:prstGeom prst="rect">
            <a:avLst/>
          </a:prstGeom>
          <a:noFill/>
        </p:spPr>
        <p:txBody>
          <a:bodyPr wrap="square">
            <a:spAutoFit/>
          </a:bodyPr>
          <a:lstStyle/>
          <a:p>
            <a:pPr algn="r">
              <a:lnSpc>
                <a:spcPts val="1080"/>
              </a:lnSpc>
              <a:spcAft>
                <a:spcPts val="0"/>
              </a:spcAft>
              <a:defRPr sz="900" b="0">
                <a:solidFill>
                  <a:srgbClr val="64748B"/>
                </a:solidFill>
                <a:latin typeface="Karla"/>
              </a:defRPr>
            </a:pPr>
            <a:r>
              <a:t>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48640"/>
            <a:ext cx="10058400" cy="731520"/>
          </a:xfrm>
          <a:prstGeom prst="rect">
            <a:avLst/>
          </a:prstGeom>
          <a:noFill/>
        </p:spPr>
        <p:txBody>
          <a:bodyPr wrap="square">
            <a:spAutoFit/>
          </a:bodyPr>
          <a:lstStyle/>
          <a:p>
            <a:pPr algn="l">
              <a:lnSpc>
                <a:spcPts val="4320"/>
              </a:lnSpc>
              <a:spcAft>
                <a:spcPts val="0"/>
              </a:spcAft>
              <a:defRPr sz="3600" b="1">
                <a:solidFill>
                  <a:srgbClr val="1E293B"/>
                </a:solidFill>
                <a:latin typeface="Fredoka"/>
              </a:defRPr>
            </a:pPr>
            <a:r>
              <a:t>How It Works</a:t>
            </a:r>
          </a:p>
        </p:txBody>
      </p:sp>
      <p:sp>
        <p:nvSpPr>
          <p:cNvPr id="3" name="Rectangle 2"/>
          <p:cNvSpPr/>
          <p:nvPr/>
        </p:nvSpPr>
        <p:spPr>
          <a:xfrm>
            <a:off x="731520" y="1234440"/>
            <a:ext cx="548640" cy="50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0" y="1783080"/>
            <a:ext cx="502920" cy="50292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ts val="2400"/>
              </a:lnSpc>
              <a:spcAft>
                <a:spcPts val="0"/>
              </a:spcAft>
              <a:defRPr sz="2000" b="1">
                <a:solidFill>
                  <a:srgbClr val="FFFFFF"/>
                </a:solidFill>
                <a:latin typeface="Fredoka"/>
              </a:defRPr>
            </a:pPr>
            <a:r>
              <a:t>1</a:t>
            </a:r>
          </a:p>
        </p:txBody>
      </p:sp>
      <p:sp>
        <p:nvSpPr>
          <p:cNvPr id="5" name="TextBox 4"/>
          <p:cNvSpPr txBox="1"/>
          <p:nvPr/>
        </p:nvSpPr>
        <p:spPr>
          <a:xfrm>
            <a:off x="1371600" y="1645920"/>
            <a:ext cx="2743200" cy="457200"/>
          </a:xfrm>
          <a:prstGeom prst="rect">
            <a:avLst/>
          </a:prstGeom>
          <a:noFill/>
        </p:spPr>
        <p:txBody>
          <a:bodyPr wrap="square">
            <a:spAutoFit/>
          </a:bodyPr>
          <a:lstStyle/>
          <a:p>
            <a:pPr algn="l">
              <a:lnSpc>
                <a:spcPts val="1920"/>
              </a:lnSpc>
              <a:spcAft>
                <a:spcPts val="0"/>
              </a:spcAft>
              <a:defRPr sz="1600" b="1">
                <a:solidFill>
                  <a:srgbClr val="1E293B"/>
                </a:solidFill>
                <a:latin typeface="Fredoka"/>
              </a:defRPr>
            </a:pPr>
            <a:r>
              <a:t>Browse &amp; Order</a:t>
            </a:r>
          </a:p>
        </p:txBody>
      </p:sp>
      <p:sp>
        <p:nvSpPr>
          <p:cNvPr id="6" name="TextBox 5"/>
          <p:cNvSpPr txBox="1"/>
          <p:nvPr/>
        </p:nvSpPr>
        <p:spPr>
          <a:xfrm>
            <a:off x="1371600" y="2103120"/>
            <a:ext cx="2743200" cy="1645920"/>
          </a:xfrm>
          <a:prstGeom prst="rect">
            <a:avLst/>
          </a:prstGeom>
          <a:noFill/>
        </p:spPr>
        <p:txBody>
          <a:bodyPr wrap="square">
            <a:spAutoFit/>
          </a:bodyPr>
          <a:lstStyle/>
          <a:p>
            <a:pPr algn="l">
              <a:lnSpc>
                <a:spcPts val="1679"/>
              </a:lnSpc>
              <a:spcAft>
                <a:spcPts val="0"/>
              </a:spcAft>
              <a:defRPr sz="1200" b="0">
                <a:solidFill>
                  <a:srgbClr val="64748B"/>
                </a:solidFill>
                <a:latin typeface="Karla"/>
              </a:defRPr>
            </a:pPr>
            <a:r>
              <a:t>Customer discovers nearby vendors via H3 hex-indexed geospatial search, builds a cart, and checks out.</a:t>
            </a:r>
          </a:p>
        </p:txBody>
      </p:sp>
      <p:sp>
        <p:nvSpPr>
          <p:cNvPr id="7" name="Oval 6"/>
          <p:cNvSpPr/>
          <p:nvPr/>
        </p:nvSpPr>
        <p:spPr>
          <a:xfrm>
            <a:off x="4389120" y="1783080"/>
            <a:ext cx="502920" cy="50292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ts val="2400"/>
              </a:lnSpc>
              <a:spcAft>
                <a:spcPts val="0"/>
              </a:spcAft>
              <a:defRPr sz="2000" b="1">
                <a:solidFill>
                  <a:srgbClr val="FFFFFF"/>
                </a:solidFill>
                <a:latin typeface="Fredoka"/>
              </a:defRPr>
            </a:pPr>
            <a:r>
              <a:t>2</a:t>
            </a:r>
          </a:p>
        </p:txBody>
      </p:sp>
      <p:sp>
        <p:nvSpPr>
          <p:cNvPr id="8" name="TextBox 7"/>
          <p:cNvSpPr txBox="1"/>
          <p:nvPr/>
        </p:nvSpPr>
        <p:spPr>
          <a:xfrm>
            <a:off x="5029200" y="1645920"/>
            <a:ext cx="2743200" cy="457200"/>
          </a:xfrm>
          <a:prstGeom prst="rect">
            <a:avLst/>
          </a:prstGeom>
          <a:noFill/>
        </p:spPr>
        <p:txBody>
          <a:bodyPr wrap="square">
            <a:spAutoFit/>
          </a:bodyPr>
          <a:lstStyle/>
          <a:p>
            <a:pPr algn="l">
              <a:lnSpc>
                <a:spcPts val="1920"/>
              </a:lnSpc>
              <a:spcAft>
                <a:spcPts val="0"/>
              </a:spcAft>
              <a:defRPr sz="1600" b="1">
                <a:solidFill>
                  <a:srgbClr val="1E293B"/>
                </a:solidFill>
                <a:latin typeface="Fredoka"/>
              </a:defRPr>
            </a:pPr>
            <a:r>
              <a:t>Pay via M-Pesa</a:t>
            </a:r>
          </a:p>
        </p:txBody>
      </p:sp>
      <p:sp>
        <p:nvSpPr>
          <p:cNvPr id="9" name="TextBox 8"/>
          <p:cNvSpPr txBox="1"/>
          <p:nvPr/>
        </p:nvSpPr>
        <p:spPr>
          <a:xfrm>
            <a:off x="5029200" y="2103120"/>
            <a:ext cx="2743200" cy="1645920"/>
          </a:xfrm>
          <a:prstGeom prst="rect">
            <a:avLst/>
          </a:prstGeom>
          <a:noFill/>
        </p:spPr>
        <p:txBody>
          <a:bodyPr wrap="square">
            <a:spAutoFit/>
          </a:bodyPr>
          <a:lstStyle/>
          <a:p>
            <a:pPr algn="l">
              <a:lnSpc>
                <a:spcPts val="1679"/>
              </a:lnSpc>
              <a:spcAft>
                <a:spcPts val="0"/>
              </a:spcAft>
              <a:defRPr sz="1200" b="0">
                <a:solidFill>
                  <a:srgbClr val="64748B"/>
                </a:solidFill>
                <a:latin typeface="Karla"/>
              </a:defRPr>
            </a:pPr>
            <a:r>
              <a:t>STK Push triggers instant mobile payment. Backend confirms via Safaricom callback. Order moves to 'unassigned'.</a:t>
            </a:r>
          </a:p>
        </p:txBody>
      </p:sp>
      <p:sp>
        <p:nvSpPr>
          <p:cNvPr id="10" name="Oval 9"/>
          <p:cNvSpPr/>
          <p:nvPr/>
        </p:nvSpPr>
        <p:spPr>
          <a:xfrm>
            <a:off x="8046720" y="1783080"/>
            <a:ext cx="502920" cy="50292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ts val="2400"/>
              </a:lnSpc>
              <a:spcAft>
                <a:spcPts val="0"/>
              </a:spcAft>
              <a:defRPr sz="2000" b="1">
                <a:solidFill>
                  <a:srgbClr val="FFFFFF"/>
                </a:solidFill>
                <a:latin typeface="Fredoka"/>
              </a:defRPr>
            </a:pPr>
            <a:r>
              <a:t>3</a:t>
            </a:r>
          </a:p>
        </p:txBody>
      </p:sp>
      <p:sp>
        <p:nvSpPr>
          <p:cNvPr id="11" name="TextBox 10"/>
          <p:cNvSpPr txBox="1"/>
          <p:nvPr/>
        </p:nvSpPr>
        <p:spPr>
          <a:xfrm>
            <a:off x="8686800" y="1645920"/>
            <a:ext cx="2743200" cy="457200"/>
          </a:xfrm>
          <a:prstGeom prst="rect">
            <a:avLst/>
          </a:prstGeom>
          <a:noFill/>
        </p:spPr>
        <p:txBody>
          <a:bodyPr wrap="square">
            <a:spAutoFit/>
          </a:bodyPr>
          <a:lstStyle/>
          <a:p>
            <a:pPr algn="l">
              <a:lnSpc>
                <a:spcPts val="1920"/>
              </a:lnSpc>
              <a:spcAft>
                <a:spcPts val="0"/>
              </a:spcAft>
              <a:defRPr sz="1600" b="1">
                <a:solidFill>
                  <a:srgbClr val="1E293B"/>
                </a:solidFill>
                <a:latin typeface="Fredoka"/>
              </a:defRPr>
            </a:pPr>
            <a:r>
              <a:t>Smart Dispatch</a:t>
            </a:r>
          </a:p>
        </p:txBody>
      </p:sp>
      <p:sp>
        <p:nvSpPr>
          <p:cNvPr id="12" name="TextBox 11"/>
          <p:cNvSpPr txBox="1"/>
          <p:nvPr/>
        </p:nvSpPr>
        <p:spPr>
          <a:xfrm>
            <a:off x="8686800" y="2103120"/>
            <a:ext cx="2743200" cy="1645920"/>
          </a:xfrm>
          <a:prstGeom prst="rect">
            <a:avLst/>
          </a:prstGeom>
          <a:noFill/>
        </p:spPr>
        <p:txBody>
          <a:bodyPr wrap="square">
            <a:spAutoFit/>
          </a:bodyPr>
          <a:lstStyle/>
          <a:p>
            <a:pPr algn="l">
              <a:lnSpc>
                <a:spcPts val="1679"/>
              </a:lnSpc>
              <a:spcAft>
                <a:spcPts val="0"/>
              </a:spcAft>
              <a:defRPr sz="1200" b="0">
                <a:solidFill>
                  <a:srgbClr val="64748B"/>
                </a:solidFill>
                <a:latin typeface="Karla"/>
              </a:defRPr>
            </a:pPr>
            <a:r>
              <a:t>Two-tier dispatch: in-house riders offered first, then Trip Radar broadcasts to nearby gig riders over WebSocket.</a:t>
            </a:r>
          </a:p>
        </p:txBody>
      </p:sp>
      <p:sp>
        <p:nvSpPr>
          <p:cNvPr id="13" name="Oval 12"/>
          <p:cNvSpPr/>
          <p:nvPr/>
        </p:nvSpPr>
        <p:spPr>
          <a:xfrm>
            <a:off x="731520" y="4251960"/>
            <a:ext cx="502920" cy="50292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ts val="2400"/>
              </a:lnSpc>
              <a:spcAft>
                <a:spcPts val="0"/>
              </a:spcAft>
              <a:defRPr sz="2000" b="1">
                <a:solidFill>
                  <a:srgbClr val="FFFFFF"/>
                </a:solidFill>
                <a:latin typeface="Fredoka"/>
              </a:defRPr>
            </a:pPr>
            <a:r>
              <a:t>4</a:t>
            </a:r>
          </a:p>
        </p:txBody>
      </p:sp>
      <p:sp>
        <p:nvSpPr>
          <p:cNvPr id="14" name="TextBox 13"/>
          <p:cNvSpPr txBox="1"/>
          <p:nvPr/>
        </p:nvSpPr>
        <p:spPr>
          <a:xfrm>
            <a:off x="1371600" y="4114800"/>
            <a:ext cx="2743200" cy="457200"/>
          </a:xfrm>
          <a:prstGeom prst="rect">
            <a:avLst/>
          </a:prstGeom>
          <a:noFill/>
        </p:spPr>
        <p:txBody>
          <a:bodyPr wrap="square">
            <a:spAutoFit/>
          </a:bodyPr>
          <a:lstStyle/>
          <a:p>
            <a:pPr algn="l">
              <a:lnSpc>
                <a:spcPts val="1920"/>
              </a:lnSpc>
              <a:spcAft>
                <a:spcPts val="0"/>
              </a:spcAft>
              <a:defRPr sz="1600" b="1">
                <a:solidFill>
                  <a:srgbClr val="1E293B"/>
                </a:solidFill>
                <a:latin typeface="Fredoka"/>
              </a:defRPr>
            </a:pPr>
            <a:r>
              <a:t>Prepare &amp; Collect</a:t>
            </a:r>
          </a:p>
        </p:txBody>
      </p:sp>
      <p:sp>
        <p:nvSpPr>
          <p:cNvPr id="15" name="TextBox 14"/>
          <p:cNvSpPr txBox="1"/>
          <p:nvPr/>
        </p:nvSpPr>
        <p:spPr>
          <a:xfrm>
            <a:off x="1371600" y="4572000"/>
            <a:ext cx="2743200" cy="1645920"/>
          </a:xfrm>
          <a:prstGeom prst="rect">
            <a:avLst/>
          </a:prstGeom>
          <a:noFill/>
        </p:spPr>
        <p:txBody>
          <a:bodyPr wrap="square">
            <a:spAutoFit/>
          </a:bodyPr>
          <a:lstStyle/>
          <a:p>
            <a:pPr algn="l">
              <a:lnSpc>
                <a:spcPts val="1679"/>
              </a:lnSpc>
              <a:spcAft>
                <a:spcPts val="0"/>
              </a:spcAft>
              <a:defRPr sz="1200" b="0">
                <a:solidFill>
                  <a:srgbClr val="64748B"/>
                </a:solidFill>
                <a:latin typeface="Karla"/>
              </a:defRPr>
            </a:pPr>
            <a:r>
              <a:t>Vendor prepares the order and marks it ready. Rider collects and begins navigation to the customer.</a:t>
            </a:r>
          </a:p>
        </p:txBody>
      </p:sp>
      <p:sp>
        <p:nvSpPr>
          <p:cNvPr id="16" name="Oval 15"/>
          <p:cNvSpPr/>
          <p:nvPr/>
        </p:nvSpPr>
        <p:spPr>
          <a:xfrm>
            <a:off x="4389120" y="4251960"/>
            <a:ext cx="502920" cy="50292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ts val="2400"/>
              </a:lnSpc>
              <a:spcAft>
                <a:spcPts val="0"/>
              </a:spcAft>
              <a:defRPr sz="2000" b="1">
                <a:solidFill>
                  <a:srgbClr val="FFFFFF"/>
                </a:solidFill>
                <a:latin typeface="Fredoka"/>
              </a:defRPr>
            </a:pPr>
            <a:r>
              <a:t>5</a:t>
            </a:r>
          </a:p>
        </p:txBody>
      </p:sp>
      <p:sp>
        <p:nvSpPr>
          <p:cNvPr id="17" name="TextBox 16"/>
          <p:cNvSpPr txBox="1"/>
          <p:nvPr/>
        </p:nvSpPr>
        <p:spPr>
          <a:xfrm>
            <a:off x="5029200" y="4114800"/>
            <a:ext cx="2743200" cy="457200"/>
          </a:xfrm>
          <a:prstGeom prst="rect">
            <a:avLst/>
          </a:prstGeom>
          <a:noFill/>
        </p:spPr>
        <p:txBody>
          <a:bodyPr wrap="square">
            <a:spAutoFit/>
          </a:bodyPr>
          <a:lstStyle/>
          <a:p>
            <a:pPr algn="l">
              <a:lnSpc>
                <a:spcPts val="1920"/>
              </a:lnSpc>
              <a:spcAft>
                <a:spcPts val="0"/>
              </a:spcAft>
              <a:defRPr sz="1600" b="1">
                <a:solidFill>
                  <a:srgbClr val="1E293B"/>
                </a:solidFill>
                <a:latin typeface="Fredoka"/>
              </a:defRPr>
            </a:pPr>
            <a:r>
              <a:t>Track &amp; Deliver</a:t>
            </a:r>
          </a:p>
        </p:txBody>
      </p:sp>
      <p:sp>
        <p:nvSpPr>
          <p:cNvPr id="18" name="TextBox 17"/>
          <p:cNvSpPr txBox="1"/>
          <p:nvPr/>
        </p:nvSpPr>
        <p:spPr>
          <a:xfrm>
            <a:off x="5029200" y="4572000"/>
            <a:ext cx="2743200" cy="1645920"/>
          </a:xfrm>
          <a:prstGeom prst="rect">
            <a:avLst/>
          </a:prstGeom>
          <a:noFill/>
        </p:spPr>
        <p:txBody>
          <a:bodyPr wrap="square">
            <a:spAutoFit/>
          </a:bodyPr>
          <a:lstStyle/>
          <a:p>
            <a:pPr algn="l">
              <a:lnSpc>
                <a:spcPts val="1679"/>
              </a:lnSpc>
              <a:spcAft>
                <a:spcPts val="0"/>
              </a:spcAft>
              <a:defRPr sz="1200" b="0">
                <a:solidFill>
                  <a:srgbClr val="64748B"/>
                </a:solidFill>
                <a:latin typeface="Karla"/>
              </a:defRPr>
            </a:pPr>
            <a:r>
              <a:t>Customer watches the rider's live location on the map. Rider delivers, collects empties, and captures photo proof.</a:t>
            </a:r>
          </a:p>
        </p:txBody>
      </p:sp>
      <p:sp>
        <p:nvSpPr>
          <p:cNvPr id="19" name="Oval 18"/>
          <p:cNvSpPr/>
          <p:nvPr/>
        </p:nvSpPr>
        <p:spPr>
          <a:xfrm>
            <a:off x="8046720" y="4251960"/>
            <a:ext cx="502920" cy="50292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ts val="2400"/>
              </a:lnSpc>
              <a:spcAft>
                <a:spcPts val="0"/>
              </a:spcAft>
              <a:defRPr sz="2000" b="1">
                <a:solidFill>
                  <a:srgbClr val="FFFFFF"/>
                </a:solidFill>
                <a:latin typeface="Fredoka"/>
              </a:defRPr>
            </a:pPr>
            <a:r>
              <a:t>6</a:t>
            </a:r>
          </a:p>
        </p:txBody>
      </p:sp>
      <p:sp>
        <p:nvSpPr>
          <p:cNvPr id="20" name="TextBox 19"/>
          <p:cNvSpPr txBox="1"/>
          <p:nvPr/>
        </p:nvSpPr>
        <p:spPr>
          <a:xfrm>
            <a:off x="8686800" y="4114800"/>
            <a:ext cx="2743200" cy="457200"/>
          </a:xfrm>
          <a:prstGeom prst="rect">
            <a:avLst/>
          </a:prstGeom>
          <a:noFill/>
        </p:spPr>
        <p:txBody>
          <a:bodyPr wrap="square">
            <a:spAutoFit/>
          </a:bodyPr>
          <a:lstStyle/>
          <a:p>
            <a:pPr algn="l">
              <a:lnSpc>
                <a:spcPts val="1920"/>
              </a:lnSpc>
              <a:spcAft>
                <a:spcPts val="0"/>
              </a:spcAft>
              <a:defRPr sz="1600" b="1">
                <a:solidFill>
                  <a:srgbClr val="1E293B"/>
                </a:solidFill>
                <a:latin typeface="Fredoka"/>
              </a:defRPr>
            </a:pPr>
            <a:r>
              <a:t>Settle &amp; Rate</a:t>
            </a:r>
          </a:p>
        </p:txBody>
      </p:sp>
      <p:sp>
        <p:nvSpPr>
          <p:cNvPr id="21" name="TextBox 20"/>
          <p:cNvSpPr txBox="1"/>
          <p:nvPr/>
        </p:nvSpPr>
        <p:spPr>
          <a:xfrm>
            <a:off x="8686800" y="4572000"/>
            <a:ext cx="2743200" cy="1645920"/>
          </a:xfrm>
          <a:prstGeom prst="rect">
            <a:avLst/>
          </a:prstGeom>
          <a:noFill/>
        </p:spPr>
        <p:txBody>
          <a:bodyPr wrap="square">
            <a:spAutoFit/>
          </a:bodyPr>
          <a:lstStyle/>
          <a:p>
            <a:pPr algn="l">
              <a:lnSpc>
                <a:spcPts val="1679"/>
              </a:lnSpc>
              <a:spcAft>
                <a:spcPts val="0"/>
              </a:spcAft>
              <a:defRPr sz="1200" b="0">
                <a:solidFill>
                  <a:srgbClr val="64748B"/>
                </a:solidFill>
                <a:latin typeface="Karla"/>
              </a:defRPr>
            </a:pPr>
            <a:r>
              <a:t>Revenue split credits wallets atomically. Bottle ledger updates. Customer rates both the store and the rider.</a:t>
            </a:r>
          </a:p>
        </p:txBody>
      </p:sp>
      <p:sp>
        <p:nvSpPr>
          <p:cNvPr id="22" name="TextBox 21"/>
          <p:cNvSpPr txBox="1"/>
          <p:nvPr/>
        </p:nvSpPr>
        <p:spPr>
          <a:xfrm>
            <a:off x="731520" y="6400800"/>
            <a:ext cx="3657600" cy="365760"/>
          </a:xfrm>
          <a:prstGeom prst="rect">
            <a:avLst/>
          </a:prstGeom>
          <a:noFill/>
        </p:spPr>
        <p:txBody>
          <a:bodyPr wrap="square">
            <a:spAutoFit/>
          </a:bodyPr>
          <a:lstStyle/>
          <a:p>
            <a:pPr algn="l">
              <a:lnSpc>
                <a:spcPts val="1080"/>
              </a:lnSpc>
              <a:spcAft>
                <a:spcPts val="0"/>
              </a:spcAft>
              <a:defRPr sz="900" b="0">
                <a:solidFill>
                  <a:srgbClr val="64748B"/>
                </a:solidFill>
                <a:latin typeface="Fredoka"/>
              </a:defRPr>
            </a:pPr>
            <a:r>
              <a:t>💧 Drop — Multivendor Water Delivery Platform</a:t>
            </a:r>
          </a:p>
        </p:txBody>
      </p:sp>
      <p:sp>
        <p:nvSpPr>
          <p:cNvPr id="23" name="TextBox 22"/>
          <p:cNvSpPr txBox="1"/>
          <p:nvPr/>
        </p:nvSpPr>
        <p:spPr>
          <a:xfrm>
            <a:off x="10515600" y="6400800"/>
            <a:ext cx="1371600" cy="365760"/>
          </a:xfrm>
          <a:prstGeom prst="rect">
            <a:avLst/>
          </a:prstGeom>
          <a:noFill/>
        </p:spPr>
        <p:txBody>
          <a:bodyPr wrap="square">
            <a:spAutoFit/>
          </a:bodyPr>
          <a:lstStyle/>
          <a:p>
            <a:pPr algn="r">
              <a:lnSpc>
                <a:spcPts val="1080"/>
              </a:lnSpc>
              <a:spcAft>
                <a:spcPts val="0"/>
              </a:spcAft>
              <a:defRPr sz="900" b="0">
                <a:solidFill>
                  <a:srgbClr val="64748B"/>
                </a:solidFill>
                <a:latin typeface="Karla"/>
              </a:defRPr>
            </a:pPr>
            <a:r>
              <a:t>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48640"/>
            <a:ext cx="10058400" cy="731520"/>
          </a:xfrm>
          <a:prstGeom prst="rect">
            <a:avLst/>
          </a:prstGeom>
          <a:noFill/>
        </p:spPr>
        <p:txBody>
          <a:bodyPr wrap="square">
            <a:spAutoFit/>
          </a:bodyPr>
          <a:lstStyle/>
          <a:p>
            <a:pPr algn="l">
              <a:lnSpc>
                <a:spcPts val="4320"/>
              </a:lnSpc>
              <a:spcAft>
                <a:spcPts val="0"/>
              </a:spcAft>
              <a:defRPr sz="3600" b="1">
                <a:solidFill>
                  <a:srgbClr val="1E293B"/>
                </a:solidFill>
                <a:latin typeface="Fredoka"/>
              </a:defRPr>
            </a:pPr>
            <a:r>
              <a:t>Business Model</a:t>
            </a:r>
          </a:p>
        </p:txBody>
      </p:sp>
      <p:sp>
        <p:nvSpPr>
          <p:cNvPr id="3" name="Rectangle 2"/>
          <p:cNvSpPr/>
          <p:nvPr/>
        </p:nvSpPr>
        <p:spPr>
          <a:xfrm>
            <a:off x="731520" y="1234440"/>
            <a:ext cx="548640" cy="50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54480"/>
            <a:ext cx="10058400" cy="548640"/>
          </a:xfrm>
          <a:prstGeom prst="rect">
            <a:avLst/>
          </a:prstGeom>
          <a:noFill/>
        </p:spPr>
        <p:txBody>
          <a:bodyPr wrap="square">
            <a:spAutoFit/>
          </a:bodyPr>
          <a:lstStyle/>
          <a:p>
            <a:pPr algn="l">
              <a:lnSpc>
                <a:spcPts val="1680"/>
              </a:lnSpc>
              <a:spcAft>
                <a:spcPts val="0"/>
              </a:spcAft>
              <a:defRPr sz="1400" b="0">
                <a:solidFill>
                  <a:srgbClr val="64748B"/>
                </a:solidFill>
                <a:latin typeface="Karla"/>
              </a:defRPr>
            </a:pPr>
            <a:r>
              <a:t>Multiple revenue streams, all configurable in real time from the admin console — 34 pricing parameters across 10 groups.</a:t>
            </a:r>
          </a:p>
        </p:txBody>
      </p:sp>
      <p:sp>
        <p:nvSpPr>
          <p:cNvPr id="5" name="Rounded Rectangle 4"/>
          <p:cNvSpPr/>
          <p:nvPr/>
        </p:nvSpPr>
        <p:spPr>
          <a:xfrm>
            <a:off x="731520" y="2377440"/>
            <a:ext cx="2560320" cy="3474720"/>
          </a:xfrm>
          <a:prstGeom prst="round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560320"/>
            <a:ext cx="2011680" cy="457200"/>
          </a:xfrm>
          <a:prstGeom prst="rect">
            <a:avLst/>
          </a:prstGeom>
          <a:noFill/>
        </p:spPr>
        <p:txBody>
          <a:bodyPr wrap="square">
            <a:spAutoFit/>
          </a:bodyPr>
          <a:lstStyle/>
          <a:p>
            <a:pPr algn="ctr">
              <a:lnSpc>
                <a:spcPts val="1680"/>
              </a:lnSpc>
              <a:spcAft>
                <a:spcPts val="0"/>
              </a:spcAft>
              <a:defRPr sz="1400" b="1">
                <a:solidFill>
                  <a:srgbClr val="1D4ED8"/>
                </a:solidFill>
                <a:latin typeface="Fredoka"/>
              </a:defRPr>
            </a:pPr>
            <a:r>
              <a:t>💰  Vendor Commission</a:t>
            </a:r>
          </a:p>
        </p:txBody>
      </p:sp>
      <p:sp>
        <p:nvSpPr>
          <p:cNvPr id="7" name="TextBox 6"/>
          <p:cNvSpPr txBox="1"/>
          <p:nvPr/>
        </p:nvSpPr>
        <p:spPr>
          <a:xfrm>
            <a:off x="1005840" y="3200400"/>
            <a:ext cx="2011680" cy="1097280"/>
          </a:xfrm>
          <a:prstGeom prst="rect">
            <a:avLst/>
          </a:prstGeom>
          <a:noFill/>
        </p:spPr>
        <p:txBody>
          <a:bodyPr wrap="square">
            <a:spAutoFit/>
          </a:bodyPr>
          <a:lstStyle/>
          <a:p>
            <a:pPr algn="ctr">
              <a:lnSpc>
                <a:spcPts val="1560"/>
              </a:lnSpc>
              <a:spcAft>
                <a:spcPts val="0"/>
              </a:spcAft>
              <a:defRPr sz="1300" b="1">
                <a:solidFill>
                  <a:srgbClr val="2563EB"/>
                </a:solidFill>
                <a:latin typeface="JetBrains Mono"/>
              </a:defRPr>
            </a:pPr>
            <a:r>
              <a:t>5% on retail (B2C)</a:t>
            </a:r>
            <a:br/>
            <a:r>
              <a:t>5% on wholesale (B2B)</a:t>
            </a:r>
          </a:p>
        </p:txBody>
      </p:sp>
      <p:sp>
        <p:nvSpPr>
          <p:cNvPr id="8" name="TextBox 7"/>
          <p:cNvSpPr txBox="1"/>
          <p:nvPr/>
        </p:nvSpPr>
        <p:spPr>
          <a:xfrm>
            <a:off x="1005840" y="4480560"/>
            <a:ext cx="2011680" cy="914400"/>
          </a:xfrm>
          <a:prstGeom prst="rect">
            <a:avLst/>
          </a:prstGeom>
          <a:noFill/>
        </p:spPr>
        <p:txBody>
          <a:bodyPr wrap="square">
            <a:spAutoFit/>
          </a:bodyPr>
          <a:lstStyle/>
          <a:p>
            <a:pPr algn="ctr">
              <a:lnSpc>
                <a:spcPts val="1539"/>
              </a:lnSpc>
              <a:spcAft>
                <a:spcPts val="0"/>
              </a:spcAft>
              <a:defRPr sz="1100" b="0">
                <a:solidFill>
                  <a:srgbClr val="64748B"/>
                </a:solidFill>
                <a:latin typeface="Karla"/>
              </a:defRPr>
            </a:pPr>
            <a:r>
              <a:t>Scales with every order on the platform</a:t>
            </a:r>
          </a:p>
        </p:txBody>
      </p:sp>
      <p:sp>
        <p:nvSpPr>
          <p:cNvPr id="9" name="Rounded Rectangle 8"/>
          <p:cNvSpPr/>
          <p:nvPr/>
        </p:nvSpPr>
        <p:spPr>
          <a:xfrm>
            <a:off x="3566160" y="2377440"/>
            <a:ext cx="2560320" cy="3474720"/>
          </a:xfrm>
          <a:prstGeom prst="round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0" y="2560320"/>
            <a:ext cx="2011680" cy="457200"/>
          </a:xfrm>
          <a:prstGeom prst="rect">
            <a:avLst/>
          </a:prstGeom>
          <a:noFill/>
        </p:spPr>
        <p:txBody>
          <a:bodyPr wrap="square">
            <a:spAutoFit/>
          </a:bodyPr>
          <a:lstStyle/>
          <a:p>
            <a:pPr algn="ctr">
              <a:lnSpc>
                <a:spcPts val="1680"/>
              </a:lnSpc>
              <a:spcAft>
                <a:spcPts val="0"/>
              </a:spcAft>
              <a:defRPr sz="1400" b="1">
                <a:solidFill>
                  <a:srgbClr val="1D4ED8"/>
                </a:solidFill>
                <a:latin typeface="Fredoka"/>
              </a:defRPr>
            </a:pPr>
            <a:r>
              <a:t>🏷️  Service Fees</a:t>
            </a:r>
          </a:p>
        </p:txBody>
      </p:sp>
      <p:sp>
        <p:nvSpPr>
          <p:cNvPr id="11" name="TextBox 10"/>
          <p:cNvSpPr txBox="1"/>
          <p:nvPr/>
        </p:nvSpPr>
        <p:spPr>
          <a:xfrm>
            <a:off x="3840480" y="3200400"/>
            <a:ext cx="2011680" cy="1097280"/>
          </a:xfrm>
          <a:prstGeom prst="rect">
            <a:avLst/>
          </a:prstGeom>
          <a:noFill/>
        </p:spPr>
        <p:txBody>
          <a:bodyPr wrap="square">
            <a:spAutoFit/>
          </a:bodyPr>
          <a:lstStyle/>
          <a:p>
            <a:pPr algn="ctr">
              <a:lnSpc>
                <a:spcPts val="1560"/>
              </a:lnSpc>
              <a:spcAft>
                <a:spcPts val="0"/>
              </a:spcAft>
              <a:defRPr sz="1300" b="1">
                <a:solidFill>
                  <a:srgbClr val="2563EB"/>
                </a:solidFill>
                <a:latin typeface="JetBrains Mono"/>
              </a:defRPr>
            </a:pPr>
            <a:r>
              <a:t>KSH 35 per retail order</a:t>
            </a:r>
            <a:br/>
            <a:r>
              <a:t>KSH 120 per wholesale order</a:t>
            </a:r>
          </a:p>
        </p:txBody>
      </p:sp>
      <p:sp>
        <p:nvSpPr>
          <p:cNvPr id="12" name="TextBox 11"/>
          <p:cNvSpPr txBox="1"/>
          <p:nvPr/>
        </p:nvSpPr>
        <p:spPr>
          <a:xfrm>
            <a:off x="3840480" y="4480560"/>
            <a:ext cx="2011680" cy="914400"/>
          </a:xfrm>
          <a:prstGeom prst="rect">
            <a:avLst/>
          </a:prstGeom>
          <a:noFill/>
        </p:spPr>
        <p:txBody>
          <a:bodyPr wrap="square">
            <a:spAutoFit/>
          </a:bodyPr>
          <a:lstStyle/>
          <a:p>
            <a:pPr algn="ctr">
              <a:lnSpc>
                <a:spcPts val="1539"/>
              </a:lnSpc>
              <a:spcAft>
                <a:spcPts val="0"/>
              </a:spcAft>
              <a:defRPr sz="1100" b="0">
                <a:solidFill>
                  <a:srgbClr val="64748B"/>
                </a:solidFill>
                <a:latin typeface="Karla"/>
              </a:defRPr>
            </a:pPr>
            <a:r>
              <a:t>Covers M-Pesa tariff + platform ops costs</a:t>
            </a:r>
          </a:p>
        </p:txBody>
      </p:sp>
      <p:sp>
        <p:nvSpPr>
          <p:cNvPr id="13" name="Rounded Rectangle 12"/>
          <p:cNvSpPr/>
          <p:nvPr/>
        </p:nvSpPr>
        <p:spPr>
          <a:xfrm>
            <a:off x="6400800" y="2377440"/>
            <a:ext cx="2560320" cy="3474720"/>
          </a:xfrm>
          <a:prstGeom prst="round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2560320"/>
            <a:ext cx="2011680" cy="457200"/>
          </a:xfrm>
          <a:prstGeom prst="rect">
            <a:avLst/>
          </a:prstGeom>
          <a:noFill/>
        </p:spPr>
        <p:txBody>
          <a:bodyPr wrap="square">
            <a:spAutoFit/>
          </a:bodyPr>
          <a:lstStyle/>
          <a:p>
            <a:pPr algn="ctr">
              <a:lnSpc>
                <a:spcPts val="1680"/>
              </a:lnSpc>
              <a:spcAft>
                <a:spcPts val="0"/>
              </a:spcAft>
              <a:defRPr sz="1400" b="1">
                <a:solidFill>
                  <a:srgbClr val="1D4ED8"/>
                </a:solidFill>
                <a:latin typeface="Fredoka"/>
              </a:defRPr>
            </a:pPr>
            <a:r>
              <a:t>🚀  Surge Pricing</a:t>
            </a:r>
          </a:p>
        </p:txBody>
      </p:sp>
      <p:sp>
        <p:nvSpPr>
          <p:cNvPr id="15" name="TextBox 14"/>
          <p:cNvSpPr txBox="1"/>
          <p:nvPr/>
        </p:nvSpPr>
        <p:spPr>
          <a:xfrm>
            <a:off x="6675120" y="3200400"/>
            <a:ext cx="2011680" cy="1097280"/>
          </a:xfrm>
          <a:prstGeom prst="rect">
            <a:avLst/>
          </a:prstGeom>
          <a:noFill/>
        </p:spPr>
        <p:txBody>
          <a:bodyPr wrap="square">
            <a:spAutoFit/>
          </a:bodyPr>
          <a:lstStyle/>
          <a:p>
            <a:pPr algn="ctr">
              <a:lnSpc>
                <a:spcPts val="1560"/>
              </a:lnSpc>
              <a:spcAft>
                <a:spcPts val="0"/>
              </a:spcAft>
              <a:defRPr sz="1300" b="1">
                <a:solidFill>
                  <a:srgbClr val="2563EB"/>
                </a:solidFill>
                <a:latin typeface="JetBrains Mono"/>
              </a:defRPr>
            </a:pPr>
            <a:r>
              <a:t>+KSH 10 during</a:t>
            </a:r>
            <a:br/>
            <a:r>
              <a:t>peak hours (6-8am, 5-7pm)</a:t>
            </a:r>
          </a:p>
        </p:txBody>
      </p:sp>
      <p:sp>
        <p:nvSpPr>
          <p:cNvPr id="16" name="TextBox 15"/>
          <p:cNvSpPr txBox="1"/>
          <p:nvPr/>
        </p:nvSpPr>
        <p:spPr>
          <a:xfrm>
            <a:off x="6675120" y="4480560"/>
            <a:ext cx="2011680" cy="914400"/>
          </a:xfrm>
          <a:prstGeom prst="rect">
            <a:avLst/>
          </a:prstGeom>
          <a:noFill/>
        </p:spPr>
        <p:txBody>
          <a:bodyPr wrap="square">
            <a:spAutoFit/>
          </a:bodyPr>
          <a:lstStyle/>
          <a:p>
            <a:pPr algn="ctr">
              <a:lnSpc>
                <a:spcPts val="1539"/>
              </a:lnSpc>
              <a:spcAft>
                <a:spcPts val="0"/>
              </a:spcAft>
              <a:defRPr sz="1100" b="0">
                <a:solidFill>
                  <a:srgbClr val="64748B"/>
                </a:solidFill>
                <a:latin typeface="Karla"/>
              </a:defRPr>
            </a:pPr>
            <a:r>
              <a:t>Dynamic pricing for high-demand windows</a:t>
            </a:r>
          </a:p>
        </p:txBody>
      </p:sp>
      <p:sp>
        <p:nvSpPr>
          <p:cNvPr id="17" name="Rounded Rectangle 16"/>
          <p:cNvSpPr/>
          <p:nvPr/>
        </p:nvSpPr>
        <p:spPr>
          <a:xfrm>
            <a:off x="9235440" y="2377440"/>
            <a:ext cx="2560320" cy="3474720"/>
          </a:xfrm>
          <a:prstGeom prst="round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09760" y="2560320"/>
            <a:ext cx="2011680" cy="457200"/>
          </a:xfrm>
          <a:prstGeom prst="rect">
            <a:avLst/>
          </a:prstGeom>
          <a:noFill/>
        </p:spPr>
        <p:txBody>
          <a:bodyPr wrap="square">
            <a:spAutoFit/>
          </a:bodyPr>
          <a:lstStyle/>
          <a:p>
            <a:pPr algn="ctr">
              <a:lnSpc>
                <a:spcPts val="1680"/>
              </a:lnSpc>
              <a:spcAft>
                <a:spcPts val="0"/>
              </a:spcAft>
              <a:defRPr sz="1400" b="1">
                <a:solidFill>
                  <a:srgbClr val="1D4ED8"/>
                </a:solidFill>
                <a:latin typeface="Fredoka"/>
              </a:defRPr>
            </a:pPr>
            <a:r>
              <a:t>📦  Delivery Fees</a:t>
            </a:r>
          </a:p>
        </p:txBody>
      </p:sp>
      <p:sp>
        <p:nvSpPr>
          <p:cNvPr id="19" name="TextBox 18"/>
          <p:cNvSpPr txBox="1"/>
          <p:nvPr/>
        </p:nvSpPr>
        <p:spPr>
          <a:xfrm>
            <a:off x="9509760" y="3200400"/>
            <a:ext cx="2011680" cy="1097280"/>
          </a:xfrm>
          <a:prstGeom prst="rect">
            <a:avLst/>
          </a:prstGeom>
          <a:noFill/>
        </p:spPr>
        <p:txBody>
          <a:bodyPr wrap="square">
            <a:spAutoFit/>
          </a:bodyPr>
          <a:lstStyle/>
          <a:p>
            <a:pPr algn="ctr">
              <a:lnSpc>
                <a:spcPts val="1560"/>
              </a:lnSpc>
              <a:spcAft>
                <a:spcPts val="0"/>
              </a:spcAft>
              <a:defRPr sz="1300" b="1">
                <a:solidFill>
                  <a:srgbClr val="2563EB"/>
                </a:solidFill>
                <a:latin typeface="JetBrains Mono"/>
              </a:defRPr>
            </a:pPr>
            <a:r>
              <a:t>Distance-based</a:t>
            </a:r>
            <a:br/>
            <a:r>
              <a:t>rider earns 90-100%</a:t>
            </a:r>
          </a:p>
        </p:txBody>
      </p:sp>
      <p:sp>
        <p:nvSpPr>
          <p:cNvPr id="20" name="TextBox 19"/>
          <p:cNvSpPr txBox="1"/>
          <p:nvPr/>
        </p:nvSpPr>
        <p:spPr>
          <a:xfrm>
            <a:off x="9509760" y="4480560"/>
            <a:ext cx="2011680" cy="914400"/>
          </a:xfrm>
          <a:prstGeom prst="rect">
            <a:avLst/>
          </a:prstGeom>
          <a:noFill/>
        </p:spPr>
        <p:txBody>
          <a:bodyPr wrap="square">
            <a:spAutoFit/>
          </a:bodyPr>
          <a:lstStyle/>
          <a:p>
            <a:pPr algn="ctr">
              <a:lnSpc>
                <a:spcPts val="1539"/>
              </a:lnSpc>
              <a:spcAft>
                <a:spcPts val="0"/>
              </a:spcAft>
              <a:defRPr sz="1100" b="0">
                <a:solidFill>
                  <a:srgbClr val="64748B"/>
                </a:solidFill>
                <a:latin typeface="Karla"/>
              </a:defRPr>
            </a:pPr>
            <a:r>
              <a:t>5% wholesale markup; retail markup at 0%</a:t>
            </a:r>
          </a:p>
        </p:txBody>
      </p:sp>
      <p:sp>
        <p:nvSpPr>
          <p:cNvPr id="21" name="Rounded Rectangle 20"/>
          <p:cNvSpPr/>
          <p:nvPr/>
        </p:nvSpPr>
        <p:spPr>
          <a:xfrm>
            <a:off x="731520" y="6035040"/>
            <a:ext cx="10698480" cy="548640"/>
          </a:xfrm>
          <a:prstGeom prst="round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6080760"/>
            <a:ext cx="10332720" cy="457200"/>
          </a:xfrm>
          <a:prstGeom prst="rect">
            <a:avLst/>
          </a:prstGeom>
          <a:noFill/>
        </p:spPr>
        <p:txBody>
          <a:bodyPr wrap="square">
            <a:spAutoFit/>
          </a:bodyPr>
          <a:lstStyle/>
          <a:p>
            <a:pPr algn="ctr">
              <a:lnSpc>
                <a:spcPts val="1320"/>
              </a:lnSpc>
              <a:spcAft>
                <a:spcPts val="0"/>
              </a:spcAft>
              <a:defRPr sz="1100" b="0">
                <a:solidFill>
                  <a:srgbClr val="1D4ED8"/>
                </a:solidFill>
                <a:latin typeface="Karla"/>
              </a:defRPr>
            </a:pPr>
            <a:r>
              <a:t>💡  One pricing path: compute_order_quote is the single source of truth — client renders it, M-Pesa charges it, database stores it. Tests enforce parity.</a:t>
            </a:r>
          </a:p>
        </p:txBody>
      </p:sp>
      <p:sp>
        <p:nvSpPr>
          <p:cNvPr id="23" name="TextBox 22"/>
          <p:cNvSpPr txBox="1"/>
          <p:nvPr/>
        </p:nvSpPr>
        <p:spPr>
          <a:xfrm>
            <a:off x="731520" y="6400800"/>
            <a:ext cx="3657600" cy="365760"/>
          </a:xfrm>
          <a:prstGeom prst="rect">
            <a:avLst/>
          </a:prstGeom>
          <a:noFill/>
        </p:spPr>
        <p:txBody>
          <a:bodyPr wrap="square">
            <a:spAutoFit/>
          </a:bodyPr>
          <a:lstStyle/>
          <a:p>
            <a:pPr algn="l">
              <a:lnSpc>
                <a:spcPts val="1080"/>
              </a:lnSpc>
              <a:spcAft>
                <a:spcPts val="0"/>
              </a:spcAft>
              <a:defRPr sz="900" b="0">
                <a:solidFill>
                  <a:srgbClr val="64748B"/>
                </a:solidFill>
                <a:latin typeface="Fredoka"/>
              </a:defRPr>
            </a:pPr>
            <a:r>
              <a:t>💧 Drop — Multivendor Water Delivery Platform</a:t>
            </a:r>
          </a:p>
        </p:txBody>
      </p:sp>
      <p:sp>
        <p:nvSpPr>
          <p:cNvPr id="24" name="TextBox 23"/>
          <p:cNvSpPr txBox="1"/>
          <p:nvPr/>
        </p:nvSpPr>
        <p:spPr>
          <a:xfrm>
            <a:off x="10515600" y="6400800"/>
            <a:ext cx="1371600" cy="365760"/>
          </a:xfrm>
          <a:prstGeom prst="rect">
            <a:avLst/>
          </a:prstGeom>
          <a:noFill/>
        </p:spPr>
        <p:txBody>
          <a:bodyPr wrap="square">
            <a:spAutoFit/>
          </a:bodyPr>
          <a:lstStyle/>
          <a:p>
            <a:pPr algn="r">
              <a:lnSpc>
                <a:spcPts val="1080"/>
              </a:lnSpc>
              <a:spcAft>
                <a:spcPts val="0"/>
              </a:spcAft>
              <a:defRPr sz="900" b="0">
                <a:solidFill>
                  <a:srgbClr val="64748B"/>
                </a:solidFill>
                <a:latin typeface="Karla"/>
              </a:defRPr>
            </a:pPr>
            <a:r>
              <a:t>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548640"/>
            <a:ext cx="10058400" cy="731520"/>
          </a:xfrm>
          <a:prstGeom prst="rect">
            <a:avLst/>
          </a:prstGeom>
          <a:noFill/>
        </p:spPr>
        <p:txBody>
          <a:bodyPr wrap="square">
            <a:spAutoFit/>
          </a:bodyPr>
          <a:lstStyle/>
          <a:p>
            <a:pPr algn="l">
              <a:lnSpc>
                <a:spcPts val="4320"/>
              </a:lnSpc>
              <a:spcAft>
                <a:spcPts val="0"/>
              </a:spcAft>
              <a:defRPr sz="3600" b="1">
                <a:solidFill>
                  <a:srgbClr val="FFFFFF"/>
                </a:solidFill>
                <a:latin typeface="Fredoka"/>
              </a:defRPr>
            </a:pPr>
            <a:r>
              <a:t>Technology Stack</a:t>
            </a:r>
          </a:p>
        </p:txBody>
      </p:sp>
      <p:sp>
        <p:nvSpPr>
          <p:cNvPr id="3" name="Rectangle 2"/>
          <p:cNvSpPr/>
          <p:nvPr/>
        </p:nvSpPr>
        <p:spPr>
          <a:xfrm>
            <a:off x="731520" y="1234440"/>
            <a:ext cx="548640" cy="50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45920"/>
            <a:ext cx="1828800" cy="457200"/>
          </a:xfrm>
          <a:prstGeom prst="rect">
            <a:avLst/>
          </a:prstGeom>
          <a:noFill/>
        </p:spPr>
        <p:txBody>
          <a:bodyPr wrap="square">
            <a:spAutoFit/>
          </a:bodyPr>
          <a:lstStyle/>
          <a:p>
            <a:pPr algn="l">
              <a:lnSpc>
                <a:spcPts val="1680"/>
              </a:lnSpc>
              <a:spcAft>
                <a:spcPts val="0"/>
              </a:spcAft>
              <a:defRPr sz="1400" b="1">
                <a:solidFill>
                  <a:srgbClr val="3B82F6"/>
                </a:solidFill>
                <a:latin typeface="Fredoka"/>
              </a:defRPr>
            </a:pPr>
            <a:r>
              <a:t>BACKEND</a:t>
            </a:r>
          </a:p>
        </p:txBody>
      </p:sp>
      <p:sp>
        <p:nvSpPr>
          <p:cNvPr id="5" name="TextBox 4"/>
          <p:cNvSpPr txBox="1"/>
          <p:nvPr/>
        </p:nvSpPr>
        <p:spPr>
          <a:xfrm>
            <a:off x="731520" y="2103120"/>
            <a:ext cx="5029200" cy="4114800"/>
          </a:xfrm>
          <a:prstGeom prst="rect">
            <a:avLst/>
          </a:prstGeom>
          <a:noFill/>
        </p:spPr>
        <p:txBody>
          <a:bodyPr wrap="square">
            <a:spAutoFit/>
          </a:bodyPr>
          <a:lstStyle/>
          <a:p>
            <a:pPr algn="l">
              <a:spcAft>
                <a:spcPts val="0"/>
              </a:spcAft>
              <a:defRPr sz="1100" b="0">
                <a:solidFill>
                  <a:srgbClr val="E2E8F0"/>
                </a:solidFill>
                <a:latin typeface="JetBrains Mono"/>
              </a:defRPr>
            </a:pPr>
            <a:r>
              <a:t>▸  Python 3.12  •  FastAPI  •  Uvicorn</a:t>
            </a:r>
          </a:p>
          <a:p>
            <a:pPr algn="l">
              <a:spcBef>
                <a:spcPts val="800"/>
              </a:spcBef>
              <a:spcAft>
                <a:spcPts val="0"/>
              </a:spcAft>
              <a:defRPr sz="1100" b="0">
                <a:solidFill>
                  <a:srgbClr val="E2E8F0"/>
                </a:solidFill>
                <a:latin typeface="JetBrains Mono"/>
              </a:defRPr>
            </a:pPr>
            <a:r>
              <a:t>▸  PostgreSQL + PostGIS + H3</a:t>
            </a:r>
          </a:p>
          <a:p>
            <a:pPr algn="l">
              <a:spcBef>
                <a:spcPts val="800"/>
              </a:spcBef>
              <a:spcAft>
                <a:spcPts val="0"/>
              </a:spcAft>
              <a:defRPr sz="1100" b="0">
                <a:solidFill>
                  <a:srgbClr val="E2E8F0"/>
                </a:solidFill>
                <a:latin typeface="JetBrains Mono"/>
              </a:defRPr>
            </a:pPr>
            <a:r>
              <a:t>▸  SQLAlchemy 2.0 Async  •  Alembic</a:t>
            </a:r>
          </a:p>
          <a:p>
            <a:pPr algn="l">
              <a:spcBef>
                <a:spcPts val="800"/>
              </a:spcBef>
              <a:spcAft>
                <a:spcPts val="0"/>
              </a:spcAft>
              <a:defRPr sz="1100" b="0">
                <a:solidFill>
                  <a:srgbClr val="E2E8F0"/>
                </a:solidFill>
                <a:latin typeface="JetBrains Mono"/>
              </a:defRPr>
            </a:pPr>
            <a:r>
              <a:t>▸  Redis (pub/sub, queues, rate limits)</a:t>
            </a:r>
          </a:p>
          <a:p>
            <a:pPr algn="l">
              <a:spcBef>
                <a:spcPts val="800"/>
              </a:spcBef>
              <a:spcAft>
                <a:spcPts val="0"/>
              </a:spcAft>
              <a:defRPr sz="1100" b="0">
                <a:solidFill>
                  <a:srgbClr val="E2E8F0"/>
                </a:solidFill>
                <a:latin typeface="JetBrains Mono"/>
              </a:defRPr>
            </a:pPr>
            <a:r>
              <a:t>▸  ARQ Background Workers</a:t>
            </a:r>
          </a:p>
          <a:p>
            <a:pPr algn="l">
              <a:spcBef>
                <a:spcPts val="800"/>
              </a:spcBef>
              <a:spcAft>
                <a:spcPts val="0"/>
              </a:spcAft>
              <a:defRPr sz="1100" b="0">
                <a:solidFill>
                  <a:srgbClr val="E2E8F0"/>
                </a:solidFill>
                <a:latin typeface="JetBrains Mono"/>
              </a:defRPr>
            </a:pPr>
            <a:r>
              <a:t>▸  M-Pesa STK Push / B2C / Reversals</a:t>
            </a:r>
          </a:p>
          <a:p>
            <a:pPr algn="l">
              <a:spcBef>
                <a:spcPts val="800"/>
              </a:spcBef>
              <a:spcAft>
                <a:spcPts val="0"/>
              </a:spcAft>
              <a:defRPr sz="1100" b="0">
                <a:solidFill>
                  <a:srgbClr val="E2E8F0"/>
                </a:solidFill>
                <a:latin typeface="JetBrains Mono"/>
              </a:defRPr>
            </a:pPr>
            <a:r>
              <a:t>▸  AWS S3 (private, presigned)</a:t>
            </a:r>
          </a:p>
          <a:p>
            <a:pPr algn="l">
              <a:spcBef>
                <a:spcPts val="800"/>
              </a:spcBef>
              <a:spcAft>
                <a:spcPts val="0"/>
              </a:spcAft>
              <a:defRPr sz="1100" b="0">
                <a:solidFill>
                  <a:srgbClr val="E2E8F0"/>
                </a:solidFill>
                <a:latin typeface="JetBrains Mono"/>
              </a:defRPr>
            </a:pPr>
            <a:r>
              <a:t>▸  Clerk RS256 JWT Auth</a:t>
            </a:r>
          </a:p>
          <a:p>
            <a:pPr algn="l">
              <a:spcBef>
                <a:spcPts val="800"/>
              </a:spcBef>
              <a:spcAft>
                <a:spcPts val="0"/>
              </a:spcAft>
              <a:defRPr sz="1100" b="0">
                <a:solidFill>
                  <a:srgbClr val="E2E8F0"/>
                </a:solidFill>
                <a:latin typeface="JetBrains Mono"/>
              </a:defRPr>
            </a:pPr>
            <a:r>
              <a:t>▸  Sentry  •  Prometheus  •  JSON Logs</a:t>
            </a:r>
          </a:p>
        </p:txBody>
      </p:sp>
      <p:sp>
        <p:nvSpPr>
          <p:cNvPr id="6" name="TextBox 5"/>
          <p:cNvSpPr txBox="1"/>
          <p:nvPr/>
        </p:nvSpPr>
        <p:spPr>
          <a:xfrm>
            <a:off x="6400800" y="1645920"/>
            <a:ext cx="2743200" cy="457200"/>
          </a:xfrm>
          <a:prstGeom prst="rect">
            <a:avLst/>
          </a:prstGeom>
          <a:noFill/>
        </p:spPr>
        <p:txBody>
          <a:bodyPr wrap="square">
            <a:spAutoFit/>
          </a:bodyPr>
          <a:lstStyle/>
          <a:p>
            <a:pPr algn="l">
              <a:lnSpc>
                <a:spcPts val="1680"/>
              </a:lnSpc>
              <a:spcAft>
                <a:spcPts val="0"/>
              </a:spcAft>
              <a:defRPr sz="1400" b="1">
                <a:solidFill>
                  <a:srgbClr val="3B82F6"/>
                </a:solidFill>
                <a:latin typeface="Fredoka"/>
              </a:defRPr>
            </a:pPr>
            <a:r>
              <a:t>MOBILE &amp; WEB</a:t>
            </a:r>
          </a:p>
        </p:txBody>
      </p:sp>
      <p:sp>
        <p:nvSpPr>
          <p:cNvPr id="7" name="TextBox 6"/>
          <p:cNvSpPr txBox="1"/>
          <p:nvPr/>
        </p:nvSpPr>
        <p:spPr>
          <a:xfrm>
            <a:off x="6400800" y="2103120"/>
            <a:ext cx="5029200" cy="4114800"/>
          </a:xfrm>
          <a:prstGeom prst="rect">
            <a:avLst/>
          </a:prstGeom>
          <a:noFill/>
        </p:spPr>
        <p:txBody>
          <a:bodyPr wrap="square">
            <a:spAutoFit/>
          </a:bodyPr>
          <a:lstStyle/>
          <a:p>
            <a:pPr algn="l">
              <a:spcAft>
                <a:spcPts val="0"/>
              </a:spcAft>
              <a:defRPr sz="1100" b="0">
                <a:solidFill>
                  <a:srgbClr val="E2E8F0"/>
                </a:solidFill>
                <a:latin typeface="JetBrains Mono"/>
              </a:defRPr>
            </a:pPr>
            <a:r>
              <a:t>▸  Expo SDK 54  •  React Native 0.81</a:t>
            </a:r>
          </a:p>
          <a:p>
            <a:pPr algn="l">
              <a:spcBef>
                <a:spcPts val="800"/>
              </a:spcBef>
              <a:spcAft>
                <a:spcPts val="0"/>
              </a:spcAft>
              <a:defRPr sz="1100" b="0">
                <a:solidFill>
                  <a:srgbClr val="E2E8F0"/>
                </a:solidFill>
                <a:latin typeface="JetBrains Mono"/>
              </a:defRPr>
            </a:pPr>
            <a:r>
              <a:t>▸  React 19  •  Expo Router 6</a:t>
            </a:r>
          </a:p>
          <a:p>
            <a:pPr algn="l">
              <a:spcBef>
                <a:spcPts val="800"/>
              </a:spcBef>
              <a:spcAft>
                <a:spcPts val="0"/>
              </a:spcAft>
              <a:defRPr sz="1100" b="0">
                <a:solidFill>
                  <a:srgbClr val="E2E8F0"/>
                </a:solidFill>
                <a:latin typeface="JetBrains Mono"/>
              </a:defRPr>
            </a:pPr>
            <a:r>
              <a:t>▸  NativeWind v4  •  TanStack Query v5</a:t>
            </a:r>
          </a:p>
          <a:p>
            <a:pPr algn="l">
              <a:spcBef>
                <a:spcPts val="800"/>
              </a:spcBef>
              <a:spcAft>
                <a:spcPts val="0"/>
              </a:spcAft>
              <a:defRPr sz="1100" b="0">
                <a:solidFill>
                  <a:srgbClr val="E2E8F0"/>
                </a:solidFill>
                <a:latin typeface="JetBrains Mono"/>
              </a:defRPr>
            </a:pPr>
            <a:r>
              <a:t>▸  Zustand v5 State Management</a:t>
            </a:r>
          </a:p>
          <a:p>
            <a:pPr algn="l">
              <a:spcBef>
                <a:spcPts val="800"/>
              </a:spcBef>
              <a:spcAft>
                <a:spcPts val="0"/>
              </a:spcAft>
              <a:defRPr sz="1100" b="0">
                <a:solidFill>
                  <a:srgbClr val="E2E8F0"/>
                </a:solidFill>
                <a:latin typeface="JetBrains Mono"/>
              </a:defRPr>
            </a:pPr>
            <a:r>
              <a:t>▸  @clerk/clerk-expo Auth</a:t>
            </a:r>
          </a:p>
          <a:p>
            <a:pPr algn="l">
              <a:spcBef>
                <a:spcPts val="800"/>
              </a:spcBef>
              <a:spcAft>
                <a:spcPts val="0"/>
              </a:spcAft>
              <a:defRPr sz="1100" b="0">
                <a:solidFill>
                  <a:srgbClr val="E2E8F0"/>
                </a:solidFill>
                <a:latin typeface="JetBrains Mono"/>
              </a:defRPr>
            </a:pPr>
            <a:r>
              <a:t>▸  react-native-maps + WebSocket</a:t>
            </a:r>
          </a:p>
          <a:p>
            <a:pPr algn="l">
              <a:spcBef>
                <a:spcPts val="800"/>
              </a:spcBef>
              <a:spcAft>
                <a:spcPts val="0"/>
              </a:spcAft>
              <a:defRPr sz="1100" b="0">
                <a:solidFill>
                  <a:srgbClr val="E2E8F0"/>
                </a:solidFill>
                <a:latin typeface="JetBrains Mono"/>
              </a:defRPr>
            </a:pPr>
            <a:r>
              <a:t>▸  Next.js 16 (Admin Console)</a:t>
            </a:r>
          </a:p>
          <a:p>
            <a:pPr algn="l">
              <a:spcBef>
                <a:spcPts val="800"/>
              </a:spcBef>
              <a:spcAft>
                <a:spcPts val="0"/>
              </a:spcAft>
              <a:defRPr sz="1100" b="0">
                <a:solidFill>
                  <a:srgbClr val="E2E8F0"/>
                </a:solidFill>
                <a:latin typeface="JetBrains Mono"/>
              </a:defRPr>
            </a:pPr>
            <a:r>
              <a:t>▸  Tailwind v4  •  Recharts</a:t>
            </a:r>
          </a:p>
          <a:p>
            <a:pPr algn="l">
              <a:spcBef>
                <a:spcPts val="800"/>
              </a:spcBef>
              <a:spcAft>
                <a:spcPts val="0"/>
              </a:spcAft>
              <a:defRPr sz="1100" b="0">
                <a:solidFill>
                  <a:srgbClr val="E2E8F0"/>
                </a:solidFill>
                <a:latin typeface="JetBrains Mono"/>
              </a:defRPr>
            </a:pPr>
            <a:r>
              <a:t>▸  Vercel Deployment (Console + Website)</a:t>
            </a:r>
          </a:p>
        </p:txBody>
      </p:sp>
      <p:sp>
        <p:nvSpPr>
          <p:cNvPr id="8" name="Rounded Rectangle 7"/>
          <p:cNvSpPr/>
          <p:nvPr/>
        </p:nvSpPr>
        <p:spPr>
          <a:xfrm>
            <a:off x="731520" y="5486400"/>
            <a:ext cx="10698480" cy="914400"/>
          </a:xfrm>
          <a:prstGeom prst="round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577840"/>
            <a:ext cx="10332720" cy="822960"/>
          </a:xfrm>
          <a:prstGeom prst="rect">
            <a:avLst/>
          </a:prstGeom>
          <a:noFill/>
        </p:spPr>
        <p:txBody>
          <a:bodyPr wrap="square">
            <a:spAutoFit/>
          </a:bodyPr>
          <a:lstStyle/>
          <a:p>
            <a:pPr algn="ctr">
              <a:lnSpc>
                <a:spcPts val="1650"/>
              </a:lnSpc>
              <a:spcAft>
                <a:spcPts val="0"/>
              </a:spcAft>
              <a:defRPr sz="1100" b="0">
                <a:solidFill>
                  <a:srgbClr val="E2E8F0"/>
                </a:solidFill>
                <a:latin typeface="Karla"/>
              </a:defRPr>
            </a:pPr>
            <a:r>
              <a:t>🏗️  Architecture Principle: One backend, one database, one pricing path. The console is a BFF — the browser never holds an API token.</a:t>
            </a:r>
            <a:br/>
            <a:r>
              <a:t>Geospatial: H3 hex indexing at resolution 8 with PostGIS ST_DWithin for exact-distance discovery.</a:t>
            </a:r>
          </a:p>
        </p:txBody>
      </p:sp>
      <p:sp>
        <p:nvSpPr>
          <p:cNvPr id="10" name="TextBox 9"/>
          <p:cNvSpPr txBox="1"/>
          <p:nvPr/>
        </p:nvSpPr>
        <p:spPr>
          <a:xfrm>
            <a:off x="10515600" y="6400800"/>
            <a:ext cx="1371600" cy="365760"/>
          </a:xfrm>
          <a:prstGeom prst="rect">
            <a:avLst/>
          </a:prstGeom>
          <a:noFill/>
        </p:spPr>
        <p:txBody>
          <a:bodyPr wrap="square">
            <a:spAutoFit/>
          </a:bodyPr>
          <a:lstStyle/>
          <a:p>
            <a:pPr algn="r">
              <a:lnSpc>
                <a:spcPts val="1080"/>
              </a:lnSpc>
              <a:spcAft>
                <a:spcPts val="0"/>
              </a:spcAft>
              <a:defRPr sz="900" b="0">
                <a:solidFill>
                  <a:srgbClr val="64748B"/>
                </a:solidFill>
                <a:latin typeface="Karla"/>
              </a:defRPr>
            </a:pPr>
            <a:r>
              <a:t>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48640"/>
            <a:ext cx="10058400" cy="731520"/>
          </a:xfrm>
          <a:prstGeom prst="rect">
            <a:avLst/>
          </a:prstGeom>
          <a:noFill/>
        </p:spPr>
        <p:txBody>
          <a:bodyPr wrap="square">
            <a:spAutoFit/>
          </a:bodyPr>
          <a:lstStyle/>
          <a:p>
            <a:pPr algn="l">
              <a:lnSpc>
                <a:spcPts val="4320"/>
              </a:lnSpc>
              <a:spcAft>
                <a:spcPts val="0"/>
              </a:spcAft>
              <a:defRPr sz="3600" b="1">
                <a:solidFill>
                  <a:srgbClr val="1E293B"/>
                </a:solidFill>
                <a:latin typeface="Fredoka"/>
              </a:defRPr>
            </a:pPr>
            <a:r>
              <a:t>Operations Console — 27 Screens</a:t>
            </a:r>
          </a:p>
        </p:txBody>
      </p:sp>
      <p:sp>
        <p:nvSpPr>
          <p:cNvPr id="3" name="Rectangle 2"/>
          <p:cNvSpPr/>
          <p:nvPr/>
        </p:nvSpPr>
        <p:spPr>
          <a:xfrm>
            <a:off x="731520" y="1234440"/>
            <a:ext cx="548640" cy="50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54480"/>
            <a:ext cx="10058400" cy="548640"/>
          </a:xfrm>
          <a:prstGeom prst="rect">
            <a:avLst/>
          </a:prstGeom>
          <a:noFill/>
        </p:spPr>
        <p:txBody>
          <a:bodyPr wrap="square">
            <a:spAutoFit/>
          </a:bodyPr>
          <a:lstStyle/>
          <a:p>
            <a:pPr algn="l">
              <a:lnSpc>
                <a:spcPts val="1680"/>
              </a:lnSpc>
              <a:spcAft>
                <a:spcPts val="0"/>
              </a:spcAft>
              <a:defRPr sz="1400" b="0">
                <a:solidFill>
                  <a:srgbClr val="64748B"/>
                </a:solidFill>
                <a:latin typeface="Karla"/>
              </a:defRPr>
            </a:pPr>
            <a:r>
              <a:t>Every page carries aggregates that tell an operator whether anything needs doing — not just tables with search boxes.</a:t>
            </a:r>
          </a:p>
        </p:txBody>
      </p:sp>
      <p:sp>
        <p:nvSpPr>
          <p:cNvPr id="5" name="Rounded Rectangle 4"/>
          <p:cNvSpPr/>
          <p:nvPr/>
        </p:nvSpPr>
        <p:spPr>
          <a:xfrm>
            <a:off x="731520" y="2286000"/>
            <a:ext cx="3383280" cy="2011680"/>
          </a:xfrm>
          <a:prstGeom prst="round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468880"/>
            <a:ext cx="2834640" cy="365760"/>
          </a:xfrm>
          <a:prstGeom prst="rect">
            <a:avLst/>
          </a:prstGeom>
          <a:noFill/>
        </p:spPr>
        <p:txBody>
          <a:bodyPr wrap="square">
            <a:spAutoFit/>
          </a:bodyPr>
          <a:lstStyle/>
          <a:p>
            <a:pPr algn="l">
              <a:lnSpc>
                <a:spcPts val="1680"/>
              </a:lnSpc>
              <a:spcAft>
                <a:spcPts val="0"/>
              </a:spcAft>
              <a:defRPr sz="1400" b="1">
                <a:solidFill>
                  <a:srgbClr val="1D4ED8"/>
                </a:solidFill>
                <a:latin typeface="Fredoka"/>
              </a:defRPr>
            </a:pPr>
            <a:r>
              <a:t>🔧 Operations</a:t>
            </a:r>
          </a:p>
        </p:txBody>
      </p:sp>
      <p:sp>
        <p:nvSpPr>
          <p:cNvPr id="7" name="TextBox 6"/>
          <p:cNvSpPr txBox="1"/>
          <p:nvPr/>
        </p:nvSpPr>
        <p:spPr>
          <a:xfrm>
            <a:off x="1005840" y="2880360"/>
            <a:ext cx="2834640" cy="1280160"/>
          </a:xfrm>
          <a:prstGeom prst="rect">
            <a:avLst/>
          </a:prstGeom>
          <a:noFill/>
        </p:spPr>
        <p:txBody>
          <a:bodyPr wrap="square">
            <a:spAutoFit/>
          </a:bodyPr>
          <a:lstStyle/>
          <a:p>
            <a:pPr algn="l">
              <a:lnSpc>
                <a:spcPts val="1650"/>
              </a:lnSpc>
              <a:spcAft>
                <a:spcPts val="0"/>
              </a:spcAft>
              <a:defRPr sz="1100" b="0">
                <a:solidFill>
                  <a:srgbClr val="64748B"/>
                </a:solidFill>
                <a:latin typeface="Karla"/>
              </a:defRPr>
            </a:pPr>
            <a:r>
              <a:t>Orders board  •  KYC Verification  •  Live Map  •  Catalogue</a:t>
            </a:r>
            <a:br/>
            <a:r>
              <a:t>Bottle Float  •  Vendor Verification  •  Disputes  •  Reviews</a:t>
            </a:r>
            <a:br/>
            <a:r>
              <a:t>Delivery Replay</a:t>
            </a:r>
          </a:p>
        </p:txBody>
      </p:sp>
      <p:sp>
        <p:nvSpPr>
          <p:cNvPr id="8" name="Rounded Rectangle 7"/>
          <p:cNvSpPr/>
          <p:nvPr/>
        </p:nvSpPr>
        <p:spPr>
          <a:xfrm>
            <a:off x="4389120" y="2286000"/>
            <a:ext cx="3383280" cy="2011680"/>
          </a:xfrm>
          <a:prstGeom prst="round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63440" y="2468880"/>
            <a:ext cx="2834640" cy="365760"/>
          </a:xfrm>
          <a:prstGeom prst="rect">
            <a:avLst/>
          </a:prstGeom>
          <a:noFill/>
        </p:spPr>
        <p:txBody>
          <a:bodyPr wrap="square">
            <a:spAutoFit/>
          </a:bodyPr>
          <a:lstStyle/>
          <a:p>
            <a:pPr algn="l">
              <a:lnSpc>
                <a:spcPts val="1680"/>
              </a:lnSpc>
              <a:spcAft>
                <a:spcPts val="0"/>
              </a:spcAft>
              <a:defRPr sz="1400" b="1">
                <a:solidFill>
                  <a:srgbClr val="1D4ED8"/>
                </a:solidFill>
                <a:latin typeface="Fredoka"/>
              </a:defRPr>
            </a:pPr>
            <a:r>
              <a:t>👥 People</a:t>
            </a:r>
          </a:p>
        </p:txBody>
      </p:sp>
      <p:sp>
        <p:nvSpPr>
          <p:cNvPr id="10" name="TextBox 9"/>
          <p:cNvSpPr txBox="1"/>
          <p:nvPr/>
        </p:nvSpPr>
        <p:spPr>
          <a:xfrm>
            <a:off x="4663440" y="2880360"/>
            <a:ext cx="2834640" cy="1280160"/>
          </a:xfrm>
          <a:prstGeom prst="rect">
            <a:avLst/>
          </a:prstGeom>
          <a:noFill/>
        </p:spPr>
        <p:txBody>
          <a:bodyPr wrap="square">
            <a:spAutoFit/>
          </a:bodyPr>
          <a:lstStyle/>
          <a:p>
            <a:pPr algn="l">
              <a:lnSpc>
                <a:spcPts val="1650"/>
              </a:lnSpc>
              <a:spcAft>
                <a:spcPts val="0"/>
              </a:spcAft>
              <a:defRPr sz="1100" b="0">
                <a:solidFill>
                  <a:srgbClr val="64748B"/>
                </a:solidFill>
                <a:latin typeface="Karla"/>
              </a:defRPr>
            </a:pPr>
            <a:r>
              <a:t>Performance Dashboard  •  Fleet Management</a:t>
            </a:r>
            <a:br/>
            <a:r>
              <a:t>Customers  •  Riders  •  Vendors</a:t>
            </a:r>
          </a:p>
        </p:txBody>
      </p:sp>
      <p:sp>
        <p:nvSpPr>
          <p:cNvPr id="11" name="Rounded Rectangle 10"/>
          <p:cNvSpPr/>
          <p:nvPr/>
        </p:nvSpPr>
        <p:spPr>
          <a:xfrm>
            <a:off x="8046720" y="2286000"/>
            <a:ext cx="3383280" cy="2011680"/>
          </a:xfrm>
          <a:prstGeom prst="round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2468880"/>
            <a:ext cx="2834640" cy="365760"/>
          </a:xfrm>
          <a:prstGeom prst="rect">
            <a:avLst/>
          </a:prstGeom>
          <a:noFill/>
        </p:spPr>
        <p:txBody>
          <a:bodyPr wrap="square">
            <a:spAutoFit/>
          </a:bodyPr>
          <a:lstStyle/>
          <a:p>
            <a:pPr algn="l">
              <a:lnSpc>
                <a:spcPts val="1680"/>
              </a:lnSpc>
              <a:spcAft>
                <a:spcPts val="0"/>
              </a:spcAft>
              <a:defRPr sz="1400" b="1">
                <a:solidFill>
                  <a:srgbClr val="1D4ED8"/>
                </a:solidFill>
                <a:latin typeface="Fredoka"/>
              </a:defRPr>
            </a:pPr>
            <a:r>
              <a:t>💵 Finance</a:t>
            </a:r>
          </a:p>
        </p:txBody>
      </p:sp>
      <p:sp>
        <p:nvSpPr>
          <p:cNvPr id="13" name="TextBox 12"/>
          <p:cNvSpPr txBox="1"/>
          <p:nvPr/>
        </p:nvSpPr>
        <p:spPr>
          <a:xfrm>
            <a:off x="8321040" y="2880360"/>
            <a:ext cx="2834640" cy="1280160"/>
          </a:xfrm>
          <a:prstGeom prst="rect">
            <a:avLst/>
          </a:prstGeom>
          <a:noFill/>
        </p:spPr>
        <p:txBody>
          <a:bodyPr wrap="square">
            <a:spAutoFit/>
          </a:bodyPr>
          <a:lstStyle/>
          <a:p>
            <a:pPr algn="l">
              <a:lnSpc>
                <a:spcPts val="1650"/>
              </a:lnSpc>
              <a:spcAft>
                <a:spcPts val="0"/>
              </a:spcAft>
              <a:defRPr sz="1100" b="0">
                <a:solidFill>
                  <a:srgbClr val="64748B"/>
                </a:solidFill>
                <a:latin typeface="Karla"/>
              </a:defRPr>
            </a:pPr>
            <a:r>
              <a:t>Payouts  •  Transactions</a:t>
            </a:r>
            <a:br/>
            <a:r>
              <a:t>Reconciliation  •  Settlement</a:t>
            </a:r>
          </a:p>
        </p:txBody>
      </p:sp>
      <p:sp>
        <p:nvSpPr>
          <p:cNvPr id="14" name="Rounded Rectangle 13"/>
          <p:cNvSpPr/>
          <p:nvPr/>
        </p:nvSpPr>
        <p:spPr>
          <a:xfrm>
            <a:off x="731520" y="4572000"/>
            <a:ext cx="5029200" cy="2011680"/>
          </a:xfrm>
          <a:prstGeom prst="round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754880"/>
            <a:ext cx="4480560" cy="365760"/>
          </a:xfrm>
          <a:prstGeom prst="rect">
            <a:avLst/>
          </a:prstGeom>
          <a:noFill/>
        </p:spPr>
        <p:txBody>
          <a:bodyPr wrap="square">
            <a:spAutoFit/>
          </a:bodyPr>
          <a:lstStyle/>
          <a:p>
            <a:pPr algn="l">
              <a:lnSpc>
                <a:spcPts val="1680"/>
              </a:lnSpc>
              <a:spcAft>
                <a:spcPts val="0"/>
              </a:spcAft>
              <a:defRPr sz="1400" b="1">
                <a:solidFill>
                  <a:srgbClr val="1D4ED8"/>
                </a:solidFill>
                <a:latin typeface="Fredoka"/>
              </a:defRPr>
            </a:pPr>
            <a:r>
              <a:t>🎧 Support</a:t>
            </a:r>
          </a:p>
        </p:txBody>
      </p:sp>
      <p:sp>
        <p:nvSpPr>
          <p:cNvPr id="16" name="TextBox 15"/>
          <p:cNvSpPr txBox="1"/>
          <p:nvPr/>
        </p:nvSpPr>
        <p:spPr>
          <a:xfrm>
            <a:off x="1005840" y="5166360"/>
            <a:ext cx="4480560" cy="1280160"/>
          </a:xfrm>
          <a:prstGeom prst="rect">
            <a:avLst/>
          </a:prstGeom>
          <a:noFill/>
        </p:spPr>
        <p:txBody>
          <a:bodyPr wrap="square">
            <a:spAutoFit/>
          </a:bodyPr>
          <a:lstStyle/>
          <a:p>
            <a:pPr algn="l">
              <a:lnSpc>
                <a:spcPts val="1650"/>
              </a:lnSpc>
              <a:spcAft>
                <a:spcPts val="0"/>
              </a:spcAft>
              <a:defRPr sz="1100" b="0">
                <a:solidFill>
                  <a:srgbClr val="64748B"/>
                </a:solidFill>
                <a:latin typeface="Karla"/>
              </a:defRPr>
            </a:pPr>
            <a:r>
              <a:t>Ticket Inbox</a:t>
            </a:r>
            <a:br/>
            <a:r>
              <a:t>Threaded Conversations</a:t>
            </a:r>
          </a:p>
        </p:txBody>
      </p:sp>
      <p:sp>
        <p:nvSpPr>
          <p:cNvPr id="17" name="Rounded Rectangle 16"/>
          <p:cNvSpPr/>
          <p:nvPr/>
        </p:nvSpPr>
        <p:spPr>
          <a:xfrm>
            <a:off x="6217920" y="4572000"/>
            <a:ext cx="5029200" cy="2011680"/>
          </a:xfrm>
          <a:prstGeom prst="round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0" y="4754880"/>
            <a:ext cx="4480560" cy="365760"/>
          </a:xfrm>
          <a:prstGeom prst="rect">
            <a:avLst/>
          </a:prstGeom>
          <a:noFill/>
        </p:spPr>
        <p:txBody>
          <a:bodyPr wrap="square">
            <a:spAutoFit/>
          </a:bodyPr>
          <a:lstStyle/>
          <a:p>
            <a:pPr algn="l">
              <a:lnSpc>
                <a:spcPts val="1680"/>
              </a:lnSpc>
              <a:spcAft>
                <a:spcPts val="0"/>
              </a:spcAft>
              <a:defRPr sz="1400" b="1">
                <a:solidFill>
                  <a:srgbClr val="1D4ED8"/>
                </a:solidFill>
                <a:latin typeface="Fredoka"/>
              </a:defRPr>
            </a:pPr>
            <a:r>
              <a:t>⚙️ Platform</a:t>
            </a:r>
          </a:p>
        </p:txBody>
      </p:sp>
      <p:sp>
        <p:nvSpPr>
          <p:cNvPr id="19" name="TextBox 18"/>
          <p:cNvSpPr txBox="1"/>
          <p:nvPr/>
        </p:nvSpPr>
        <p:spPr>
          <a:xfrm>
            <a:off x="6492240" y="5166360"/>
            <a:ext cx="4480560" cy="1280160"/>
          </a:xfrm>
          <a:prstGeom prst="rect">
            <a:avLst/>
          </a:prstGeom>
          <a:noFill/>
        </p:spPr>
        <p:txBody>
          <a:bodyPr wrap="square">
            <a:spAutoFit/>
          </a:bodyPr>
          <a:lstStyle/>
          <a:p>
            <a:pPr algn="l">
              <a:lnSpc>
                <a:spcPts val="1650"/>
              </a:lnSpc>
              <a:spcAft>
                <a:spcPts val="0"/>
              </a:spcAft>
              <a:defRPr sz="1100" b="0">
                <a:solidFill>
                  <a:srgbClr val="64748B"/>
                </a:solidFill>
                <a:latin typeface="Karla"/>
              </a:defRPr>
            </a:pPr>
            <a:r>
              <a:t>Administrators  •  Audit Log  •  Notifications</a:t>
            </a:r>
            <a:br/>
            <a:r>
              <a:t>Broadcast  •  Pricing (34 settings)  •  Settings</a:t>
            </a:r>
          </a:p>
        </p:txBody>
      </p:sp>
      <p:sp>
        <p:nvSpPr>
          <p:cNvPr id="20" name="TextBox 19"/>
          <p:cNvSpPr txBox="1"/>
          <p:nvPr/>
        </p:nvSpPr>
        <p:spPr>
          <a:xfrm>
            <a:off x="731520" y="6400800"/>
            <a:ext cx="3657600" cy="365760"/>
          </a:xfrm>
          <a:prstGeom prst="rect">
            <a:avLst/>
          </a:prstGeom>
          <a:noFill/>
        </p:spPr>
        <p:txBody>
          <a:bodyPr wrap="square">
            <a:spAutoFit/>
          </a:bodyPr>
          <a:lstStyle/>
          <a:p>
            <a:pPr algn="l">
              <a:lnSpc>
                <a:spcPts val="1080"/>
              </a:lnSpc>
              <a:spcAft>
                <a:spcPts val="0"/>
              </a:spcAft>
              <a:defRPr sz="900" b="0">
                <a:solidFill>
                  <a:srgbClr val="64748B"/>
                </a:solidFill>
                <a:latin typeface="Fredoka"/>
              </a:defRPr>
            </a:pPr>
            <a:r>
              <a:t>💧 Drop — Multivendor Water Delivery Platform</a:t>
            </a:r>
          </a:p>
        </p:txBody>
      </p:sp>
      <p:sp>
        <p:nvSpPr>
          <p:cNvPr id="21" name="TextBox 20"/>
          <p:cNvSpPr txBox="1"/>
          <p:nvPr/>
        </p:nvSpPr>
        <p:spPr>
          <a:xfrm>
            <a:off x="10515600" y="6400800"/>
            <a:ext cx="1371600" cy="365760"/>
          </a:xfrm>
          <a:prstGeom prst="rect">
            <a:avLst/>
          </a:prstGeom>
          <a:noFill/>
        </p:spPr>
        <p:txBody>
          <a:bodyPr wrap="square">
            <a:spAutoFit/>
          </a:bodyPr>
          <a:lstStyle/>
          <a:p>
            <a:pPr algn="r">
              <a:lnSpc>
                <a:spcPts val="1080"/>
              </a:lnSpc>
              <a:spcAft>
                <a:spcPts val="0"/>
              </a:spcAft>
              <a:defRPr sz="900" b="0">
                <a:solidFill>
                  <a:srgbClr val="64748B"/>
                </a:solidFill>
                <a:latin typeface="Karla"/>
              </a:defRPr>
            </a:pPr>
            <a:r>
              <a:t>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48640"/>
            <a:ext cx="10058400" cy="731520"/>
          </a:xfrm>
          <a:prstGeom prst="rect">
            <a:avLst/>
          </a:prstGeom>
          <a:noFill/>
        </p:spPr>
        <p:txBody>
          <a:bodyPr wrap="square">
            <a:spAutoFit/>
          </a:bodyPr>
          <a:lstStyle/>
          <a:p>
            <a:pPr algn="l">
              <a:lnSpc>
                <a:spcPts val="4320"/>
              </a:lnSpc>
              <a:spcAft>
                <a:spcPts val="0"/>
              </a:spcAft>
              <a:defRPr sz="3600" b="1">
                <a:solidFill>
                  <a:srgbClr val="1E293B"/>
                </a:solidFill>
                <a:latin typeface="Fredoka"/>
              </a:defRPr>
            </a:pPr>
            <a:r>
              <a:t>Security &amp; Guardrails</a:t>
            </a:r>
          </a:p>
        </p:txBody>
      </p:sp>
      <p:sp>
        <p:nvSpPr>
          <p:cNvPr id="3" name="Rectangle 2"/>
          <p:cNvSpPr/>
          <p:nvPr/>
        </p:nvSpPr>
        <p:spPr>
          <a:xfrm>
            <a:off x="731520" y="1234440"/>
            <a:ext cx="548640" cy="50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54480"/>
            <a:ext cx="10058400" cy="457200"/>
          </a:xfrm>
          <a:prstGeom prst="rect">
            <a:avLst/>
          </a:prstGeom>
          <a:noFill/>
        </p:spPr>
        <p:txBody>
          <a:bodyPr wrap="square">
            <a:spAutoFit/>
          </a:bodyPr>
          <a:lstStyle/>
          <a:p>
            <a:pPr algn="l">
              <a:lnSpc>
                <a:spcPts val="1680"/>
              </a:lnSpc>
              <a:spcAft>
                <a:spcPts val="0"/>
              </a:spcAft>
              <a:defRPr sz="1400" b="0">
                <a:solidFill>
                  <a:srgbClr val="64748B"/>
                </a:solidFill>
                <a:latin typeface="Karla"/>
              </a:defRPr>
            </a:pPr>
            <a:r>
              <a:t>Platform-wide invariants enforced by tests that fail the build — not just documented rules.</a:t>
            </a:r>
          </a:p>
        </p:txBody>
      </p:sp>
      <p:sp>
        <p:nvSpPr>
          <p:cNvPr id="5" name="Rounded Rectangle 4"/>
          <p:cNvSpPr/>
          <p:nvPr/>
        </p:nvSpPr>
        <p:spPr>
          <a:xfrm>
            <a:off x="731520" y="2194560"/>
            <a:ext cx="5394960" cy="1325880"/>
          </a:xfrm>
          <a:prstGeom prst="round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331720"/>
            <a:ext cx="4846320" cy="365760"/>
          </a:xfrm>
          <a:prstGeom prst="rect">
            <a:avLst/>
          </a:prstGeom>
          <a:noFill/>
        </p:spPr>
        <p:txBody>
          <a:bodyPr wrap="square">
            <a:spAutoFit/>
          </a:bodyPr>
          <a:lstStyle/>
          <a:p>
            <a:pPr algn="l">
              <a:lnSpc>
                <a:spcPts val="1680"/>
              </a:lnSpc>
              <a:spcAft>
                <a:spcPts val="0"/>
              </a:spcAft>
              <a:defRPr sz="1400" b="1">
                <a:solidFill>
                  <a:srgbClr val="1D4ED8"/>
                </a:solidFill>
                <a:latin typeface="Fredoka"/>
              </a:defRPr>
            </a:pPr>
            <a:r>
              <a:t>🔒  Financial Integrity</a:t>
            </a:r>
          </a:p>
        </p:txBody>
      </p:sp>
      <p:sp>
        <p:nvSpPr>
          <p:cNvPr id="7" name="TextBox 6"/>
          <p:cNvSpPr txBox="1"/>
          <p:nvPr/>
        </p:nvSpPr>
        <p:spPr>
          <a:xfrm>
            <a:off x="1005840" y="2697480"/>
            <a:ext cx="4846320" cy="731520"/>
          </a:xfrm>
          <a:prstGeom prst="rect">
            <a:avLst/>
          </a:prstGeom>
          <a:noFill/>
        </p:spPr>
        <p:txBody>
          <a:bodyPr wrap="square">
            <a:spAutoFit/>
          </a:bodyPr>
          <a:lstStyle/>
          <a:p>
            <a:pPr algn="l">
              <a:lnSpc>
                <a:spcPts val="1539"/>
              </a:lnSpc>
              <a:spcAft>
                <a:spcPts val="0"/>
              </a:spcAft>
              <a:defRPr sz="1100" b="0">
                <a:solidFill>
                  <a:srgbClr val="64748B"/>
                </a:solidFill>
                <a:latin typeface="Karla"/>
              </a:defRPr>
            </a:pPr>
            <a:r>
              <a:t>Money is Decimal, never float — from DB through API to the formatted string. One quote, one charge, one stored total.</a:t>
            </a:r>
          </a:p>
        </p:txBody>
      </p:sp>
      <p:sp>
        <p:nvSpPr>
          <p:cNvPr id="8" name="Rounded Rectangle 7"/>
          <p:cNvSpPr/>
          <p:nvPr/>
        </p:nvSpPr>
        <p:spPr>
          <a:xfrm>
            <a:off x="6400800" y="2194560"/>
            <a:ext cx="5394960" cy="1325880"/>
          </a:xfrm>
          <a:prstGeom prst="round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2331720"/>
            <a:ext cx="4846320" cy="365760"/>
          </a:xfrm>
          <a:prstGeom prst="rect">
            <a:avLst/>
          </a:prstGeom>
          <a:noFill/>
        </p:spPr>
        <p:txBody>
          <a:bodyPr wrap="square">
            <a:spAutoFit/>
          </a:bodyPr>
          <a:lstStyle/>
          <a:p>
            <a:pPr algn="l">
              <a:lnSpc>
                <a:spcPts val="1680"/>
              </a:lnSpc>
              <a:spcAft>
                <a:spcPts val="0"/>
              </a:spcAft>
              <a:defRPr sz="1400" b="1">
                <a:solidFill>
                  <a:srgbClr val="1D4ED8"/>
                </a:solidFill>
                <a:latin typeface="Fredoka"/>
              </a:defRPr>
            </a:pPr>
            <a:r>
              <a:t>🛡️  Auth &amp; Access Control</a:t>
            </a:r>
          </a:p>
        </p:txBody>
      </p:sp>
      <p:sp>
        <p:nvSpPr>
          <p:cNvPr id="10" name="TextBox 9"/>
          <p:cNvSpPr txBox="1"/>
          <p:nvPr/>
        </p:nvSpPr>
        <p:spPr>
          <a:xfrm>
            <a:off x="6675120" y="2697480"/>
            <a:ext cx="4846320" cy="731520"/>
          </a:xfrm>
          <a:prstGeom prst="rect">
            <a:avLst/>
          </a:prstGeom>
          <a:noFill/>
        </p:spPr>
        <p:txBody>
          <a:bodyPr wrap="square">
            <a:spAutoFit/>
          </a:bodyPr>
          <a:lstStyle/>
          <a:p>
            <a:pPr algn="l">
              <a:lnSpc>
                <a:spcPts val="1539"/>
              </a:lnSpc>
              <a:spcAft>
                <a:spcPts val="0"/>
              </a:spcAft>
              <a:defRPr sz="1100" b="0">
                <a:solidFill>
                  <a:srgbClr val="64748B"/>
                </a:solidFill>
                <a:latin typeface="Karla"/>
              </a:defRPr>
            </a:pPr>
            <a:r>
              <a:t>Clerk RS256 JWT verification. Every order endpoint calls authorise_order_access. 26 admin capabilities, role-based presets.</a:t>
            </a:r>
          </a:p>
        </p:txBody>
      </p:sp>
      <p:sp>
        <p:nvSpPr>
          <p:cNvPr id="11" name="Rounded Rectangle 10"/>
          <p:cNvSpPr/>
          <p:nvPr/>
        </p:nvSpPr>
        <p:spPr>
          <a:xfrm>
            <a:off x="731520" y="3703320"/>
            <a:ext cx="5394960" cy="1325880"/>
          </a:xfrm>
          <a:prstGeom prst="round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840480"/>
            <a:ext cx="4846320" cy="365760"/>
          </a:xfrm>
          <a:prstGeom prst="rect">
            <a:avLst/>
          </a:prstGeom>
          <a:noFill/>
        </p:spPr>
        <p:txBody>
          <a:bodyPr wrap="square">
            <a:spAutoFit/>
          </a:bodyPr>
          <a:lstStyle/>
          <a:p>
            <a:pPr algn="l">
              <a:lnSpc>
                <a:spcPts val="1680"/>
              </a:lnSpc>
              <a:spcAft>
                <a:spcPts val="0"/>
              </a:spcAft>
              <a:defRPr sz="1400" b="1">
                <a:solidFill>
                  <a:srgbClr val="1D4ED8"/>
                </a:solidFill>
                <a:latin typeface="Fredoka"/>
              </a:defRPr>
            </a:pPr>
            <a:r>
              <a:t>📸  Proof of Delivery</a:t>
            </a:r>
          </a:p>
        </p:txBody>
      </p:sp>
      <p:sp>
        <p:nvSpPr>
          <p:cNvPr id="13" name="TextBox 12"/>
          <p:cNvSpPr txBox="1"/>
          <p:nvPr/>
        </p:nvSpPr>
        <p:spPr>
          <a:xfrm>
            <a:off x="1005840" y="4206240"/>
            <a:ext cx="4846320" cy="731520"/>
          </a:xfrm>
          <a:prstGeom prst="rect">
            <a:avLst/>
          </a:prstGeom>
          <a:noFill/>
        </p:spPr>
        <p:txBody>
          <a:bodyPr wrap="square">
            <a:spAutoFit/>
          </a:bodyPr>
          <a:lstStyle/>
          <a:p>
            <a:pPr algn="l">
              <a:lnSpc>
                <a:spcPts val="1539"/>
              </a:lnSpc>
              <a:spcAft>
                <a:spcPts val="0"/>
              </a:spcAft>
              <a:defRPr sz="1100" b="0">
                <a:solidFill>
                  <a:srgbClr val="64748B"/>
                </a:solidFill>
                <a:latin typeface="Karla"/>
              </a:defRPr>
            </a:pPr>
            <a:r>
              <a:t>Photo proof mandatory on bottle deficit. Verification wall blocks riders until KYC approved. Identity documents presigned for 5 min.</a:t>
            </a:r>
          </a:p>
        </p:txBody>
      </p:sp>
      <p:sp>
        <p:nvSpPr>
          <p:cNvPr id="14" name="Rounded Rectangle 13"/>
          <p:cNvSpPr/>
          <p:nvPr/>
        </p:nvSpPr>
        <p:spPr>
          <a:xfrm>
            <a:off x="6400800" y="3703320"/>
            <a:ext cx="5394960" cy="1325880"/>
          </a:xfrm>
          <a:prstGeom prst="round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0" y="3840480"/>
            <a:ext cx="4846320" cy="365760"/>
          </a:xfrm>
          <a:prstGeom prst="rect">
            <a:avLst/>
          </a:prstGeom>
          <a:noFill/>
        </p:spPr>
        <p:txBody>
          <a:bodyPr wrap="square">
            <a:spAutoFit/>
          </a:bodyPr>
          <a:lstStyle/>
          <a:p>
            <a:pPr algn="l">
              <a:lnSpc>
                <a:spcPts val="1680"/>
              </a:lnSpc>
              <a:spcAft>
                <a:spcPts val="0"/>
              </a:spcAft>
              <a:defRPr sz="1400" b="1">
                <a:solidFill>
                  <a:srgbClr val="1D4ED8"/>
                </a:solidFill>
                <a:latin typeface="Fredoka"/>
              </a:defRPr>
            </a:pPr>
            <a:r>
              <a:t>🔐  Zero-Trust Console</a:t>
            </a:r>
          </a:p>
        </p:txBody>
      </p:sp>
      <p:sp>
        <p:nvSpPr>
          <p:cNvPr id="16" name="TextBox 15"/>
          <p:cNvSpPr txBox="1"/>
          <p:nvPr/>
        </p:nvSpPr>
        <p:spPr>
          <a:xfrm>
            <a:off x="6675120" y="4206240"/>
            <a:ext cx="4846320" cy="731520"/>
          </a:xfrm>
          <a:prstGeom prst="rect">
            <a:avLst/>
          </a:prstGeom>
          <a:noFill/>
        </p:spPr>
        <p:txBody>
          <a:bodyPr wrap="square">
            <a:spAutoFit/>
          </a:bodyPr>
          <a:lstStyle/>
          <a:p>
            <a:pPr algn="l">
              <a:lnSpc>
                <a:spcPts val="1539"/>
              </a:lnSpc>
              <a:spcAft>
                <a:spcPts val="0"/>
              </a:spcAft>
              <a:defRPr sz="1100" b="0">
                <a:solidFill>
                  <a:srgbClr val="64748B"/>
                </a:solidFill>
                <a:latin typeface="Karla"/>
              </a:defRPr>
            </a:pPr>
            <a:r>
              <a:t>BFF architecture — browser never holds API token. No retry on reversals. Every mutation audited with written reason.</a:t>
            </a:r>
          </a:p>
        </p:txBody>
      </p:sp>
      <p:sp>
        <p:nvSpPr>
          <p:cNvPr id="17" name="Rounded Rectangle 16"/>
          <p:cNvSpPr/>
          <p:nvPr/>
        </p:nvSpPr>
        <p:spPr>
          <a:xfrm>
            <a:off x="731520" y="5212079"/>
            <a:ext cx="5394960" cy="1325880"/>
          </a:xfrm>
          <a:prstGeom prst="round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349239"/>
            <a:ext cx="4846320" cy="365760"/>
          </a:xfrm>
          <a:prstGeom prst="rect">
            <a:avLst/>
          </a:prstGeom>
          <a:noFill/>
        </p:spPr>
        <p:txBody>
          <a:bodyPr wrap="square">
            <a:spAutoFit/>
          </a:bodyPr>
          <a:lstStyle/>
          <a:p>
            <a:pPr algn="l">
              <a:lnSpc>
                <a:spcPts val="1680"/>
              </a:lnSpc>
              <a:spcAft>
                <a:spcPts val="0"/>
              </a:spcAft>
              <a:defRPr sz="1400" b="1">
                <a:solidFill>
                  <a:srgbClr val="1D4ED8"/>
                </a:solidFill>
                <a:latin typeface="Fredoka"/>
              </a:defRPr>
            </a:pPr>
            <a:r>
              <a:t>⚡  Concurrency Safety</a:t>
            </a:r>
          </a:p>
        </p:txBody>
      </p:sp>
      <p:sp>
        <p:nvSpPr>
          <p:cNvPr id="19" name="TextBox 18"/>
          <p:cNvSpPr txBox="1"/>
          <p:nvPr/>
        </p:nvSpPr>
        <p:spPr>
          <a:xfrm>
            <a:off x="1005840" y="5714999"/>
            <a:ext cx="4846320" cy="731520"/>
          </a:xfrm>
          <a:prstGeom prst="rect">
            <a:avLst/>
          </a:prstGeom>
          <a:noFill/>
        </p:spPr>
        <p:txBody>
          <a:bodyPr wrap="square">
            <a:spAutoFit/>
          </a:bodyPr>
          <a:lstStyle/>
          <a:p>
            <a:pPr algn="l">
              <a:lnSpc>
                <a:spcPts val="1539"/>
              </a:lnSpc>
              <a:spcAft>
                <a:spcPts val="0"/>
              </a:spcAft>
              <a:defRPr sz="1100" b="0">
                <a:solidFill>
                  <a:srgbClr val="64748B"/>
                </a:solidFill>
                <a:latin typeface="Karla"/>
              </a:defRPr>
            </a:pPr>
            <a:r>
              <a:t>FOR UPDATE ... SKIP LOCKED on all sweeps. Commit-per-item. Two sanctioned push paths only — bare create_task fails the build.</a:t>
            </a:r>
          </a:p>
        </p:txBody>
      </p:sp>
      <p:sp>
        <p:nvSpPr>
          <p:cNvPr id="20" name="Rounded Rectangle 19"/>
          <p:cNvSpPr/>
          <p:nvPr/>
        </p:nvSpPr>
        <p:spPr>
          <a:xfrm>
            <a:off x="6400800" y="5212079"/>
            <a:ext cx="5394960" cy="1325880"/>
          </a:xfrm>
          <a:prstGeom prst="round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0" y="5349239"/>
            <a:ext cx="4846320" cy="365760"/>
          </a:xfrm>
          <a:prstGeom prst="rect">
            <a:avLst/>
          </a:prstGeom>
          <a:noFill/>
        </p:spPr>
        <p:txBody>
          <a:bodyPr wrap="square">
            <a:spAutoFit/>
          </a:bodyPr>
          <a:lstStyle/>
          <a:p>
            <a:pPr algn="l">
              <a:lnSpc>
                <a:spcPts val="1680"/>
              </a:lnSpc>
              <a:spcAft>
                <a:spcPts val="0"/>
              </a:spcAft>
              <a:defRPr sz="1400" b="1">
                <a:solidFill>
                  <a:srgbClr val="1D4ED8"/>
                </a:solidFill>
                <a:latin typeface="Fredoka"/>
              </a:defRPr>
            </a:pPr>
            <a:r>
              <a:t>🧪  Structural Tests</a:t>
            </a:r>
          </a:p>
        </p:txBody>
      </p:sp>
      <p:sp>
        <p:nvSpPr>
          <p:cNvPr id="22" name="TextBox 21"/>
          <p:cNvSpPr txBox="1"/>
          <p:nvPr/>
        </p:nvSpPr>
        <p:spPr>
          <a:xfrm>
            <a:off x="6675120" y="5714999"/>
            <a:ext cx="4846320" cy="731520"/>
          </a:xfrm>
          <a:prstGeom prst="rect">
            <a:avLst/>
          </a:prstGeom>
          <a:noFill/>
        </p:spPr>
        <p:txBody>
          <a:bodyPr wrap="square">
            <a:spAutoFit/>
          </a:bodyPr>
          <a:lstStyle/>
          <a:p>
            <a:pPr algn="l">
              <a:lnSpc>
                <a:spcPts val="1539"/>
              </a:lnSpc>
              <a:spcAft>
                <a:spcPts val="0"/>
              </a:spcAft>
              <a:defRPr sz="1100" b="0">
                <a:solidFill>
                  <a:srgbClr val="64748B"/>
                </a:solidFill>
                <a:latin typeface="Karla"/>
              </a:defRPr>
            </a:pPr>
            <a:r>
              <a:t>704 tests including AST walkers that reject: unguarded routes, missing capability checks, bypassed proof checks, retry buttons on settlements.</a:t>
            </a:r>
          </a:p>
        </p:txBody>
      </p:sp>
      <p:sp>
        <p:nvSpPr>
          <p:cNvPr id="23" name="TextBox 22"/>
          <p:cNvSpPr txBox="1"/>
          <p:nvPr/>
        </p:nvSpPr>
        <p:spPr>
          <a:xfrm>
            <a:off x="731520" y="6400800"/>
            <a:ext cx="3657600" cy="365760"/>
          </a:xfrm>
          <a:prstGeom prst="rect">
            <a:avLst/>
          </a:prstGeom>
          <a:noFill/>
        </p:spPr>
        <p:txBody>
          <a:bodyPr wrap="square">
            <a:spAutoFit/>
          </a:bodyPr>
          <a:lstStyle/>
          <a:p>
            <a:pPr algn="l">
              <a:lnSpc>
                <a:spcPts val="1080"/>
              </a:lnSpc>
              <a:spcAft>
                <a:spcPts val="0"/>
              </a:spcAft>
              <a:defRPr sz="900" b="0">
                <a:solidFill>
                  <a:srgbClr val="64748B"/>
                </a:solidFill>
                <a:latin typeface="Fredoka"/>
              </a:defRPr>
            </a:pPr>
            <a:r>
              <a:t>💧 Drop — Multivendor Water Delivery Platform</a:t>
            </a:r>
          </a:p>
        </p:txBody>
      </p:sp>
      <p:sp>
        <p:nvSpPr>
          <p:cNvPr id="24" name="TextBox 23"/>
          <p:cNvSpPr txBox="1"/>
          <p:nvPr/>
        </p:nvSpPr>
        <p:spPr>
          <a:xfrm>
            <a:off x="10515600" y="6400800"/>
            <a:ext cx="1371600" cy="365760"/>
          </a:xfrm>
          <a:prstGeom prst="rect">
            <a:avLst/>
          </a:prstGeom>
          <a:noFill/>
        </p:spPr>
        <p:txBody>
          <a:bodyPr wrap="square">
            <a:spAutoFit/>
          </a:bodyPr>
          <a:lstStyle/>
          <a:p>
            <a:pPr algn="r">
              <a:lnSpc>
                <a:spcPts val="1080"/>
              </a:lnSpc>
              <a:spcAft>
                <a:spcPts val="0"/>
              </a:spcAft>
              <a:defRPr sz="900" b="0">
                <a:solidFill>
                  <a:srgbClr val="64748B"/>
                </a:solidFill>
                <a:latin typeface="Karla"/>
              </a:defRPr>
            </a:pPr>
            <a:r>
              <a:t>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48640"/>
            <a:ext cx="10058400" cy="731520"/>
          </a:xfrm>
          <a:prstGeom prst="rect">
            <a:avLst/>
          </a:prstGeom>
          <a:noFill/>
        </p:spPr>
        <p:txBody>
          <a:bodyPr wrap="square">
            <a:spAutoFit/>
          </a:bodyPr>
          <a:lstStyle/>
          <a:p>
            <a:pPr algn="l">
              <a:lnSpc>
                <a:spcPts val="4320"/>
              </a:lnSpc>
              <a:spcAft>
                <a:spcPts val="0"/>
              </a:spcAft>
              <a:defRPr sz="3600" b="1">
                <a:solidFill>
                  <a:srgbClr val="1E293B"/>
                </a:solidFill>
                <a:latin typeface="Fredoka"/>
              </a:defRPr>
            </a:pPr>
            <a:r>
              <a:t>Competitive Advantage</a:t>
            </a:r>
          </a:p>
        </p:txBody>
      </p:sp>
      <p:sp>
        <p:nvSpPr>
          <p:cNvPr id="3" name="Rectangle 2"/>
          <p:cNvSpPr/>
          <p:nvPr/>
        </p:nvSpPr>
        <p:spPr>
          <a:xfrm>
            <a:off x="731520" y="1234440"/>
            <a:ext cx="548640" cy="50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737360"/>
            <a:ext cx="10698480" cy="5486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37360"/>
            <a:ext cx="2743200" cy="548640"/>
          </a:xfrm>
          <a:prstGeom prst="rect">
            <a:avLst/>
          </a:prstGeom>
          <a:noFill/>
        </p:spPr>
        <p:txBody>
          <a:bodyPr wrap="square">
            <a:spAutoFit/>
          </a:bodyPr>
          <a:lstStyle/>
          <a:p>
            <a:pPr algn="ctr">
              <a:lnSpc>
                <a:spcPts val="1439"/>
              </a:lnSpc>
              <a:spcAft>
                <a:spcPts val="0"/>
              </a:spcAft>
              <a:defRPr sz="1200" b="1">
                <a:solidFill>
                  <a:srgbClr val="FFFFFF"/>
                </a:solidFill>
                <a:latin typeface="Fredoka"/>
              </a:defRPr>
            </a:pPr>
            <a:r>
              <a:t>Feature</a:t>
            </a:r>
          </a:p>
        </p:txBody>
      </p:sp>
      <p:sp>
        <p:nvSpPr>
          <p:cNvPr id="6" name="TextBox 5"/>
          <p:cNvSpPr txBox="1"/>
          <p:nvPr/>
        </p:nvSpPr>
        <p:spPr>
          <a:xfrm>
            <a:off x="3474720" y="1737360"/>
            <a:ext cx="2011680" cy="548640"/>
          </a:xfrm>
          <a:prstGeom prst="rect">
            <a:avLst/>
          </a:prstGeom>
          <a:noFill/>
        </p:spPr>
        <p:txBody>
          <a:bodyPr wrap="square">
            <a:spAutoFit/>
          </a:bodyPr>
          <a:lstStyle/>
          <a:p>
            <a:pPr algn="ctr">
              <a:lnSpc>
                <a:spcPts val="1439"/>
              </a:lnSpc>
              <a:spcAft>
                <a:spcPts val="0"/>
              </a:spcAft>
              <a:defRPr sz="1200" b="1">
                <a:solidFill>
                  <a:srgbClr val="FFFFFF"/>
                </a:solidFill>
                <a:latin typeface="Fredoka"/>
              </a:defRPr>
            </a:pPr>
            <a:r>
              <a:t>Drop</a:t>
            </a:r>
          </a:p>
        </p:txBody>
      </p:sp>
      <p:sp>
        <p:nvSpPr>
          <p:cNvPr id="7" name="TextBox 6"/>
          <p:cNvSpPr txBox="1"/>
          <p:nvPr/>
        </p:nvSpPr>
        <p:spPr>
          <a:xfrm>
            <a:off x="5486400" y="1737360"/>
            <a:ext cx="2011680" cy="548640"/>
          </a:xfrm>
          <a:prstGeom prst="rect">
            <a:avLst/>
          </a:prstGeom>
          <a:noFill/>
        </p:spPr>
        <p:txBody>
          <a:bodyPr wrap="square">
            <a:spAutoFit/>
          </a:bodyPr>
          <a:lstStyle/>
          <a:p>
            <a:pPr algn="ctr">
              <a:lnSpc>
                <a:spcPts val="1439"/>
              </a:lnSpc>
              <a:spcAft>
                <a:spcPts val="0"/>
              </a:spcAft>
              <a:defRPr sz="1200" b="1">
                <a:solidFill>
                  <a:srgbClr val="FFFFFF"/>
                </a:solidFill>
                <a:latin typeface="Fredoka"/>
              </a:defRPr>
            </a:pPr>
            <a:r>
              <a:t>WhatsApp Vendors</a:t>
            </a:r>
          </a:p>
        </p:txBody>
      </p:sp>
      <p:sp>
        <p:nvSpPr>
          <p:cNvPr id="8" name="TextBox 7"/>
          <p:cNvSpPr txBox="1"/>
          <p:nvPr/>
        </p:nvSpPr>
        <p:spPr>
          <a:xfrm>
            <a:off x="7498079" y="1737360"/>
            <a:ext cx="2011680" cy="548640"/>
          </a:xfrm>
          <a:prstGeom prst="rect">
            <a:avLst/>
          </a:prstGeom>
          <a:noFill/>
        </p:spPr>
        <p:txBody>
          <a:bodyPr wrap="square">
            <a:spAutoFit/>
          </a:bodyPr>
          <a:lstStyle/>
          <a:p>
            <a:pPr algn="ctr">
              <a:lnSpc>
                <a:spcPts val="1439"/>
              </a:lnSpc>
              <a:spcAft>
                <a:spcPts val="0"/>
              </a:spcAft>
              <a:defRPr sz="1200" b="1">
                <a:solidFill>
                  <a:srgbClr val="FFFFFF"/>
                </a:solidFill>
                <a:latin typeface="Fredoka"/>
              </a:defRPr>
            </a:pPr>
            <a:r>
              <a:t>Maji.com</a:t>
            </a:r>
          </a:p>
        </p:txBody>
      </p:sp>
      <p:sp>
        <p:nvSpPr>
          <p:cNvPr id="9" name="TextBox 8"/>
          <p:cNvSpPr txBox="1"/>
          <p:nvPr/>
        </p:nvSpPr>
        <p:spPr>
          <a:xfrm>
            <a:off x="9509759" y="1737360"/>
            <a:ext cx="1920240" cy="548640"/>
          </a:xfrm>
          <a:prstGeom prst="rect">
            <a:avLst/>
          </a:prstGeom>
          <a:noFill/>
        </p:spPr>
        <p:txBody>
          <a:bodyPr wrap="square">
            <a:spAutoFit/>
          </a:bodyPr>
          <a:lstStyle/>
          <a:p>
            <a:pPr algn="ctr">
              <a:lnSpc>
                <a:spcPts val="1439"/>
              </a:lnSpc>
              <a:spcAft>
                <a:spcPts val="0"/>
              </a:spcAft>
              <a:defRPr sz="1200" b="1">
                <a:solidFill>
                  <a:srgbClr val="FFFFFF"/>
                </a:solidFill>
                <a:latin typeface="Fredoka"/>
              </a:defRPr>
            </a:pPr>
            <a:r>
              <a:t>Traditional</a:t>
            </a:r>
          </a:p>
        </p:txBody>
      </p:sp>
      <p:sp>
        <p:nvSpPr>
          <p:cNvPr id="10" name="Rectangle 9"/>
          <p:cNvSpPr/>
          <p:nvPr/>
        </p:nvSpPr>
        <p:spPr>
          <a:xfrm>
            <a:off x="731520" y="2286000"/>
            <a:ext cx="10698480" cy="475488"/>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86000"/>
            <a:ext cx="2743200" cy="475488"/>
          </a:xfrm>
          <a:prstGeom prst="rect">
            <a:avLst/>
          </a:prstGeom>
          <a:noFill/>
        </p:spPr>
        <p:txBody>
          <a:bodyPr wrap="square">
            <a:spAutoFit/>
          </a:bodyPr>
          <a:lstStyle/>
          <a:p>
            <a:pPr algn="l">
              <a:lnSpc>
                <a:spcPts val="1320"/>
              </a:lnSpc>
              <a:spcAft>
                <a:spcPts val="0"/>
              </a:spcAft>
              <a:defRPr sz="1100" b="0">
                <a:solidFill>
                  <a:srgbClr val="1E293B"/>
                </a:solidFill>
                <a:latin typeface="Karla"/>
              </a:defRPr>
            </a:pPr>
            <a:r>
              <a:t>Real-time GPS tracking</a:t>
            </a:r>
          </a:p>
        </p:txBody>
      </p:sp>
      <p:sp>
        <p:nvSpPr>
          <p:cNvPr id="12" name="TextBox 11"/>
          <p:cNvSpPr txBox="1"/>
          <p:nvPr/>
        </p:nvSpPr>
        <p:spPr>
          <a:xfrm>
            <a:off x="3474720" y="2286000"/>
            <a:ext cx="2011680" cy="475488"/>
          </a:xfrm>
          <a:prstGeom prst="rect">
            <a:avLst/>
          </a:prstGeom>
          <a:noFill/>
        </p:spPr>
        <p:txBody>
          <a:bodyPr wrap="square">
            <a:spAutoFit/>
          </a:bodyPr>
          <a:lstStyle/>
          <a:p>
            <a:pPr algn="ctr">
              <a:lnSpc>
                <a:spcPts val="1320"/>
              </a:lnSpc>
              <a:spcAft>
                <a:spcPts val="0"/>
              </a:spcAft>
              <a:defRPr sz="1100" b="1">
                <a:solidFill>
                  <a:srgbClr val="16A34A"/>
                </a:solidFill>
                <a:latin typeface="Karla"/>
              </a:defRPr>
            </a:pPr>
            <a:r>
              <a:t>✅</a:t>
            </a:r>
          </a:p>
        </p:txBody>
      </p:sp>
      <p:sp>
        <p:nvSpPr>
          <p:cNvPr id="13" name="TextBox 12"/>
          <p:cNvSpPr txBox="1"/>
          <p:nvPr/>
        </p:nvSpPr>
        <p:spPr>
          <a:xfrm>
            <a:off x="5486400" y="2286000"/>
            <a:ext cx="2011680" cy="475488"/>
          </a:xfrm>
          <a:prstGeom prst="rect">
            <a:avLst/>
          </a:prstGeom>
          <a:noFill/>
        </p:spPr>
        <p:txBody>
          <a:bodyPr wrap="square">
            <a:spAutoFit/>
          </a:bodyPr>
          <a:lstStyle/>
          <a:p>
            <a:pPr algn="ctr">
              <a:lnSpc>
                <a:spcPts val="1320"/>
              </a:lnSpc>
              <a:spcAft>
                <a:spcPts val="0"/>
              </a:spcAft>
              <a:defRPr sz="1100" b="0">
                <a:solidFill>
                  <a:srgbClr val="DC2626"/>
                </a:solidFill>
                <a:latin typeface="Karla"/>
              </a:defRPr>
            </a:pPr>
            <a:r>
              <a:t>❌</a:t>
            </a:r>
          </a:p>
        </p:txBody>
      </p:sp>
      <p:sp>
        <p:nvSpPr>
          <p:cNvPr id="14" name="TextBox 13"/>
          <p:cNvSpPr txBox="1"/>
          <p:nvPr/>
        </p:nvSpPr>
        <p:spPr>
          <a:xfrm>
            <a:off x="7498079" y="2286000"/>
            <a:ext cx="2011680" cy="475488"/>
          </a:xfrm>
          <a:prstGeom prst="rect">
            <a:avLst/>
          </a:prstGeom>
          <a:noFill/>
        </p:spPr>
        <p:txBody>
          <a:bodyPr wrap="square">
            <a:spAutoFit/>
          </a:bodyPr>
          <a:lstStyle/>
          <a:p>
            <a:pPr algn="ctr">
              <a:lnSpc>
                <a:spcPts val="1320"/>
              </a:lnSpc>
              <a:spcAft>
                <a:spcPts val="0"/>
              </a:spcAft>
              <a:defRPr sz="1100" b="0">
                <a:solidFill>
                  <a:srgbClr val="DC2626"/>
                </a:solidFill>
                <a:latin typeface="Karla"/>
              </a:defRPr>
            </a:pPr>
            <a:r>
              <a:t>❌</a:t>
            </a:r>
          </a:p>
        </p:txBody>
      </p:sp>
      <p:sp>
        <p:nvSpPr>
          <p:cNvPr id="15" name="TextBox 14"/>
          <p:cNvSpPr txBox="1"/>
          <p:nvPr/>
        </p:nvSpPr>
        <p:spPr>
          <a:xfrm>
            <a:off x="9509759" y="2286000"/>
            <a:ext cx="1920240" cy="475488"/>
          </a:xfrm>
          <a:prstGeom prst="rect">
            <a:avLst/>
          </a:prstGeom>
          <a:noFill/>
        </p:spPr>
        <p:txBody>
          <a:bodyPr wrap="square">
            <a:spAutoFit/>
          </a:bodyPr>
          <a:lstStyle/>
          <a:p>
            <a:pPr algn="ctr">
              <a:lnSpc>
                <a:spcPts val="1320"/>
              </a:lnSpc>
              <a:spcAft>
                <a:spcPts val="0"/>
              </a:spcAft>
              <a:defRPr sz="1100" b="0">
                <a:solidFill>
                  <a:srgbClr val="DC2626"/>
                </a:solidFill>
                <a:latin typeface="Karla"/>
              </a:defRPr>
            </a:pPr>
            <a:r>
              <a:t>❌</a:t>
            </a:r>
          </a:p>
        </p:txBody>
      </p:sp>
      <p:sp>
        <p:nvSpPr>
          <p:cNvPr id="16" name="Rectangle 15"/>
          <p:cNvSpPr/>
          <p:nvPr/>
        </p:nvSpPr>
        <p:spPr>
          <a:xfrm>
            <a:off x="731520" y="2761488"/>
            <a:ext cx="1069848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761488"/>
            <a:ext cx="2743200" cy="475488"/>
          </a:xfrm>
          <a:prstGeom prst="rect">
            <a:avLst/>
          </a:prstGeom>
          <a:noFill/>
        </p:spPr>
        <p:txBody>
          <a:bodyPr wrap="square">
            <a:spAutoFit/>
          </a:bodyPr>
          <a:lstStyle/>
          <a:p>
            <a:pPr algn="l">
              <a:lnSpc>
                <a:spcPts val="1320"/>
              </a:lnSpc>
              <a:spcAft>
                <a:spcPts val="0"/>
              </a:spcAft>
              <a:defRPr sz="1100" b="0">
                <a:solidFill>
                  <a:srgbClr val="1E293B"/>
                </a:solidFill>
                <a:latin typeface="Karla"/>
              </a:defRPr>
            </a:pPr>
            <a:r>
              <a:t>M-Pesa integration</a:t>
            </a:r>
          </a:p>
        </p:txBody>
      </p:sp>
      <p:sp>
        <p:nvSpPr>
          <p:cNvPr id="18" name="TextBox 17"/>
          <p:cNvSpPr txBox="1"/>
          <p:nvPr/>
        </p:nvSpPr>
        <p:spPr>
          <a:xfrm>
            <a:off x="3474720" y="2761488"/>
            <a:ext cx="2011680" cy="475488"/>
          </a:xfrm>
          <a:prstGeom prst="rect">
            <a:avLst/>
          </a:prstGeom>
          <a:noFill/>
        </p:spPr>
        <p:txBody>
          <a:bodyPr wrap="square">
            <a:spAutoFit/>
          </a:bodyPr>
          <a:lstStyle/>
          <a:p>
            <a:pPr algn="ctr">
              <a:lnSpc>
                <a:spcPts val="1320"/>
              </a:lnSpc>
              <a:spcAft>
                <a:spcPts val="0"/>
              </a:spcAft>
              <a:defRPr sz="1100" b="1">
                <a:solidFill>
                  <a:srgbClr val="16A34A"/>
                </a:solidFill>
                <a:latin typeface="Karla"/>
              </a:defRPr>
            </a:pPr>
            <a:r>
              <a:t>✅</a:t>
            </a:r>
          </a:p>
        </p:txBody>
      </p:sp>
      <p:sp>
        <p:nvSpPr>
          <p:cNvPr id="19" name="TextBox 18"/>
          <p:cNvSpPr txBox="1"/>
          <p:nvPr/>
        </p:nvSpPr>
        <p:spPr>
          <a:xfrm>
            <a:off x="5486400" y="2761488"/>
            <a:ext cx="2011680" cy="475488"/>
          </a:xfrm>
          <a:prstGeom prst="rect">
            <a:avLst/>
          </a:prstGeom>
          <a:noFill/>
        </p:spPr>
        <p:txBody>
          <a:bodyPr wrap="square">
            <a:spAutoFit/>
          </a:bodyPr>
          <a:lstStyle/>
          <a:p>
            <a:pPr algn="ctr">
              <a:lnSpc>
                <a:spcPts val="1320"/>
              </a:lnSpc>
              <a:spcAft>
                <a:spcPts val="0"/>
              </a:spcAft>
              <a:defRPr sz="1100" b="0">
                <a:solidFill>
                  <a:srgbClr val="64748B"/>
                </a:solidFill>
                <a:latin typeface="Karla"/>
              </a:defRPr>
            </a:pPr>
            <a:r>
              <a:t>Manual</a:t>
            </a:r>
          </a:p>
        </p:txBody>
      </p:sp>
      <p:sp>
        <p:nvSpPr>
          <p:cNvPr id="20" name="TextBox 19"/>
          <p:cNvSpPr txBox="1"/>
          <p:nvPr/>
        </p:nvSpPr>
        <p:spPr>
          <a:xfrm>
            <a:off x="7498079" y="2761488"/>
            <a:ext cx="2011680" cy="475488"/>
          </a:xfrm>
          <a:prstGeom prst="rect">
            <a:avLst/>
          </a:prstGeom>
          <a:noFill/>
        </p:spPr>
        <p:txBody>
          <a:bodyPr wrap="square">
            <a:spAutoFit/>
          </a:bodyPr>
          <a:lstStyle/>
          <a:p>
            <a:pPr algn="ctr">
              <a:lnSpc>
                <a:spcPts val="1320"/>
              </a:lnSpc>
              <a:spcAft>
                <a:spcPts val="0"/>
              </a:spcAft>
              <a:defRPr sz="1100" b="0">
                <a:solidFill>
                  <a:srgbClr val="16A34A"/>
                </a:solidFill>
                <a:latin typeface="Karla"/>
              </a:defRPr>
            </a:pPr>
            <a:r>
              <a:t>✅</a:t>
            </a:r>
          </a:p>
        </p:txBody>
      </p:sp>
      <p:sp>
        <p:nvSpPr>
          <p:cNvPr id="21" name="TextBox 20"/>
          <p:cNvSpPr txBox="1"/>
          <p:nvPr/>
        </p:nvSpPr>
        <p:spPr>
          <a:xfrm>
            <a:off x="9509759" y="2761488"/>
            <a:ext cx="1920240" cy="475488"/>
          </a:xfrm>
          <a:prstGeom prst="rect">
            <a:avLst/>
          </a:prstGeom>
          <a:noFill/>
        </p:spPr>
        <p:txBody>
          <a:bodyPr wrap="square">
            <a:spAutoFit/>
          </a:bodyPr>
          <a:lstStyle/>
          <a:p>
            <a:pPr algn="ctr">
              <a:lnSpc>
                <a:spcPts val="1320"/>
              </a:lnSpc>
              <a:spcAft>
                <a:spcPts val="0"/>
              </a:spcAft>
              <a:defRPr sz="1100" b="0">
                <a:solidFill>
                  <a:srgbClr val="64748B"/>
                </a:solidFill>
                <a:latin typeface="Karla"/>
              </a:defRPr>
            </a:pPr>
            <a:r>
              <a:t>Cash only</a:t>
            </a:r>
          </a:p>
        </p:txBody>
      </p:sp>
      <p:sp>
        <p:nvSpPr>
          <p:cNvPr id="22" name="Rectangle 21"/>
          <p:cNvSpPr/>
          <p:nvPr/>
        </p:nvSpPr>
        <p:spPr>
          <a:xfrm>
            <a:off x="731520" y="3236976"/>
            <a:ext cx="10698480" cy="475488"/>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236976"/>
            <a:ext cx="2743200" cy="475488"/>
          </a:xfrm>
          <a:prstGeom prst="rect">
            <a:avLst/>
          </a:prstGeom>
          <a:noFill/>
        </p:spPr>
        <p:txBody>
          <a:bodyPr wrap="square">
            <a:spAutoFit/>
          </a:bodyPr>
          <a:lstStyle/>
          <a:p>
            <a:pPr algn="l">
              <a:lnSpc>
                <a:spcPts val="1320"/>
              </a:lnSpc>
              <a:spcAft>
                <a:spcPts val="0"/>
              </a:spcAft>
              <a:defRPr sz="1100" b="0">
                <a:solidFill>
                  <a:srgbClr val="1E293B"/>
                </a:solidFill>
                <a:latin typeface="Karla"/>
              </a:defRPr>
            </a:pPr>
            <a:r>
              <a:t>Multi-vendor marketplace</a:t>
            </a:r>
          </a:p>
        </p:txBody>
      </p:sp>
      <p:sp>
        <p:nvSpPr>
          <p:cNvPr id="24" name="TextBox 23"/>
          <p:cNvSpPr txBox="1"/>
          <p:nvPr/>
        </p:nvSpPr>
        <p:spPr>
          <a:xfrm>
            <a:off x="3474720" y="3236976"/>
            <a:ext cx="2011680" cy="475488"/>
          </a:xfrm>
          <a:prstGeom prst="rect">
            <a:avLst/>
          </a:prstGeom>
          <a:noFill/>
        </p:spPr>
        <p:txBody>
          <a:bodyPr wrap="square">
            <a:spAutoFit/>
          </a:bodyPr>
          <a:lstStyle/>
          <a:p>
            <a:pPr algn="ctr">
              <a:lnSpc>
                <a:spcPts val="1320"/>
              </a:lnSpc>
              <a:spcAft>
                <a:spcPts val="0"/>
              </a:spcAft>
              <a:defRPr sz="1100" b="1">
                <a:solidFill>
                  <a:srgbClr val="16A34A"/>
                </a:solidFill>
                <a:latin typeface="Karla"/>
              </a:defRPr>
            </a:pPr>
            <a:r>
              <a:t>✅</a:t>
            </a:r>
          </a:p>
        </p:txBody>
      </p:sp>
      <p:sp>
        <p:nvSpPr>
          <p:cNvPr id="25" name="TextBox 24"/>
          <p:cNvSpPr txBox="1"/>
          <p:nvPr/>
        </p:nvSpPr>
        <p:spPr>
          <a:xfrm>
            <a:off x="5486400" y="3236976"/>
            <a:ext cx="2011680" cy="475488"/>
          </a:xfrm>
          <a:prstGeom prst="rect">
            <a:avLst/>
          </a:prstGeom>
          <a:noFill/>
        </p:spPr>
        <p:txBody>
          <a:bodyPr wrap="square">
            <a:spAutoFit/>
          </a:bodyPr>
          <a:lstStyle/>
          <a:p>
            <a:pPr algn="ctr">
              <a:lnSpc>
                <a:spcPts val="1320"/>
              </a:lnSpc>
              <a:spcAft>
                <a:spcPts val="0"/>
              </a:spcAft>
              <a:defRPr sz="1100" b="0">
                <a:solidFill>
                  <a:srgbClr val="DC2626"/>
                </a:solidFill>
                <a:latin typeface="Karla"/>
              </a:defRPr>
            </a:pPr>
            <a:r>
              <a:t>❌</a:t>
            </a:r>
          </a:p>
        </p:txBody>
      </p:sp>
      <p:sp>
        <p:nvSpPr>
          <p:cNvPr id="26" name="TextBox 25"/>
          <p:cNvSpPr txBox="1"/>
          <p:nvPr/>
        </p:nvSpPr>
        <p:spPr>
          <a:xfrm>
            <a:off x="7498079" y="3236976"/>
            <a:ext cx="2011680" cy="475488"/>
          </a:xfrm>
          <a:prstGeom prst="rect">
            <a:avLst/>
          </a:prstGeom>
          <a:noFill/>
        </p:spPr>
        <p:txBody>
          <a:bodyPr wrap="square">
            <a:spAutoFit/>
          </a:bodyPr>
          <a:lstStyle/>
          <a:p>
            <a:pPr algn="ctr">
              <a:lnSpc>
                <a:spcPts val="1320"/>
              </a:lnSpc>
              <a:spcAft>
                <a:spcPts val="0"/>
              </a:spcAft>
              <a:defRPr sz="1100" b="0">
                <a:solidFill>
                  <a:srgbClr val="64748B"/>
                </a:solidFill>
                <a:latin typeface="Karla"/>
              </a:defRPr>
            </a:pPr>
            <a:r>
              <a:t>Single</a:t>
            </a:r>
          </a:p>
        </p:txBody>
      </p:sp>
      <p:sp>
        <p:nvSpPr>
          <p:cNvPr id="27" name="TextBox 26"/>
          <p:cNvSpPr txBox="1"/>
          <p:nvPr/>
        </p:nvSpPr>
        <p:spPr>
          <a:xfrm>
            <a:off x="9509759" y="3236976"/>
            <a:ext cx="1920240" cy="475488"/>
          </a:xfrm>
          <a:prstGeom prst="rect">
            <a:avLst/>
          </a:prstGeom>
          <a:noFill/>
        </p:spPr>
        <p:txBody>
          <a:bodyPr wrap="square">
            <a:spAutoFit/>
          </a:bodyPr>
          <a:lstStyle/>
          <a:p>
            <a:pPr algn="ctr">
              <a:lnSpc>
                <a:spcPts val="1320"/>
              </a:lnSpc>
              <a:spcAft>
                <a:spcPts val="0"/>
              </a:spcAft>
              <a:defRPr sz="1100" b="0">
                <a:solidFill>
                  <a:srgbClr val="DC2626"/>
                </a:solidFill>
                <a:latin typeface="Karla"/>
              </a:defRPr>
            </a:pPr>
            <a:r>
              <a:t>❌</a:t>
            </a:r>
          </a:p>
        </p:txBody>
      </p:sp>
      <p:sp>
        <p:nvSpPr>
          <p:cNvPr id="28" name="Rectangle 27"/>
          <p:cNvSpPr/>
          <p:nvPr/>
        </p:nvSpPr>
        <p:spPr>
          <a:xfrm>
            <a:off x="731520" y="3712464"/>
            <a:ext cx="1069848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3712464"/>
            <a:ext cx="2743200" cy="475488"/>
          </a:xfrm>
          <a:prstGeom prst="rect">
            <a:avLst/>
          </a:prstGeom>
          <a:noFill/>
        </p:spPr>
        <p:txBody>
          <a:bodyPr wrap="square">
            <a:spAutoFit/>
          </a:bodyPr>
          <a:lstStyle/>
          <a:p>
            <a:pPr algn="l">
              <a:lnSpc>
                <a:spcPts val="1320"/>
              </a:lnSpc>
              <a:spcAft>
                <a:spcPts val="0"/>
              </a:spcAft>
              <a:defRPr sz="1100" b="0">
                <a:solidFill>
                  <a:srgbClr val="1E293B"/>
                </a:solidFill>
                <a:latin typeface="Karla"/>
              </a:defRPr>
            </a:pPr>
            <a:r>
              <a:t>Proof of delivery</a:t>
            </a:r>
          </a:p>
        </p:txBody>
      </p:sp>
      <p:sp>
        <p:nvSpPr>
          <p:cNvPr id="30" name="TextBox 29"/>
          <p:cNvSpPr txBox="1"/>
          <p:nvPr/>
        </p:nvSpPr>
        <p:spPr>
          <a:xfrm>
            <a:off x="3474720" y="3712464"/>
            <a:ext cx="2011680" cy="475488"/>
          </a:xfrm>
          <a:prstGeom prst="rect">
            <a:avLst/>
          </a:prstGeom>
          <a:noFill/>
        </p:spPr>
        <p:txBody>
          <a:bodyPr wrap="square">
            <a:spAutoFit/>
          </a:bodyPr>
          <a:lstStyle/>
          <a:p>
            <a:pPr algn="ctr">
              <a:lnSpc>
                <a:spcPts val="1320"/>
              </a:lnSpc>
              <a:spcAft>
                <a:spcPts val="0"/>
              </a:spcAft>
              <a:defRPr sz="1100" b="1">
                <a:solidFill>
                  <a:srgbClr val="16A34A"/>
                </a:solidFill>
                <a:latin typeface="Karla"/>
              </a:defRPr>
            </a:pPr>
            <a:r>
              <a:t>✅ Photo</a:t>
            </a:r>
          </a:p>
        </p:txBody>
      </p:sp>
      <p:sp>
        <p:nvSpPr>
          <p:cNvPr id="31" name="TextBox 30"/>
          <p:cNvSpPr txBox="1"/>
          <p:nvPr/>
        </p:nvSpPr>
        <p:spPr>
          <a:xfrm>
            <a:off x="5486400" y="3712464"/>
            <a:ext cx="2011680" cy="475488"/>
          </a:xfrm>
          <a:prstGeom prst="rect">
            <a:avLst/>
          </a:prstGeom>
          <a:noFill/>
        </p:spPr>
        <p:txBody>
          <a:bodyPr wrap="square">
            <a:spAutoFit/>
          </a:bodyPr>
          <a:lstStyle/>
          <a:p>
            <a:pPr algn="ctr">
              <a:lnSpc>
                <a:spcPts val="1320"/>
              </a:lnSpc>
              <a:spcAft>
                <a:spcPts val="0"/>
              </a:spcAft>
              <a:defRPr sz="1100" b="0">
                <a:solidFill>
                  <a:srgbClr val="DC2626"/>
                </a:solidFill>
                <a:latin typeface="Karla"/>
              </a:defRPr>
            </a:pPr>
            <a:r>
              <a:t>❌</a:t>
            </a:r>
          </a:p>
        </p:txBody>
      </p:sp>
      <p:sp>
        <p:nvSpPr>
          <p:cNvPr id="32" name="TextBox 31"/>
          <p:cNvSpPr txBox="1"/>
          <p:nvPr/>
        </p:nvSpPr>
        <p:spPr>
          <a:xfrm>
            <a:off x="7498079" y="3712464"/>
            <a:ext cx="2011680" cy="475488"/>
          </a:xfrm>
          <a:prstGeom prst="rect">
            <a:avLst/>
          </a:prstGeom>
          <a:noFill/>
        </p:spPr>
        <p:txBody>
          <a:bodyPr wrap="square">
            <a:spAutoFit/>
          </a:bodyPr>
          <a:lstStyle/>
          <a:p>
            <a:pPr algn="ctr">
              <a:lnSpc>
                <a:spcPts val="1320"/>
              </a:lnSpc>
              <a:spcAft>
                <a:spcPts val="0"/>
              </a:spcAft>
              <a:defRPr sz="1100" b="0">
                <a:solidFill>
                  <a:srgbClr val="DC2626"/>
                </a:solidFill>
                <a:latin typeface="Karla"/>
              </a:defRPr>
            </a:pPr>
            <a:r>
              <a:t>❌</a:t>
            </a:r>
          </a:p>
        </p:txBody>
      </p:sp>
      <p:sp>
        <p:nvSpPr>
          <p:cNvPr id="33" name="TextBox 32"/>
          <p:cNvSpPr txBox="1"/>
          <p:nvPr/>
        </p:nvSpPr>
        <p:spPr>
          <a:xfrm>
            <a:off x="9509759" y="3712464"/>
            <a:ext cx="1920240" cy="475488"/>
          </a:xfrm>
          <a:prstGeom prst="rect">
            <a:avLst/>
          </a:prstGeom>
          <a:noFill/>
        </p:spPr>
        <p:txBody>
          <a:bodyPr wrap="square">
            <a:spAutoFit/>
          </a:bodyPr>
          <a:lstStyle/>
          <a:p>
            <a:pPr algn="ctr">
              <a:lnSpc>
                <a:spcPts val="1320"/>
              </a:lnSpc>
              <a:spcAft>
                <a:spcPts val="0"/>
              </a:spcAft>
              <a:defRPr sz="1100" b="0">
                <a:solidFill>
                  <a:srgbClr val="DC2626"/>
                </a:solidFill>
                <a:latin typeface="Karla"/>
              </a:defRPr>
            </a:pPr>
            <a:r>
              <a:t>❌</a:t>
            </a:r>
          </a:p>
        </p:txBody>
      </p:sp>
      <p:sp>
        <p:nvSpPr>
          <p:cNvPr id="34" name="Rectangle 33"/>
          <p:cNvSpPr/>
          <p:nvPr/>
        </p:nvSpPr>
        <p:spPr>
          <a:xfrm>
            <a:off x="731520" y="4187952"/>
            <a:ext cx="10698480" cy="475488"/>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187952"/>
            <a:ext cx="2743200" cy="475488"/>
          </a:xfrm>
          <a:prstGeom prst="rect">
            <a:avLst/>
          </a:prstGeom>
          <a:noFill/>
        </p:spPr>
        <p:txBody>
          <a:bodyPr wrap="square">
            <a:spAutoFit/>
          </a:bodyPr>
          <a:lstStyle/>
          <a:p>
            <a:pPr algn="l">
              <a:lnSpc>
                <a:spcPts val="1320"/>
              </a:lnSpc>
              <a:spcAft>
                <a:spcPts val="0"/>
              </a:spcAft>
              <a:defRPr sz="1100" b="0">
                <a:solidFill>
                  <a:srgbClr val="1E293B"/>
                </a:solidFill>
                <a:latin typeface="Karla"/>
              </a:defRPr>
            </a:pPr>
            <a:r>
              <a:t>Bottle deposit tracking</a:t>
            </a:r>
          </a:p>
        </p:txBody>
      </p:sp>
      <p:sp>
        <p:nvSpPr>
          <p:cNvPr id="36" name="TextBox 35"/>
          <p:cNvSpPr txBox="1"/>
          <p:nvPr/>
        </p:nvSpPr>
        <p:spPr>
          <a:xfrm>
            <a:off x="3474720" y="4187952"/>
            <a:ext cx="2011680" cy="475488"/>
          </a:xfrm>
          <a:prstGeom prst="rect">
            <a:avLst/>
          </a:prstGeom>
          <a:noFill/>
        </p:spPr>
        <p:txBody>
          <a:bodyPr wrap="square">
            <a:spAutoFit/>
          </a:bodyPr>
          <a:lstStyle/>
          <a:p>
            <a:pPr algn="ctr">
              <a:lnSpc>
                <a:spcPts val="1320"/>
              </a:lnSpc>
              <a:spcAft>
                <a:spcPts val="0"/>
              </a:spcAft>
              <a:defRPr sz="1100" b="1">
                <a:solidFill>
                  <a:srgbClr val="16A34A"/>
                </a:solidFill>
                <a:latin typeface="Karla"/>
              </a:defRPr>
            </a:pPr>
            <a:r>
              <a:t>✅ Ledger</a:t>
            </a:r>
          </a:p>
        </p:txBody>
      </p:sp>
      <p:sp>
        <p:nvSpPr>
          <p:cNvPr id="37" name="TextBox 36"/>
          <p:cNvSpPr txBox="1"/>
          <p:nvPr/>
        </p:nvSpPr>
        <p:spPr>
          <a:xfrm>
            <a:off x="5486400" y="4187952"/>
            <a:ext cx="2011680" cy="475488"/>
          </a:xfrm>
          <a:prstGeom prst="rect">
            <a:avLst/>
          </a:prstGeom>
          <a:noFill/>
        </p:spPr>
        <p:txBody>
          <a:bodyPr wrap="square">
            <a:spAutoFit/>
          </a:bodyPr>
          <a:lstStyle/>
          <a:p>
            <a:pPr algn="ctr">
              <a:lnSpc>
                <a:spcPts val="1320"/>
              </a:lnSpc>
              <a:spcAft>
                <a:spcPts val="0"/>
              </a:spcAft>
              <a:defRPr sz="1100" b="0">
                <a:solidFill>
                  <a:srgbClr val="DC2626"/>
                </a:solidFill>
                <a:latin typeface="Karla"/>
              </a:defRPr>
            </a:pPr>
            <a:r>
              <a:t>❌</a:t>
            </a:r>
          </a:p>
        </p:txBody>
      </p:sp>
      <p:sp>
        <p:nvSpPr>
          <p:cNvPr id="38" name="TextBox 37"/>
          <p:cNvSpPr txBox="1"/>
          <p:nvPr/>
        </p:nvSpPr>
        <p:spPr>
          <a:xfrm>
            <a:off x="7498079" y="4187952"/>
            <a:ext cx="2011680" cy="475488"/>
          </a:xfrm>
          <a:prstGeom prst="rect">
            <a:avLst/>
          </a:prstGeom>
          <a:noFill/>
        </p:spPr>
        <p:txBody>
          <a:bodyPr wrap="square">
            <a:spAutoFit/>
          </a:bodyPr>
          <a:lstStyle/>
          <a:p>
            <a:pPr algn="ctr">
              <a:lnSpc>
                <a:spcPts val="1320"/>
              </a:lnSpc>
              <a:spcAft>
                <a:spcPts val="0"/>
              </a:spcAft>
              <a:defRPr sz="1100" b="0">
                <a:solidFill>
                  <a:srgbClr val="DC2626"/>
                </a:solidFill>
                <a:latin typeface="Karla"/>
              </a:defRPr>
            </a:pPr>
            <a:r>
              <a:t>❌</a:t>
            </a:r>
          </a:p>
        </p:txBody>
      </p:sp>
      <p:sp>
        <p:nvSpPr>
          <p:cNvPr id="39" name="TextBox 38"/>
          <p:cNvSpPr txBox="1"/>
          <p:nvPr/>
        </p:nvSpPr>
        <p:spPr>
          <a:xfrm>
            <a:off x="9509759" y="4187952"/>
            <a:ext cx="1920240" cy="475488"/>
          </a:xfrm>
          <a:prstGeom prst="rect">
            <a:avLst/>
          </a:prstGeom>
          <a:noFill/>
        </p:spPr>
        <p:txBody>
          <a:bodyPr wrap="square">
            <a:spAutoFit/>
          </a:bodyPr>
          <a:lstStyle/>
          <a:p>
            <a:pPr algn="ctr">
              <a:lnSpc>
                <a:spcPts val="1320"/>
              </a:lnSpc>
              <a:spcAft>
                <a:spcPts val="0"/>
              </a:spcAft>
              <a:defRPr sz="1100" b="0">
                <a:solidFill>
                  <a:srgbClr val="DC2626"/>
                </a:solidFill>
                <a:latin typeface="Karla"/>
              </a:defRPr>
            </a:pPr>
            <a:r>
              <a:t>❌</a:t>
            </a:r>
          </a:p>
        </p:txBody>
      </p:sp>
      <p:sp>
        <p:nvSpPr>
          <p:cNvPr id="40" name="Rectangle 39"/>
          <p:cNvSpPr/>
          <p:nvPr/>
        </p:nvSpPr>
        <p:spPr>
          <a:xfrm>
            <a:off x="731520" y="4663440"/>
            <a:ext cx="1069848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4663440"/>
            <a:ext cx="2743200" cy="475488"/>
          </a:xfrm>
          <a:prstGeom prst="rect">
            <a:avLst/>
          </a:prstGeom>
          <a:noFill/>
        </p:spPr>
        <p:txBody>
          <a:bodyPr wrap="square">
            <a:spAutoFit/>
          </a:bodyPr>
          <a:lstStyle/>
          <a:p>
            <a:pPr algn="l">
              <a:lnSpc>
                <a:spcPts val="1320"/>
              </a:lnSpc>
              <a:spcAft>
                <a:spcPts val="0"/>
              </a:spcAft>
              <a:defRPr sz="1100" b="0">
                <a:solidFill>
                  <a:srgbClr val="1E293B"/>
                </a:solidFill>
                <a:latin typeface="Karla"/>
              </a:defRPr>
            </a:pPr>
            <a:r>
              <a:t>Admin console (27 screens)</a:t>
            </a:r>
          </a:p>
        </p:txBody>
      </p:sp>
      <p:sp>
        <p:nvSpPr>
          <p:cNvPr id="42" name="TextBox 41"/>
          <p:cNvSpPr txBox="1"/>
          <p:nvPr/>
        </p:nvSpPr>
        <p:spPr>
          <a:xfrm>
            <a:off x="3474720" y="4663440"/>
            <a:ext cx="2011680" cy="475488"/>
          </a:xfrm>
          <a:prstGeom prst="rect">
            <a:avLst/>
          </a:prstGeom>
          <a:noFill/>
        </p:spPr>
        <p:txBody>
          <a:bodyPr wrap="square">
            <a:spAutoFit/>
          </a:bodyPr>
          <a:lstStyle/>
          <a:p>
            <a:pPr algn="ctr">
              <a:lnSpc>
                <a:spcPts val="1320"/>
              </a:lnSpc>
              <a:spcAft>
                <a:spcPts val="0"/>
              </a:spcAft>
              <a:defRPr sz="1100" b="1">
                <a:solidFill>
                  <a:srgbClr val="16A34A"/>
                </a:solidFill>
                <a:latin typeface="Karla"/>
              </a:defRPr>
            </a:pPr>
            <a:r>
              <a:t>✅</a:t>
            </a:r>
          </a:p>
        </p:txBody>
      </p:sp>
      <p:sp>
        <p:nvSpPr>
          <p:cNvPr id="43" name="TextBox 42"/>
          <p:cNvSpPr txBox="1"/>
          <p:nvPr/>
        </p:nvSpPr>
        <p:spPr>
          <a:xfrm>
            <a:off x="5486400" y="4663440"/>
            <a:ext cx="2011680" cy="475488"/>
          </a:xfrm>
          <a:prstGeom prst="rect">
            <a:avLst/>
          </a:prstGeom>
          <a:noFill/>
        </p:spPr>
        <p:txBody>
          <a:bodyPr wrap="square">
            <a:spAutoFit/>
          </a:bodyPr>
          <a:lstStyle/>
          <a:p>
            <a:pPr algn="ctr">
              <a:lnSpc>
                <a:spcPts val="1320"/>
              </a:lnSpc>
              <a:spcAft>
                <a:spcPts val="0"/>
              </a:spcAft>
              <a:defRPr sz="1100" b="0">
                <a:solidFill>
                  <a:srgbClr val="DC2626"/>
                </a:solidFill>
                <a:latin typeface="Karla"/>
              </a:defRPr>
            </a:pPr>
            <a:r>
              <a:t>❌</a:t>
            </a:r>
          </a:p>
        </p:txBody>
      </p:sp>
      <p:sp>
        <p:nvSpPr>
          <p:cNvPr id="44" name="TextBox 43"/>
          <p:cNvSpPr txBox="1"/>
          <p:nvPr/>
        </p:nvSpPr>
        <p:spPr>
          <a:xfrm>
            <a:off x="7498079" y="4663440"/>
            <a:ext cx="2011680" cy="475488"/>
          </a:xfrm>
          <a:prstGeom prst="rect">
            <a:avLst/>
          </a:prstGeom>
          <a:noFill/>
        </p:spPr>
        <p:txBody>
          <a:bodyPr wrap="square">
            <a:spAutoFit/>
          </a:bodyPr>
          <a:lstStyle/>
          <a:p>
            <a:pPr algn="ctr">
              <a:lnSpc>
                <a:spcPts val="1320"/>
              </a:lnSpc>
              <a:spcAft>
                <a:spcPts val="0"/>
              </a:spcAft>
              <a:defRPr sz="1100" b="0">
                <a:solidFill>
                  <a:srgbClr val="64748B"/>
                </a:solidFill>
                <a:latin typeface="Karla"/>
              </a:defRPr>
            </a:pPr>
            <a:r>
              <a:t>Basic</a:t>
            </a:r>
          </a:p>
        </p:txBody>
      </p:sp>
      <p:sp>
        <p:nvSpPr>
          <p:cNvPr id="45" name="TextBox 44"/>
          <p:cNvSpPr txBox="1"/>
          <p:nvPr/>
        </p:nvSpPr>
        <p:spPr>
          <a:xfrm>
            <a:off x="9509759" y="4663440"/>
            <a:ext cx="1920240" cy="475488"/>
          </a:xfrm>
          <a:prstGeom prst="rect">
            <a:avLst/>
          </a:prstGeom>
          <a:noFill/>
        </p:spPr>
        <p:txBody>
          <a:bodyPr wrap="square">
            <a:spAutoFit/>
          </a:bodyPr>
          <a:lstStyle/>
          <a:p>
            <a:pPr algn="ctr">
              <a:lnSpc>
                <a:spcPts val="1320"/>
              </a:lnSpc>
              <a:spcAft>
                <a:spcPts val="0"/>
              </a:spcAft>
              <a:defRPr sz="1100" b="0">
                <a:solidFill>
                  <a:srgbClr val="DC2626"/>
                </a:solidFill>
                <a:latin typeface="Karla"/>
              </a:defRPr>
            </a:pPr>
            <a:r>
              <a:t>❌</a:t>
            </a:r>
          </a:p>
        </p:txBody>
      </p:sp>
      <p:sp>
        <p:nvSpPr>
          <p:cNvPr id="46" name="Rectangle 45"/>
          <p:cNvSpPr/>
          <p:nvPr/>
        </p:nvSpPr>
        <p:spPr>
          <a:xfrm>
            <a:off x="731520" y="5138928"/>
            <a:ext cx="10698480" cy="475488"/>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31520" y="5138928"/>
            <a:ext cx="2743200" cy="475488"/>
          </a:xfrm>
          <a:prstGeom prst="rect">
            <a:avLst/>
          </a:prstGeom>
          <a:noFill/>
        </p:spPr>
        <p:txBody>
          <a:bodyPr wrap="square">
            <a:spAutoFit/>
          </a:bodyPr>
          <a:lstStyle/>
          <a:p>
            <a:pPr algn="l">
              <a:lnSpc>
                <a:spcPts val="1320"/>
              </a:lnSpc>
              <a:spcAft>
                <a:spcPts val="0"/>
              </a:spcAft>
              <a:defRPr sz="1100" b="0">
                <a:solidFill>
                  <a:srgbClr val="1E293B"/>
                </a:solidFill>
                <a:latin typeface="Karla"/>
              </a:defRPr>
            </a:pPr>
            <a:r>
              <a:t>Smart two-tier dispatch</a:t>
            </a:r>
          </a:p>
        </p:txBody>
      </p:sp>
      <p:sp>
        <p:nvSpPr>
          <p:cNvPr id="48" name="TextBox 47"/>
          <p:cNvSpPr txBox="1"/>
          <p:nvPr/>
        </p:nvSpPr>
        <p:spPr>
          <a:xfrm>
            <a:off x="3474720" y="5138928"/>
            <a:ext cx="2011680" cy="475488"/>
          </a:xfrm>
          <a:prstGeom prst="rect">
            <a:avLst/>
          </a:prstGeom>
          <a:noFill/>
        </p:spPr>
        <p:txBody>
          <a:bodyPr wrap="square">
            <a:spAutoFit/>
          </a:bodyPr>
          <a:lstStyle/>
          <a:p>
            <a:pPr algn="ctr">
              <a:lnSpc>
                <a:spcPts val="1320"/>
              </a:lnSpc>
              <a:spcAft>
                <a:spcPts val="0"/>
              </a:spcAft>
              <a:defRPr sz="1100" b="1">
                <a:solidFill>
                  <a:srgbClr val="16A34A"/>
                </a:solidFill>
                <a:latin typeface="Karla"/>
              </a:defRPr>
            </a:pPr>
            <a:r>
              <a:t>✅</a:t>
            </a:r>
          </a:p>
        </p:txBody>
      </p:sp>
      <p:sp>
        <p:nvSpPr>
          <p:cNvPr id="49" name="TextBox 48"/>
          <p:cNvSpPr txBox="1"/>
          <p:nvPr/>
        </p:nvSpPr>
        <p:spPr>
          <a:xfrm>
            <a:off x="5486400" y="5138928"/>
            <a:ext cx="2011680" cy="475488"/>
          </a:xfrm>
          <a:prstGeom prst="rect">
            <a:avLst/>
          </a:prstGeom>
          <a:noFill/>
        </p:spPr>
        <p:txBody>
          <a:bodyPr wrap="square">
            <a:spAutoFit/>
          </a:bodyPr>
          <a:lstStyle/>
          <a:p>
            <a:pPr algn="ctr">
              <a:lnSpc>
                <a:spcPts val="1320"/>
              </a:lnSpc>
              <a:spcAft>
                <a:spcPts val="0"/>
              </a:spcAft>
              <a:defRPr sz="1100" b="0">
                <a:solidFill>
                  <a:srgbClr val="DC2626"/>
                </a:solidFill>
                <a:latin typeface="Karla"/>
              </a:defRPr>
            </a:pPr>
            <a:r>
              <a:t>❌</a:t>
            </a:r>
          </a:p>
        </p:txBody>
      </p:sp>
      <p:sp>
        <p:nvSpPr>
          <p:cNvPr id="50" name="TextBox 49"/>
          <p:cNvSpPr txBox="1"/>
          <p:nvPr/>
        </p:nvSpPr>
        <p:spPr>
          <a:xfrm>
            <a:off x="7498079" y="5138928"/>
            <a:ext cx="2011680" cy="475488"/>
          </a:xfrm>
          <a:prstGeom prst="rect">
            <a:avLst/>
          </a:prstGeom>
          <a:noFill/>
        </p:spPr>
        <p:txBody>
          <a:bodyPr wrap="square">
            <a:spAutoFit/>
          </a:bodyPr>
          <a:lstStyle/>
          <a:p>
            <a:pPr algn="ctr">
              <a:lnSpc>
                <a:spcPts val="1320"/>
              </a:lnSpc>
              <a:spcAft>
                <a:spcPts val="0"/>
              </a:spcAft>
              <a:defRPr sz="1100" b="0">
                <a:solidFill>
                  <a:srgbClr val="DC2626"/>
                </a:solidFill>
                <a:latin typeface="Karla"/>
              </a:defRPr>
            </a:pPr>
            <a:r>
              <a:t>❌</a:t>
            </a:r>
          </a:p>
        </p:txBody>
      </p:sp>
      <p:sp>
        <p:nvSpPr>
          <p:cNvPr id="51" name="TextBox 50"/>
          <p:cNvSpPr txBox="1"/>
          <p:nvPr/>
        </p:nvSpPr>
        <p:spPr>
          <a:xfrm>
            <a:off x="9509759" y="5138928"/>
            <a:ext cx="1920240" cy="475488"/>
          </a:xfrm>
          <a:prstGeom prst="rect">
            <a:avLst/>
          </a:prstGeom>
          <a:noFill/>
        </p:spPr>
        <p:txBody>
          <a:bodyPr wrap="square">
            <a:spAutoFit/>
          </a:bodyPr>
          <a:lstStyle/>
          <a:p>
            <a:pPr algn="ctr">
              <a:lnSpc>
                <a:spcPts val="1320"/>
              </a:lnSpc>
              <a:spcAft>
                <a:spcPts val="0"/>
              </a:spcAft>
              <a:defRPr sz="1100" b="0">
                <a:solidFill>
                  <a:srgbClr val="DC2626"/>
                </a:solidFill>
                <a:latin typeface="Karla"/>
              </a:defRPr>
            </a:pPr>
            <a:r>
              <a:t>❌</a:t>
            </a:r>
          </a:p>
        </p:txBody>
      </p:sp>
      <p:sp>
        <p:nvSpPr>
          <p:cNvPr id="52" name="Rectangle 51"/>
          <p:cNvSpPr/>
          <p:nvPr/>
        </p:nvSpPr>
        <p:spPr>
          <a:xfrm>
            <a:off x="731520" y="5614416"/>
            <a:ext cx="1069848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31520" y="5614416"/>
            <a:ext cx="2743200" cy="475488"/>
          </a:xfrm>
          <a:prstGeom prst="rect">
            <a:avLst/>
          </a:prstGeom>
          <a:noFill/>
        </p:spPr>
        <p:txBody>
          <a:bodyPr wrap="square">
            <a:spAutoFit/>
          </a:bodyPr>
          <a:lstStyle/>
          <a:p>
            <a:pPr algn="l">
              <a:lnSpc>
                <a:spcPts val="1320"/>
              </a:lnSpc>
              <a:spcAft>
                <a:spcPts val="0"/>
              </a:spcAft>
              <a:defRPr sz="1100" b="0">
                <a:solidFill>
                  <a:srgbClr val="1E293B"/>
                </a:solidFill>
                <a:latin typeface="Karla"/>
              </a:defRPr>
            </a:pPr>
            <a:r>
              <a:t>Revenue reconciliation</a:t>
            </a:r>
          </a:p>
        </p:txBody>
      </p:sp>
      <p:sp>
        <p:nvSpPr>
          <p:cNvPr id="54" name="TextBox 53"/>
          <p:cNvSpPr txBox="1"/>
          <p:nvPr/>
        </p:nvSpPr>
        <p:spPr>
          <a:xfrm>
            <a:off x="3474720" y="5614416"/>
            <a:ext cx="2011680" cy="475488"/>
          </a:xfrm>
          <a:prstGeom prst="rect">
            <a:avLst/>
          </a:prstGeom>
          <a:noFill/>
        </p:spPr>
        <p:txBody>
          <a:bodyPr wrap="square">
            <a:spAutoFit/>
          </a:bodyPr>
          <a:lstStyle/>
          <a:p>
            <a:pPr algn="ctr">
              <a:lnSpc>
                <a:spcPts val="1320"/>
              </a:lnSpc>
              <a:spcAft>
                <a:spcPts val="0"/>
              </a:spcAft>
              <a:defRPr sz="1100" b="1">
                <a:solidFill>
                  <a:srgbClr val="16A34A"/>
                </a:solidFill>
                <a:latin typeface="Karla"/>
              </a:defRPr>
            </a:pPr>
            <a:r>
              <a:t>✅ Auto</a:t>
            </a:r>
          </a:p>
        </p:txBody>
      </p:sp>
      <p:sp>
        <p:nvSpPr>
          <p:cNvPr id="55" name="TextBox 54"/>
          <p:cNvSpPr txBox="1"/>
          <p:nvPr/>
        </p:nvSpPr>
        <p:spPr>
          <a:xfrm>
            <a:off x="5486400" y="5614416"/>
            <a:ext cx="2011680" cy="475488"/>
          </a:xfrm>
          <a:prstGeom prst="rect">
            <a:avLst/>
          </a:prstGeom>
          <a:noFill/>
        </p:spPr>
        <p:txBody>
          <a:bodyPr wrap="square">
            <a:spAutoFit/>
          </a:bodyPr>
          <a:lstStyle/>
          <a:p>
            <a:pPr algn="ctr">
              <a:lnSpc>
                <a:spcPts val="1320"/>
              </a:lnSpc>
              <a:spcAft>
                <a:spcPts val="0"/>
              </a:spcAft>
              <a:defRPr sz="1100" b="0">
                <a:solidFill>
                  <a:srgbClr val="DC2626"/>
                </a:solidFill>
                <a:latin typeface="Karla"/>
              </a:defRPr>
            </a:pPr>
            <a:r>
              <a:t>❌</a:t>
            </a:r>
          </a:p>
        </p:txBody>
      </p:sp>
      <p:sp>
        <p:nvSpPr>
          <p:cNvPr id="56" name="TextBox 55"/>
          <p:cNvSpPr txBox="1"/>
          <p:nvPr/>
        </p:nvSpPr>
        <p:spPr>
          <a:xfrm>
            <a:off x="7498079" y="5614416"/>
            <a:ext cx="2011680" cy="475488"/>
          </a:xfrm>
          <a:prstGeom prst="rect">
            <a:avLst/>
          </a:prstGeom>
          <a:noFill/>
        </p:spPr>
        <p:txBody>
          <a:bodyPr wrap="square">
            <a:spAutoFit/>
          </a:bodyPr>
          <a:lstStyle/>
          <a:p>
            <a:pPr algn="ctr">
              <a:lnSpc>
                <a:spcPts val="1320"/>
              </a:lnSpc>
              <a:spcAft>
                <a:spcPts val="0"/>
              </a:spcAft>
              <a:defRPr sz="1100" b="0">
                <a:solidFill>
                  <a:srgbClr val="64748B"/>
                </a:solidFill>
                <a:latin typeface="Karla"/>
              </a:defRPr>
            </a:pPr>
            <a:r>
              <a:t>Manual</a:t>
            </a:r>
          </a:p>
        </p:txBody>
      </p:sp>
      <p:sp>
        <p:nvSpPr>
          <p:cNvPr id="57" name="TextBox 56"/>
          <p:cNvSpPr txBox="1"/>
          <p:nvPr/>
        </p:nvSpPr>
        <p:spPr>
          <a:xfrm>
            <a:off x="9509759" y="5614416"/>
            <a:ext cx="1920240" cy="475488"/>
          </a:xfrm>
          <a:prstGeom prst="rect">
            <a:avLst/>
          </a:prstGeom>
          <a:noFill/>
        </p:spPr>
        <p:txBody>
          <a:bodyPr wrap="square">
            <a:spAutoFit/>
          </a:bodyPr>
          <a:lstStyle/>
          <a:p>
            <a:pPr algn="ctr">
              <a:lnSpc>
                <a:spcPts val="1320"/>
              </a:lnSpc>
              <a:spcAft>
                <a:spcPts val="0"/>
              </a:spcAft>
              <a:defRPr sz="1100" b="0">
                <a:solidFill>
                  <a:srgbClr val="DC2626"/>
                </a:solidFill>
                <a:latin typeface="Karla"/>
              </a:defRPr>
            </a:pPr>
            <a:r>
              <a:t>❌</a:t>
            </a:r>
          </a:p>
        </p:txBody>
      </p:sp>
      <p:sp>
        <p:nvSpPr>
          <p:cNvPr id="58" name="TextBox 57"/>
          <p:cNvSpPr txBox="1"/>
          <p:nvPr/>
        </p:nvSpPr>
        <p:spPr>
          <a:xfrm>
            <a:off x="731520" y="6400800"/>
            <a:ext cx="3657600" cy="365760"/>
          </a:xfrm>
          <a:prstGeom prst="rect">
            <a:avLst/>
          </a:prstGeom>
          <a:noFill/>
        </p:spPr>
        <p:txBody>
          <a:bodyPr wrap="square">
            <a:spAutoFit/>
          </a:bodyPr>
          <a:lstStyle/>
          <a:p>
            <a:pPr algn="l">
              <a:lnSpc>
                <a:spcPts val="1080"/>
              </a:lnSpc>
              <a:spcAft>
                <a:spcPts val="0"/>
              </a:spcAft>
              <a:defRPr sz="900" b="0">
                <a:solidFill>
                  <a:srgbClr val="64748B"/>
                </a:solidFill>
                <a:latin typeface="Fredoka"/>
              </a:defRPr>
            </a:pPr>
            <a:r>
              <a:t>💧 Drop — Multivendor Water Delivery Platform</a:t>
            </a:r>
          </a:p>
        </p:txBody>
      </p:sp>
      <p:sp>
        <p:nvSpPr>
          <p:cNvPr id="59" name="TextBox 58"/>
          <p:cNvSpPr txBox="1"/>
          <p:nvPr/>
        </p:nvSpPr>
        <p:spPr>
          <a:xfrm>
            <a:off x="10515600" y="6400800"/>
            <a:ext cx="1371600" cy="365760"/>
          </a:xfrm>
          <a:prstGeom prst="rect">
            <a:avLst/>
          </a:prstGeom>
          <a:noFill/>
        </p:spPr>
        <p:txBody>
          <a:bodyPr wrap="square">
            <a:spAutoFit/>
          </a:bodyPr>
          <a:lstStyle/>
          <a:p>
            <a:pPr algn="r">
              <a:lnSpc>
                <a:spcPts val="1080"/>
              </a:lnSpc>
              <a:spcAft>
                <a:spcPts val="0"/>
              </a:spcAft>
              <a:defRPr sz="900" b="0">
                <a:solidFill>
                  <a:srgbClr val="64748B"/>
                </a:solidFill>
                <a:latin typeface="Karla"/>
              </a:defRPr>
            </a:pPr>
            <a:r>
              <a:t>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48640"/>
            <a:ext cx="10058400" cy="731520"/>
          </a:xfrm>
          <a:prstGeom prst="rect">
            <a:avLst/>
          </a:prstGeom>
          <a:noFill/>
        </p:spPr>
        <p:txBody>
          <a:bodyPr wrap="square">
            <a:spAutoFit/>
          </a:bodyPr>
          <a:lstStyle/>
          <a:p>
            <a:pPr algn="l">
              <a:lnSpc>
                <a:spcPts val="4320"/>
              </a:lnSpc>
              <a:spcAft>
                <a:spcPts val="0"/>
              </a:spcAft>
              <a:defRPr sz="3600" b="1">
                <a:solidFill>
                  <a:srgbClr val="1E293B"/>
                </a:solidFill>
                <a:latin typeface="Fredoka"/>
              </a:defRPr>
            </a:pPr>
            <a:r>
              <a:t>Go-to-Market Strategy</a:t>
            </a:r>
          </a:p>
        </p:txBody>
      </p:sp>
      <p:sp>
        <p:nvSpPr>
          <p:cNvPr id="3" name="Rectangle 2"/>
          <p:cNvSpPr/>
          <p:nvPr/>
        </p:nvSpPr>
        <p:spPr>
          <a:xfrm>
            <a:off x="731520" y="1234440"/>
            <a:ext cx="548640" cy="50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737360"/>
            <a:ext cx="3383280" cy="7315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783080"/>
            <a:ext cx="2834640" cy="365760"/>
          </a:xfrm>
          <a:prstGeom prst="rect">
            <a:avLst/>
          </a:prstGeom>
          <a:noFill/>
        </p:spPr>
        <p:txBody>
          <a:bodyPr wrap="square">
            <a:spAutoFit/>
          </a:bodyPr>
          <a:lstStyle/>
          <a:p>
            <a:pPr algn="l">
              <a:lnSpc>
                <a:spcPts val="1920"/>
              </a:lnSpc>
              <a:spcAft>
                <a:spcPts val="0"/>
              </a:spcAft>
              <a:defRPr sz="1600" b="1">
                <a:solidFill>
                  <a:srgbClr val="FFFFFF"/>
                </a:solidFill>
                <a:latin typeface="Fredoka"/>
              </a:defRPr>
            </a:pPr>
            <a:r>
              <a:t>Phase 1: Seed</a:t>
            </a:r>
          </a:p>
        </p:txBody>
      </p:sp>
      <p:sp>
        <p:nvSpPr>
          <p:cNvPr id="6" name="TextBox 5"/>
          <p:cNvSpPr txBox="1"/>
          <p:nvPr/>
        </p:nvSpPr>
        <p:spPr>
          <a:xfrm>
            <a:off x="1005840" y="2103120"/>
            <a:ext cx="2834640" cy="274320"/>
          </a:xfrm>
          <a:prstGeom prst="rect">
            <a:avLst/>
          </a:prstGeom>
          <a:noFill/>
        </p:spPr>
        <p:txBody>
          <a:bodyPr wrap="square">
            <a:spAutoFit/>
          </a:bodyPr>
          <a:lstStyle/>
          <a:p>
            <a:pPr algn="l">
              <a:lnSpc>
                <a:spcPts val="1320"/>
              </a:lnSpc>
              <a:spcAft>
                <a:spcPts val="0"/>
              </a:spcAft>
              <a:defRPr sz="1100" b="0">
                <a:solidFill>
                  <a:srgbClr val="DBEAFE"/>
                </a:solidFill>
                <a:latin typeface="Karla"/>
              </a:defRPr>
            </a:pPr>
            <a:r>
              <a:t>Months 1–6</a:t>
            </a:r>
          </a:p>
        </p:txBody>
      </p:sp>
      <p:sp>
        <p:nvSpPr>
          <p:cNvPr id="7" name="Rounded Rectangle 6"/>
          <p:cNvSpPr/>
          <p:nvPr/>
        </p:nvSpPr>
        <p:spPr>
          <a:xfrm>
            <a:off x="731520" y="2468880"/>
            <a:ext cx="3383280" cy="3474720"/>
          </a:xfrm>
          <a:prstGeom prst="round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651760"/>
            <a:ext cx="2834640" cy="3200400"/>
          </a:xfrm>
          <a:prstGeom prst="rect">
            <a:avLst/>
          </a:prstGeom>
          <a:noFill/>
        </p:spPr>
        <p:txBody>
          <a:bodyPr wrap="square">
            <a:spAutoFit/>
          </a:bodyPr>
          <a:lstStyle/>
          <a:p>
            <a:pPr algn="l">
              <a:spcAft>
                <a:spcPts val="0"/>
              </a:spcAft>
              <a:defRPr sz="1200" b="0">
                <a:solidFill>
                  <a:srgbClr val="1E293B"/>
                </a:solidFill>
                <a:latin typeface="Karla"/>
              </a:defRPr>
            </a:pPr>
            <a:r>
              <a:t>▸  Launch in Ngong + Nairobi satellite towns</a:t>
            </a:r>
          </a:p>
          <a:p>
            <a:pPr algn="l">
              <a:spcBef>
                <a:spcPts val="1200"/>
              </a:spcBef>
              <a:spcAft>
                <a:spcPts val="0"/>
              </a:spcAft>
              <a:defRPr sz="1200" b="0">
                <a:solidFill>
                  <a:srgbClr val="1E293B"/>
                </a:solidFill>
                <a:latin typeface="Karla"/>
              </a:defRPr>
            </a:pPr>
            <a:r>
              <a:t>▸  Onboard 50 water vendors</a:t>
            </a:r>
          </a:p>
          <a:p>
            <a:pPr algn="l">
              <a:spcBef>
                <a:spcPts val="1200"/>
              </a:spcBef>
              <a:spcAft>
                <a:spcPts val="0"/>
              </a:spcAft>
              <a:defRPr sz="1200" b="0">
                <a:solidFill>
                  <a:srgbClr val="1E293B"/>
                </a:solidFill>
                <a:latin typeface="Karla"/>
              </a:defRPr>
            </a:pPr>
            <a:r>
              <a:t>▸  Recruit 100 gig riders</a:t>
            </a:r>
          </a:p>
          <a:p>
            <a:pPr algn="l">
              <a:spcBef>
                <a:spcPts val="1200"/>
              </a:spcBef>
              <a:spcAft>
                <a:spcPts val="0"/>
              </a:spcAft>
              <a:defRPr sz="1200" b="0">
                <a:solidFill>
                  <a:srgbClr val="1E293B"/>
                </a:solidFill>
                <a:latin typeface="Karla"/>
              </a:defRPr>
            </a:pPr>
            <a:r>
              <a:t>▸  1,000 beta customers</a:t>
            </a:r>
          </a:p>
          <a:p>
            <a:pPr algn="l">
              <a:spcBef>
                <a:spcPts val="1200"/>
              </a:spcBef>
              <a:spcAft>
                <a:spcPts val="0"/>
              </a:spcAft>
              <a:defRPr sz="1200" b="0">
                <a:solidFill>
                  <a:srgbClr val="1E293B"/>
                </a:solidFill>
                <a:latin typeface="Karla"/>
              </a:defRPr>
            </a:pPr>
            <a:r>
              <a:t>▸  Validate unit economics</a:t>
            </a:r>
          </a:p>
        </p:txBody>
      </p:sp>
      <p:sp>
        <p:nvSpPr>
          <p:cNvPr id="9" name="Rectangle 8"/>
          <p:cNvSpPr/>
          <p:nvPr/>
        </p:nvSpPr>
        <p:spPr>
          <a:xfrm>
            <a:off x="4389120" y="1737360"/>
            <a:ext cx="3383280" cy="73152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63440" y="1783080"/>
            <a:ext cx="2834640" cy="365760"/>
          </a:xfrm>
          <a:prstGeom prst="rect">
            <a:avLst/>
          </a:prstGeom>
          <a:noFill/>
        </p:spPr>
        <p:txBody>
          <a:bodyPr wrap="square">
            <a:spAutoFit/>
          </a:bodyPr>
          <a:lstStyle/>
          <a:p>
            <a:pPr algn="l">
              <a:lnSpc>
                <a:spcPts val="1920"/>
              </a:lnSpc>
              <a:spcAft>
                <a:spcPts val="0"/>
              </a:spcAft>
              <a:defRPr sz="1600" b="1">
                <a:solidFill>
                  <a:srgbClr val="FFFFFF"/>
                </a:solidFill>
                <a:latin typeface="Fredoka"/>
              </a:defRPr>
            </a:pPr>
            <a:r>
              <a:t>Phase 2: Grow</a:t>
            </a:r>
          </a:p>
        </p:txBody>
      </p:sp>
      <p:sp>
        <p:nvSpPr>
          <p:cNvPr id="11" name="TextBox 10"/>
          <p:cNvSpPr txBox="1"/>
          <p:nvPr/>
        </p:nvSpPr>
        <p:spPr>
          <a:xfrm>
            <a:off x="4663440" y="2103120"/>
            <a:ext cx="2834640" cy="274320"/>
          </a:xfrm>
          <a:prstGeom prst="rect">
            <a:avLst/>
          </a:prstGeom>
          <a:noFill/>
        </p:spPr>
        <p:txBody>
          <a:bodyPr wrap="square">
            <a:spAutoFit/>
          </a:bodyPr>
          <a:lstStyle/>
          <a:p>
            <a:pPr algn="l">
              <a:lnSpc>
                <a:spcPts val="1320"/>
              </a:lnSpc>
              <a:spcAft>
                <a:spcPts val="0"/>
              </a:spcAft>
              <a:defRPr sz="1100" b="0">
                <a:solidFill>
                  <a:srgbClr val="DBEAFE"/>
                </a:solidFill>
                <a:latin typeface="Karla"/>
              </a:defRPr>
            </a:pPr>
            <a:r>
              <a:t>Months 7–18</a:t>
            </a:r>
          </a:p>
        </p:txBody>
      </p:sp>
      <p:sp>
        <p:nvSpPr>
          <p:cNvPr id="12" name="Rounded Rectangle 11"/>
          <p:cNvSpPr/>
          <p:nvPr/>
        </p:nvSpPr>
        <p:spPr>
          <a:xfrm>
            <a:off x="4389120" y="2468880"/>
            <a:ext cx="3383280" cy="3474720"/>
          </a:xfrm>
          <a:prstGeom prst="round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63440" y="2651760"/>
            <a:ext cx="2834640" cy="3200400"/>
          </a:xfrm>
          <a:prstGeom prst="rect">
            <a:avLst/>
          </a:prstGeom>
          <a:noFill/>
        </p:spPr>
        <p:txBody>
          <a:bodyPr wrap="square">
            <a:spAutoFit/>
          </a:bodyPr>
          <a:lstStyle/>
          <a:p>
            <a:pPr algn="l">
              <a:spcAft>
                <a:spcPts val="0"/>
              </a:spcAft>
              <a:defRPr sz="1200" b="0">
                <a:solidFill>
                  <a:srgbClr val="1E293B"/>
                </a:solidFill>
                <a:latin typeface="Karla"/>
              </a:defRPr>
            </a:pPr>
            <a:r>
              <a:t>▸  Expand to 5 Nairobi sub-counties</a:t>
            </a:r>
          </a:p>
          <a:p>
            <a:pPr algn="l">
              <a:spcBef>
                <a:spcPts val="1200"/>
              </a:spcBef>
              <a:spcAft>
                <a:spcPts val="0"/>
              </a:spcAft>
              <a:defRPr sz="1200" b="0">
                <a:solidFill>
                  <a:srgbClr val="1E293B"/>
                </a:solidFill>
                <a:latin typeface="Karla"/>
              </a:defRPr>
            </a:pPr>
            <a:r>
              <a:t>▸  Scale to 500 vendors, 1,000 riders</a:t>
            </a:r>
          </a:p>
          <a:p>
            <a:pPr algn="l">
              <a:spcBef>
                <a:spcPts val="1200"/>
              </a:spcBef>
              <a:spcAft>
                <a:spcPts val="0"/>
              </a:spcAft>
              <a:defRPr sz="1200" b="0">
                <a:solidFill>
                  <a:srgbClr val="1E293B"/>
                </a:solidFill>
                <a:latin typeface="Karla"/>
              </a:defRPr>
            </a:pPr>
            <a:r>
              <a:t>▸  Wholesale (B2B) channel launch</a:t>
            </a:r>
          </a:p>
          <a:p>
            <a:pPr algn="l">
              <a:spcBef>
                <a:spcPts val="1200"/>
              </a:spcBef>
              <a:spcAft>
                <a:spcPts val="0"/>
              </a:spcAft>
              <a:defRPr sz="1200" b="0">
                <a:solidFill>
                  <a:srgbClr val="1E293B"/>
                </a:solidFill>
                <a:latin typeface="Karla"/>
              </a:defRPr>
            </a:pPr>
            <a:r>
              <a:t>▸  Subscription model for offices</a:t>
            </a:r>
          </a:p>
          <a:p>
            <a:pPr algn="l">
              <a:spcBef>
                <a:spcPts val="1200"/>
              </a:spcBef>
              <a:spcAft>
                <a:spcPts val="0"/>
              </a:spcAft>
              <a:defRPr sz="1200" b="0">
                <a:solidFill>
                  <a:srgbClr val="1E293B"/>
                </a:solidFill>
                <a:latin typeface="Karla"/>
              </a:defRPr>
            </a:pPr>
            <a:r>
              <a:t>▸  Target 25,000 monthly orders</a:t>
            </a:r>
          </a:p>
        </p:txBody>
      </p:sp>
      <p:sp>
        <p:nvSpPr>
          <p:cNvPr id="14" name="Rectangle 13"/>
          <p:cNvSpPr/>
          <p:nvPr/>
        </p:nvSpPr>
        <p:spPr>
          <a:xfrm>
            <a:off x="8046720" y="1737360"/>
            <a:ext cx="3383280" cy="7315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783080"/>
            <a:ext cx="2834640" cy="365760"/>
          </a:xfrm>
          <a:prstGeom prst="rect">
            <a:avLst/>
          </a:prstGeom>
          <a:noFill/>
        </p:spPr>
        <p:txBody>
          <a:bodyPr wrap="square">
            <a:spAutoFit/>
          </a:bodyPr>
          <a:lstStyle/>
          <a:p>
            <a:pPr algn="l">
              <a:lnSpc>
                <a:spcPts val="1920"/>
              </a:lnSpc>
              <a:spcAft>
                <a:spcPts val="0"/>
              </a:spcAft>
              <a:defRPr sz="1600" b="1">
                <a:solidFill>
                  <a:srgbClr val="FFFFFF"/>
                </a:solidFill>
                <a:latin typeface="Fredoka"/>
              </a:defRPr>
            </a:pPr>
            <a:r>
              <a:t>Phase 3: Scale</a:t>
            </a:r>
          </a:p>
        </p:txBody>
      </p:sp>
      <p:sp>
        <p:nvSpPr>
          <p:cNvPr id="16" name="TextBox 15"/>
          <p:cNvSpPr txBox="1"/>
          <p:nvPr/>
        </p:nvSpPr>
        <p:spPr>
          <a:xfrm>
            <a:off x="8321040" y="2103120"/>
            <a:ext cx="2834640" cy="274320"/>
          </a:xfrm>
          <a:prstGeom prst="rect">
            <a:avLst/>
          </a:prstGeom>
          <a:noFill/>
        </p:spPr>
        <p:txBody>
          <a:bodyPr wrap="square">
            <a:spAutoFit/>
          </a:bodyPr>
          <a:lstStyle/>
          <a:p>
            <a:pPr algn="l">
              <a:lnSpc>
                <a:spcPts val="1320"/>
              </a:lnSpc>
              <a:spcAft>
                <a:spcPts val="0"/>
              </a:spcAft>
              <a:defRPr sz="1100" b="0">
                <a:solidFill>
                  <a:srgbClr val="DBEAFE"/>
                </a:solidFill>
                <a:latin typeface="Karla"/>
              </a:defRPr>
            </a:pPr>
            <a:r>
              <a:t>Months 19–36</a:t>
            </a:r>
          </a:p>
        </p:txBody>
      </p:sp>
      <p:sp>
        <p:nvSpPr>
          <p:cNvPr id="17" name="Rounded Rectangle 16"/>
          <p:cNvSpPr/>
          <p:nvPr/>
        </p:nvSpPr>
        <p:spPr>
          <a:xfrm>
            <a:off x="8046720" y="2468880"/>
            <a:ext cx="3383280" cy="3474720"/>
          </a:xfrm>
          <a:prstGeom prst="round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2651760"/>
            <a:ext cx="2834640" cy="3200400"/>
          </a:xfrm>
          <a:prstGeom prst="rect">
            <a:avLst/>
          </a:prstGeom>
          <a:noFill/>
        </p:spPr>
        <p:txBody>
          <a:bodyPr wrap="square">
            <a:spAutoFit/>
          </a:bodyPr>
          <a:lstStyle/>
          <a:p>
            <a:pPr algn="l">
              <a:spcAft>
                <a:spcPts val="0"/>
              </a:spcAft>
              <a:defRPr sz="1200" b="0">
                <a:solidFill>
                  <a:srgbClr val="1E293B"/>
                </a:solidFill>
                <a:latin typeface="Karla"/>
              </a:defRPr>
            </a:pPr>
            <a:r>
              <a:t>▸  10 Kenyan cities (Mombasa, Kisumu, etc.)</a:t>
            </a:r>
          </a:p>
          <a:p>
            <a:pPr algn="l">
              <a:spcBef>
                <a:spcPts val="1200"/>
              </a:spcBef>
              <a:spcAft>
                <a:spcPts val="0"/>
              </a:spcAft>
              <a:defRPr sz="1200" b="0">
                <a:solidFill>
                  <a:srgbClr val="1E293B"/>
                </a:solidFill>
                <a:latin typeface="Karla"/>
              </a:defRPr>
            </a:pPr>
            <a:r>
              <a:t>▸  White-label for water corporates</a:t>
            </a:r>
          </a:p>
          <a:p>
            <a:pPr algn="l">
              <a:spcBef>
                <a:spcPts val="1200"/>
              </a:spcBef>
              <a:spcAft>
                <a:spcPts val="0"/>
              </a:spcAft>
              <a:defRPr sz="1200" b="0">
                <a:solidFill>
                  <a:srgbClr val="1E293B"/>
                </a:solidFill>
                <a:latin typeface="Karla"/>
              </a:defRPr>
            </a:pPr>
            <a:r>
              <a:t>▸  Water quality certification badges</a:t>
            </a:r>
          </a:p>
          <a:p>
            <a:pPr algn="l">
              <a:spcBef>
                <a:spcPts val="1200"/>
              </a:spcBef>
              <a:spcAft>
                <a:spcPts val="0"/>
              </a:spcAft>
              <a:defRPr sz="1200" b="0">
                <a:solidFill>
                  <a:srgbClr val="1E293B"/>
                </a:solidFill>
                <a:latin typeface="Karla"/>
              </a:defRPr>
            </a:pPr>
            <a:r>
              <a:t>▸  East Africa expansion (UG, TZ)</a:t>
            </a:r>
          </a:p>
          <a:p>
            <a:pPr algn="l">
              <a:spcBef>
                <a:spcPts val="1200"/>
              </a:spcBef>
              <a:spcAft>
                <a:spcPts val="0"/>
              </a:spcAft>
              <a:defRPr sz="1200" b="0">
                <a:solidFill>
                  <a:srgbClr val="1E293B"/>
                </a:solidFill>
                <a:latin typeface="Karla"/>
              </a:defRPr>
            </a:pPr>
            <a:r>
              <a:t>▸  Target 200,000+ monthly orders</a:t>
            </a:r>
          </a:p>
        </p:txBody>
      </p:sp>
      <p:sp>
        <p:nvSpPr>
          <p:cNvPr id="19" name="TextBox 18"/>
          <p:cNvSpPr txBox="1"/>
          <p:nvPr/>
        </p:nvSpPr>
        <p:spPr>
          <a:xfrm>
            <a:off x="731520" y="6400800"/>
            <a:ext cx="3657600" cy="365760"/>
          </a:xfrm>
          <a:prstGeom prst="rect">
            <a:avLst/>
          </a:prstGeom>
          <a:noFill/>
        </p:spPr>
        <p:txBody>
          <a:bodyPr wrap="square">
            <a:spAutoFit/>
          </a:bodyPr>
          <a:lstStyle/>
          <a:p>
            <a:pPr algn="l">
              <a:lnSpc>
                <a:spcPts val="1080"/>
              </a:lnSpc>
              <a:spcAft>
                <a:spcPts val="0"/>
              </a:spcAft>
              <a:defRPr sz="900" b="0">
                <a:solidFill>
                  <a:srgbClr val="64748B"/>
                </a:solidFill>
                <a:latin typeface="Fredoka"/>
              </a:defRPr>
            </a:pPr>
            <a:r>
              <a:t>💧 Drop — Multivendor Water Delivery Platform</a:t>
            </a:r>
          </a:p>
        </p:txBody>
      </p:sp>
      <p:sp>
        <p:nvSpPr>
          <p:cNvPr id="20" name="TextBox 19"/>
          <p:cNvSpPr txBox="1"/>
          <p:nvPr/>
        </p:nvSpPr>
        <p:spPr>
          <a:xfrm>
            <a:off x="10515600" y="6400800"/>
            <a:ext cx="1371600" cy="365760"/>
          </a:xfrm>
          <a:prstGeom prst="rect">
            <a:avLst/>
          </a:prstGeom>
          <a:noFill/>
        </p:spPr>
        <p:txBody>
          <a:bodyPr wrap="square">
            <a:spAutoFit/>
          </a:bodyPr>
          <a:lstStyle/>
          <a:p>
            <a:pPr algn="r">
              <a:lnSpc>
                <a:spcPts val="1080"/>
              </a:lnSpc>
              <a:spcAft>
                <a:spcPts val="0"/>
              </a:spcAft>
              <a:defRPr sz="900" b="0">
                <a:solidFill>
                  <a:srgbClr val="64748B"/>
                </a:solidFill>
                <a:latin typeface="Karla"/>
              </a:defRPr>
            </a:pPr>
            <a:r>
              <a:t>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48640"/>
            <a:ext cx="10058400" cy="731520"/>
          </a:xfrm>
          <a:prstGeom prst="rect">
            <a:avLst/>
          </a:prstGeom>
          <a:noFill/>
        </p:spPr>
        <p:txBody>
          <a:bodyPr wrap="square">
            <a:spAutoFit/>
          </a:bodyPr>
          <a:lstStyle/>
          <a:p>
            <a:pPr algn="l">
              <a:lnSpc>
                <a:spcPts val="4320"/>
              </a:lnSpc>
              <a:spcAft>
                <a:spcPts val="0"/>
              </a:spcAft>
              <a:defRPr sz="3600" b="1">
                <a:solidFill>
                  <a:srgbClr val="1E293B"/>
                </a:solidFill>
                <a:latin typeface="Fredoka"/>
              </a:defRPr>
            </a:pPr>
            <a:r>
              <a:t>Financial Projections</a:t>
            </a:r>
          </a:p>
        </p:txBody>
      </p:sp>
      <p:sp>
        <p:nvSpPr>
          <p:cNvPr id="3" name="Rectangle 2"/>
          <p:cNvSpPr/>
          <p:nvPr/>
        </p:nvSpPr>
        <p:spPr>
          <a:xfrm>
            <a:off x="731520" y="1234440"/>
            <a:ext cx="548640" cy="50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737360"/>
            <a:ext cx="3383280" cy="5486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55648"/>
            <a:ext cx="3383280" cy="548640"/>
          </a:xfrm>
          <a:prstGeom prst="rect">
            <a:avLst/>
          </a:prstGeom>
          <a:noFill/>
        </p:spPr>
        <p:txBody>
          <a:bodyPr wrap="square">
            <a:spAutoFit/>
          </a:bodyPr>
          <a:lstStyle/>
          <a:p>
            <a:pPr algn="ctr">
              <a:lnSpc>
                <a:spcPts val="2160"/>
              </a:lnSpc>
              <a:spcAft>
                <a:spcPts val="0"/>
              </a:spcAft>
              <a:defRPr sz="1800" b="1">
                <a:solidFill>
                  <a:srgbClr val="FFFFFF"/>
                </a:solidFill>
                <a:latin typeface="Fredoka"/>
              </a:defRPr>
            </a:pPr>
            <a:r>
              <a:t>Year 1</a:t>
            </a:r>
          </a:p>
        </p:txBody>
      </p:sp>
      <p:sp>
        <p:nvSpPr>
          <p:cNvPr id="6" name="Rectangle 5"/>
          <p:cNvSpPr/>
          <p:nvPr/>
        </p:nvSpPr>
        <p:spPr>
          <a:xfrm>
            <a:off x="731520" y="2377440"/>
            <a:ext cx="3383280" cy="59436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468880"/>
            <a:ext cx="1645920" cy="411480"/>
          </a:xfrm>
          <a:prstGeom prst="rect">
            <a:avLst/>
          </a:prstGeom>
          <a:noFill/>
        </p:spPr>
        <p:txBody>
          <a:bodyPr wrap="square">
            <a:spAutoFit/>
          </a:bodyPr>
          <a:lstStyle/>
          <a:p>
            <a:pPr algn="l">
              <a:lnSpc>
                <a:spcPts val="1439"/>
              </a:lnSpc>
              <a:spcAft>
                <a:spcPts val="0"/>
              </a:spcAft>
              <a:defRPr sz="1200" b="0">
                <a:solidFill>
                  <a:srgbClr val="64748B"/>
                </a:solidFill>
                <a:latin typeface="Karla"/>
              </a:defRPr>
            </a:pPr>
            <a:r>
              <a:t>Monthly Orders</a:t>
            </a:r>
          </a:p>
        </p:txBody>
      </p:sp>
      <p:sp>
        <p:nvSpPr>
          <p:cNvPr id="8" name="TextBox 7"/>
          <p:cNvSpPr txBox="1"/>
          <p:nvPr/>
        </p:nvSpPr>
        <p:spPr>
          <a:xfrm>
            <a:off x="2377440" y="2468880"/>
            <a:ext cx="1463040" cy="411480"/>
          </a:xfrm>
          <a:prstGeom prst="rect">
            <a:avLst/>
          </a:prstGeom>
          <a:noFill/>
        </p:spPr>
        <p:txBody>
          <a:bodyPr wrap="square">
            <a:spAutoFit/>
          </a:bodyPr>
          <a:lstStyle/>
          <a:p>
            <a:pPr algn="r">
              <a:lnSpc>
                <a:spcPts val="1560"/>
              </a:lnSpc>
              <a:spcAft>
                <a:spcPts val="0"/>
              </a:spcAft>
              <a:defRPr sz="1300" b="1">
                <a:solidFill>
                  <a:srgbClr val="1E293B"/>
                </a:solidFill>
                <a:latin typeface="JetBrains Mono"/>
              </a:defRPr>
            </a:pPr>
            <a:r>
              <a:t>5,000</a:t>
            </a:r>
          </a:p>
        </p:txBody>
      </p:sp>
      <p:sp>
        <p:nvSpPr>
          <p:cNvPr id="9" name="Rectangle 8"/>
          <p:cNvSpPr/>
          <p:nvPr/>
        </p:nvSpPr>
        <p:spPr>
          <a:xfrm>
            <a:off x="731520" y="3017520"/>
            <a:ext cx="338328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108960"/>
            <a:ext cx="1645920" cy="411480"/>
          </a:xfrm>
          <a:prstGeom prst="rect">
            <a:avLst/>
          </a:prstGeom>
          <a:noFill/>
        </p:spPr>
        <p:txBody>
          <a:bodyPr wrap="square">
            <a:spAutoFit/>
          </a:bodyPr>
          <a:lstStyle/>
          <a:p>
            <a:pPr algn="l">
              <a:lnSpc>
                <a:spcPts val="1439"/>
              </a:lnSpc>
              <a:spcAft>
                <a:spcPts val="0"/>
              </a:spcAft>
              <a:defRPr sz="1200" b="0">
                <a:solidFill>
                  <a:srgbClr val="64748B"/>
                </a:solidFill>
                <a:latin typeface="Karla"/>
              </a:defRPr>
            </a:pPr>
            <a:r>
              <a:t>GMV</a:t>
            </a:r>
          </a:p>
        </p:txBody>
      </p:sp>
      <p:sp>
        <p:nvSpPr>
          <p:cNvPr id="11" name="TextBox 10"/>
          <p:cNvSpPr txBox="1"/>
          <p:nvPr/>
        </p:nvSpPr>
        <p:spPr>
          <a:xfrm>
            <a:off x="2377440" y="3108960"/>
            <a:ext cx="1463040" cy="411480"/>
          </a:xfrm>
          <a:prstGeom prst="rect">
            <a:avLst/>
          </a:prstGeom>
          <a:noFill/>
        </p:spPr>
        <p:txBody>
          <a:bodyPr wrap="square">
            <a:spAutoFit/>
          </a:bodyPr>
          <a:lstStyle/>
          <a:p>
            <a:pPr algn="r">
              <a:lnSpc>
                <a:spcPts val="1560"/>
              </a:lnSpc>
              <a:spcAft>
                <a:spcPts val="0"/>
              </a:spcAft>
              <a:defRPr sz="1300" b="1">
                <a:solidFill>
                  <a:srgbClr val="1E293B"/>
                </a:solidFill>
                <a:latin typeface="JetBrains Mono"/>
              </a:defRPr>
            </a:pPr>
            <a:r>
              <a:t>KSH 35.3M</a:t>
            </a:r>
          </a:p>
        </p:txBody>
      </p:sp>
      <p:sp>
        <p:nvSpPr>
          <p:cNvPr id="12" name="Rectangle 11"/>
          <p:cNvSpPr/>
          <p:nvPr/>
        </p:nvSpPr>
        <p:spPr>
          <a:xfrm>
            <a:off x="731520" y="3657600"/>
            <a:ext cx="3383280" cy="59436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749040"/>
            <a:ext cx="1645920" cy="411480"/>
          </a:xfrm>
          <a:prstGeom prst="rect">
            <a:avLst/>
          </a:prstGeom>
          <a:noFill/>
        </p:spPr>
        <p:txBody>
          <a:bodyPr wrap="square">
            <a:spAutoFit/>
          </a:bodyPr>
          <a:lstStyle/>
          <a:p>
            <a:pPr algn="l">
              <a:lnSpc>
                <a:spcPts val="1439"/>
              </a:lnSpc>
              <a:spcAft>
                <a:spcPts val="0"/>
              </a:spcAft>
              <a:defRPr sz="1200" b="0">
                <a:solidFill>
                  <a:srgbClr val="64748B"/>
                </a:solidFill>
                <a:latin typeface="Karla"/>
              </a:defRPr>
            </a:pPr>
            <a:r>
              <a:t>Platform Take</a:t>
            </a:r>
          </a:p>
        </p:txBody>
      </p:sp>
      <p:sp>
        <p:nvSpPr>
          <p:cNvPr id="14" name="TextBox 13"/>
          <p:cNvSpPr txBox="1"/>
          <p:nvPr/>
        </p:nvSpPr>
        <p:spPr>
          <a:xfrm>
            <a:off x="2377440" y="3749040"/>
            <a:ext cx="1463040" cy="411480"/>
          </a:xfrm>
          <a:prstGeom prst="rect">
            <a:avLst/>
          </a:prstGeom>
          <a:noFill/>
        </p:spPr>
        <p:txBody>
          <a:bodyPr wrap="square">
            <a:spAutoFit/>
          </a:bodyPr>
          <a:lstStyle/>
          <a:p>
            <a:pPr algn="r">
              <a:lnSpc>
                <a:spcPts val="1560"/>
              </a:lnSpc>
              <a:spcAft>
                <a:spcPts val="0"/>
              </a:spcAft>
              <a:defRPr sz="1300" b="1">
                <a:solidFill>
                  <a:srgbClr val="1E293B"/>
                </a:solidFill>
                <a:latin typeface="JetBrains Mono"/>
              </a:defRPr>
            </a:pPr>
            <a:r>
              <a:t>KSH 4.29M</a:t>
            </a:r>
          </a:p>
        </p:txBody>
      </p:sp>
      <p:sp>
        <p:nvSpPr>
          <p:cNvPr id="15" name="Rectangle 14"/>
          <p:cNvSpPr/>
          <p:nvPr/>
        </p:nvSpPr>
        <p:spPr>
          <a:xfrm>
            <a:off x="731520" y="4297679"/>
            <a:ext cx="338328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389119"/>
            <a:ext cx="1645920" cy="411480"/>
          </a:xfrm>
          <a:prstGeom prst="rect">
            <a:avLst/>
          </a:prstGeom>
          <a:noFill/>
        </p:spPr>
        <p:txBody>
          <a:bodyPr wrap="square">
            <a:spAutoFit/>
          </a:bodyPr>
          <a:lstStyle/>
          <a:p>
            <a:pPr algn="l">
              <a:lnSpc>
                <a:spcPts val="1439"/>
              </a:lnSpc>
              <a:spcAft>
                <a:spcPts val="0"/>
              </a:spcAft>
              <a:defRPr sz="1200" b="0">
                <a:solidFill>
                  <a:srgbClr val="64748B"/>
                </a:solidFill>
                <a:latin typeface="Karla"/>
              </a:defRPr>
            </a:pPr>
            <a:r>
              <a:t>Payment Costs</a:t>
            </a:r>
          </a:p>
        </p:txBody>
      </p:sp>
      <p:sp>
        <p:nvSpPr>
          <p:cNvPr id="17" name="TextBox 16"/>
          <p:cNvSpPr txBox="1"/>
          <p:nvPr/>
        </p:nvSpPr>
        <p:spPr>
          <a:xfrm>
            <a:off x="2377440" y="4389119"/>
            <a:ext cx="1463040" cy="411480"/>
          </a:xfrm>
          <a:prstGeom prst="rect">
            <a:avLst/>
          </a:prstGeom>
          <a:noFill/>
        </p:spPr>
        <p:txBody>
          <a:bodyPr wrap="square">
            <a:spAutoFit/>
          </a:bodyPr>
          <a:lstStyle/>
          <a:p>
            <a:pPr algn="r">
              <a:lnSpc>
                <a:spcPts val="1560"/>
              </a:lnSpc>
              <a:spcAft>
                <a:spcPts val="0"/>
              </a:spcAft>
              <a:defRPr sz="1300" b="1">
                <a:solidFill>
                  <a:srgbClr val="1E293B"/>
                </a:solidFill>
                <a:latin typeface="JetBrains Mono"/>
              </a:defRPr>
            </a:pPr>
            <a:r>
              <a:t>KSH 1.47M</a:t>
            </a:r>
          </a:p>
        </p:txBody>
      </p:sp>
      <p:sp>
        <p:nvSpPr>
          <p:cNvPr id="18" name="Rectangle 17"/>
          <p:cNvSpPr/>
          <p:nvPr/>
        </p:nvSpPr>
        <p:spPr>
          <a:xfrm>
            <a:off x="731520" y="4937760"/>
            <a:ext cx="3383280" cy="59436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029200"/>
            <a:ext cx="1645920" cy="411480"/>
          </a:xfrm>
          <a:prstGeom prst="rect">
            <a:avLst/>
          </a:prstGeom>
          <a:noFill/>
        </p:spPr>
        <p:txBody>
          <a:bodyPr wrap="square">
            <a:spAutoFit/>
          </a:bodyPr>
          <a:lstStyle/>
          <a:p>
            <a:pPr algn="l">
              <a:lnSpc>
                <a:spcPts val="1439"/>
              </a:lnSpc>
              <a:spcAft>
                <a:spcPts val="0"/>
              </a:spcAft>
              <a:defRPr sz="1200" b="0">
                <a:solidFill>
                  <a:srgbClr val="64748B"/>
                </a:solidFill>
                <a:latin typeface="Karla"/>
              </a:defRPr>
            </a:pPr>
            <a:r>
              <a:t>Operating Costs</a:t>
            </a:r>
          </a:p>
        </p:txBody>
      </p:sp>
      <p:sp>
        <p:nvSpPr>
          <p:cNvPr id="20" name="TextBox 19"/>
          <p:cNvSpPr txBox="1"/>
          <p:nvPr/>
        </p:nvSpPr>
        <p:spPr>
          <a:xfrm>
            <a:off x="2377440" y="5029200"/>
            <a:ext cx="1463040" cy="411480"/>
          </a:xfrm>
          <a:prstGeom prst="rect">
            <a:avLst/>
          </a:prstGeom>
          <a:noFill/>
        </p:spPr>
        <p:txBody>
          <a:bodyPr wrap="square">
            <a:spAutoFit/>
          </a:bodyPr>
          <a:lstStyle/>
          <a:p>
            <a:pPr algn="r">
              <a:lnSpc>
                <a:spcPts val="1560"/>
              </a:lnSpc>
              <a:spcAft>
                <a:spcPts val="0"/>
              </a:spcAft>
              <a:defRPr sz="1300" b="1">
                <a:solidFill>
                  <a:srgbClr val="1E293B"/>
                </a:solidFill>
                <a:latin typeface="JetBrains Mono"/>
              </a:defRPr>
            </a:pPr>
            <a:r>
              <a:t>KSH 3.5M</a:t>
            </a:r>
          </a:p>
        </p:txBody>
      </p:sp>
      <p:sp>
        <p:nvSpPr>
          <p:cNvPr id="21" name="Rectangle 20"/>
          <p:cNvSpPr/>
          <p:nvPr/>
        </p:nvSpPr>
        <p:spPr>
          <a:xfrm>
            <a:off x="731520" y="5577840"/>
            <a:ext cx="338328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5669280"/>
            <a:ext cx="1645920" cy="411480"/>
          </a:xfrm>
          <a:prstGeom prst="rect">
            <a:avLst/>
          </a:prstGeom>
          <a:noFill/>
        </p:spPr>
        <p:txBody>
          <a:bodyPr wrap="square">
            <a:spAutoFit/>
          </a:bodyPr>
          <a:lstStyle/>
          <a:p>
            <a:pPr algn="l">
              <a:lnSpc>
                <a:spcPts val="1439"/>
              </a:lnSpc>
              <a:spcAft>
                <a:spcPts val="0"/>
              </a:spcAft>
              <a:defRPr sz="1200" b="1">
                <a:solidFill>
                  <a:srgbClr val="64748B"/>
                </a:solidFill>
                <a:latin typeface="Karla"/>
              </a:defRPr>
            </a:pPr>
            <a:r>
              <a:t>Net</a:t>
            </a:r>
          </a:p>
        </p:txBody>
      </p:sp>
      <p:sp>
        <p:nvSpPr>
          <p:cNvPr id="23" name="TextBox 22"/>
          <p:cNvSpPr txBox="1"/>
          <p:nvPr/>
        </p:nvSpPr>
        <p:spPr>
          <a:xfrm>
            <a:off x="2377440" y="5669280"/>
            <a:ext cx="1463040" cy="411480"/>
          </a:xfrm>
          <a:prstGeom prst="rect">
            <a:avLst/>
          </a:prstGeom>
          <a:noFill/>
        </p:spPr>
        <p:txBody>
          <a:bodyPr wrap="square">
            <a:spAutoFit/>
          </a:bodyPr>
          <a:lstStyle/>
          <a:p>
            <a:pPr algn="r">
              <a:lnSpc>
                <a:spcPts val="1560"/>
              </a:lnSpc>
              <a:spcAft>
                <a:spcPts val="0"/>
              </a:spcAft>
              <a:defRPr sz="1300" b="1">
                <a:solidFill>
                  <a:srgbClr val="DC2626"/>
                </a:solidFill>
                <a:latin typeface="JetBrains Mono"/>
              </a:defRPr>
            </a:pPr>
            <a:r>
              <a:t>-KSH 0.68M</a:t>
            </a:r>
          </a:p>
        </p:txBody>
      </p:sp>
      <p:sp>
        <p:nvSpPr>
          <p:cNvPr id="24" name="Rectangle 23"/>
          <p:cNvSpPr/>
          <p:nvPr/>
        </p:nvSpPr>
        <p:spPr>
          <a:xfrm>
            <a:off x="4389120" y="1737360"/>
            <a:ext cx="3383280" cy="5486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89120" y="1755648"/>
            <a:ext cx="3383280" cy="548640"/>
          </a:xfrm>
          <a:prstGeom prst="rect">
            <a:avLst/>
          </a:prstGeom>
          <a:noFill/>
        </p:spPr>
        <p:txBody>
          <a:bodyPr wrap="square">
            <a:spAutoFit/>
          </a:bodyPr>
          <a:lstStyle/>
          <a:p>
            <a:pPr algn="ctr">
              <a:lnSpc>
                <a:spcPts val="2160"/>
              </a:lnSpc>
              <a:spcAft>
                <a:spcPts val="0"/>
              </a:spcAft>
              <a:defRPr sz="1800" b="1">
                <a:solidFill>
                  <a:srgbClr val="FFFFFF"/>
                </a:solidFill>
                <a:latin typeface="Fredoka"/>
              </a:defRPr>
            </a:pPr>
            <a:r>
              <a:t>Year 2</a:t>
            </a:r>
          </a:p>
        </p:txBody>
      </p:sp>
      <p:sp>
        <p:nvSpPr>
          <p:cNvPr id="26" name="Rectangle 25"/>
          <p:cNvSpPr/>
          <p:nvPr/>
        </p:nvSpPr>
        <p:spPr>
          <a:xfrm>
            <a:off x="4389120" y="2377440"/>
            <a:ext cx="3383280" cy="59436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63440" y="2468880"/>
            <a:ext cx="1645920" cy="411480"/>
          </a:xfrm>
          <a:prstGeom prst="rect">
            <a:avLst/>
          </a:prstGeom>
          <a:noFill/>
        </p:spPr>
        <p:txBody>
          <a:bodyPr wrap="square">
            <a:spAutoFit/>
          </a:bodyPr>
          <a:lstStyle/>
          <a:p>
            <a:pPr algn="l">
              <a:lnSpc>
                <a:spcPts val="1439"/>
              </a:lnSpc>
              <a:spcAft>
                <a:spcPts val="0"/>
              </a:spcAft>
              <a:defRPr sz="1200" b="0">
                <a:solidFill>
                  <a:srgbClr val="64748B"/>
                </a:solidFill>
                <a:latin typeface="Karla"/>
              </a:defRPr>
            </a:pPr>
            <a:r>
              <a:t>Monthly Orders</a:t>
            </a:r>
          </a:p>
        </p:txBody>
      </p:sp>
      <p:sp>
        <p:nvSpPr>
          <p:cNvPr id="28" name="TextBox 27"/>
          <p:cNvSpPr txBox="1"/>
          <p:nvPr/>
        </p:nvSpPr>
        <p:spPr>
          <a:xfrm>
            <a:off x="6035040" y="2468880"/>
            <a:ext cx="1463040" cy="411480"/>
          </a:xfrm>
          <a:prstGeom prst="rect">
            <a:avLst/>
          </a:prstGeom>
          <a:noFill/>
        </p:spPr>
        <p:txBody>
          <a:bodyPr wrap="square">
            <a:spAutoFit/>
          </a:bodyPr>
          <a:lstStyle/>
          <a:p>
            <a:pPr algn="r">
              <a:lnSpc>
                <a:spcPts val="1560"/>
              </a:lnSpc>
              <a:spcAft>
                <a:spcPts val="0"/>
              </a:spcAft>
              <a:defRPr sz="1300" b="1">
                <a:solidFill>
                  <a:srgbClr val="1E293B"/>
                </a:solidFill>
                <a:latin typeface="JetBrains Mono"/>
              </a:defRPr>
            </a:pPr>
            <a:r>
              <a:t>25,000</a:t>
            </a:r>
          </a:p>
        </p:txBody>
      </p:sp>
      <p:sp>
        <p:nvSpPr>
          <p:cNvPr id="29" name="Rectangle 28"/>
          <p:cNvSpPr/>
          <p:nvPr/>
        </p:nvSpPr>
        <p:spPr>
          <a:xfrm>
            <a:off x="4389120" y="3017520"/>
            <a:ext cx="338328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63440" y="3108960"/>
            <a:ext cx="1645920" cy="411480"/>
          </a:xfrm>
          <a:prstGeom prst="rect">
            <a:avLst/>
          </a:prstGeom>
          <a:noFill/>
        </p:spPr>
        <p:txBody>
          <a:bodyPr wrap="square">
            <a:spAutoFit/>
          </a:bodyPr>
          <a:lstStyle/>
          <a:p>
            <a:pPr algn="l">
              <a:lnSpc>
                <a:spcPts val="1439"/>
              </a:lnSpc>
              <a:spcAft>
                <a:spcPts val="0"/>
              </a:spcAft>
              <a:defRPr sz="1200" b="0">
                <a:solidFill>
                  <a:srgbClr val="64748B"/>
                </a:solidFill>
                <a:latin typeface="Karla"/>
              </a:defRPr>
            </a:pPr>
            <a:r>
              <a:t>GMV</a:t>
            </a:r>
          </a:p>
        </p:txBody>
      </p:sp>
      <p:sp>
        <p:nvSpPr>
          <p:cNvPr id="31" name="TextBox 30"/>
          <p:cNvSpPr txBox="1"/>
          <p:nvPr/>
        </p:nvSpPr>
        <p:spPr>
          <a:xfrm>
            <a:off x="6035040" y="3108960"/>
            <a:ext cx="1463040" cy="411480"/>
          </a:xfrm>
          <a:prstGeom prst="rect">
            <a:avLst/>
          </a:prstGeom>
          <a:noFill/>
        </p:spPr>
        <p:txBody>
          <a:bodyPr wrap="square">
            <a:spAutoFit/>
          </a:bodyPr>
          <a:lstStyle/>
          <a:p>
            <a:pPr algn="r">
              <a:lnSpc>
                <a:spcPts val="1560"/>
              </a:lnSpc>
              <a:spcAft>
                <a:spcPts val="0"/>
              </a:spcAft>
              <a:defRPr sz="1300" b="1">
                <a:solidFill>
                  <a:srgbClr val="1E293B"/>
                </a:solidFill>
                <a:latin typeface="JetBrains Mono"/>
              </a:defRPr>
            </a:pPr>
            <a:r>
              <a:t>KSH 334M</a:t>
            </a:r>
          </a:p>
        </p:txBody>
      </p:sp>
      <p:sp>
        <p:nvSpPr>
          <p:cNvPr id="32" name="Rectangle 31"/>
          <p:cNvSpPr/>
          <p:nvPr/>
        </p:nvSpPr>
        <p:spPr>
          <a:xfrm>
            <a:off x="4389120" y="3657600"/>
            <a:ext cx="3383280" cy="59436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63440" y="3749040"/>
            <a:ext cx="1645920" cy="411480"/>
          </a:xfrm>
          <a:prstGeom prst="rect">
            <a:avLst/>
          </a:prstGeom>
          <a:noFill/>
        </p:spPr>
        <p:txBody>
          <a:bodyPr wrap="square">
            <a:spAutoFit/>
          </a:bodyPr>
          <a:lstStyle/>
          <a:p>
            <a:pPr algn="l">
              <a:lnSpc>
                <a:spcPts val="1439"/>
              </a:lnSpc>
              <a:spcAft>
                <a:spcPts val="0"/>
              </a:spcAft>
              <a:defRPr sz="1200" b="0">
                <a:solidFill>
                  <a:srgbClr val="64748B"/>
                </a:solidFill>
                <a:latin typeface="Karla"/>
              </a:defRPr>
            </a:pPr>
            <a:r>
              <a:t>Platform Take</a:t>
            </a:r>
          </a:p>
        </p:txBody>
      </p:sp>
      <p:sp>
        <p:nvSpPr>
          <p:cNvPr id="34" name="TextBox 33"/>
          <p:cNvSpPr txBox="1"/>
          <p:nvPr/>
        </p:nvSpPr>
        <p:spPr>
          <a:xfrm>
            <a:off x="6035040" y="3749040"/>
            <a:ext cx="1463040" cy="411480"/>
          </a:xfrm>
          <a:prstGeom prst="rect">
            <a:avLst/>
          </a:prstGeom>
          <a:noFill/>
        </p:spPr>
        <p:txBody>
          <a:bodyPr wrap="square">
            <a:spAutoFit/>
          </a:bodyPr>
          <a:lstStyle/>
          <a:p>
            <a:pPr algn="r">
              <a:lnSpc>
                <a:spcPts val="1560"/>
              </a:lnSpc>
              <a:spcAft>
                <a:spcPts val="0"/>
              </a:spcAft>
              <a:defRPr sz="1300" b="1">
                <a:solidFill>
                  <a:srgbClr val="1E293B"/>
                </a:solidFill>
                <a:latin typeface="JetBrains Mono"/>
              </a:defRPr>
            </a:pPr>
            <a:r>
              <a:t>KSH 33.1M</a:t>
            </a:r>
          </a:p>
        </p:txBody>
      </p:sp>
      <p:sp>
        <p:nvSpPr>
          <p:cNvPr id="35" name="Rectangle 34"/>
          <p:cNvSpPr/>
          <p:nvPr/>
        </p:nvSpPr>
        <p:spPr>
          <a:xfrm>
            <a:off x="4389120" y="4297679"/>
            <a:ext cx="338328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63440" y="4389119"/>
            <a:ext cx="1645920" cy="411480"/>
          </a:xfrm>
          <a:prstGeom prst="rect">
            <a:avLst/>
          </a:prstGeom>
          <a:noFill/>
        </p:spPr>
        <p:txBody>
          <a:bodyPr wrap="square">
            <a:spAutoFit/>
          </a:bodyPr>
          <a:lstStyle/>
          <a:p>
            <a:pPr algn="l">
              <a:lnSpc>
                <a:spcPts val="1439"/>
              </a:lnSpc>
              <a:spcAft>
                <a:spcPts val="0"/>
              </a:spcAft>
              <a:defRPr sz="1200" b="0">
                <a:solidFill>
                  <a:srgbClr val="64748B"/>
                </a:solidFill>
                <a:latin typeface="Karla"/>
              </a:defRPr>
            </a:pPr>
            <a:r>
              <a:t>Payment Costs</a:t>
            </a:r>
          </a:p>
        </p:txBody>
      </p:sp>
      <p:sp>
        <p:nvSpPr>
          <p:cNvPr id="37" name="TextBox 36"/>
          <p:cNvSpPr txBox="1"/>
          <p:nvPr/>
        </p:nvSpPr>
        <p:spPr>
          <a:xfrm>
            <a:off x="6035040" y="4389119"/>
            <a:ext cx="1463040" cy="411480"/>
          </a:xfrm>
          <a:prstGeom prst="rect">
            <a:avLst/>
          </a:prstGeom>
          <a:noFill/>
        </p:spPr>
        <p:txBody>
          <a:bodyPr wrap="square">
            <a:spAutoFit/>
          </a:bodyPr>
          <a:lstStyle/>
          <a:p>
            <a:pPr algn="r">
              <a:lnSpc>
                <a:spcPts val="1560"/>
              </a:lnSpc>
              <a:spcAft>
                <a:spcPts val="0"/>
              </a:spcAft>
              <a:defRPr sz="1300" b="1">
                <a:solidFill>
                  <a:srgbClr val="1E293B"/>
                </a:solidFill>
                <a:latin typeface="JetBrains Mono"/>
              </a:defRPr>
            </a:pPr>
            <a:r>
              <a:t>KSH 6.9M</a:t>
            </a:r>
          </a:p>
        </p:txBody>
      </p:sp>
      <p:sp>
        <p:nvSpPr>
          <p:cNvPr id="38" name="Rectangle 37"/>
          <p:cNvSpPr/>
          <p:nvPr/>
        </p:nvSpPr>
        <p:spPr>
          <a:xfrm>
            <a:off x="4389120" y="4937760"/>
            <a:ext cx="3383280" cy="59436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63440" y="5029200"/>
            <a:ext cx="1645920" cy="411480"/>
          </a:xfrm>
          <a:prstGeom prst="rect">
            <a:avLst/>
          </a:prstGeom>
          <a:noFill/>
        </p:spPr>
        <p:txBody>
          <a:bodyPr wrap="square">
            <a:spAutoFit/>
          </a:bodyPr>
          <a:lstStyle/>
          <a:p>
            <a:pPr algn="l">
              <a:lnSpc>
                <a:spcPts val="1439"/>
              </a:lnSpc>
              <a:spcAft>
                <a:spcPts val="0"/>
              </a:spcAft>
              <a:defRPr sz="1200" b="0">
                <a:solidFill>
                  <a:srgbClr val="64748B"/>
                </a:solidFill>
                <a:latin typeface="Karla"/>
              </a:defRPr>
            </a:pPr>
            <a:r>
              <a:t>Operating Costs</a:t>
            </a:r>
          </a:p>
        </p:txBody>
      </p:sp>
      <p:sp>
        <p:nvSpPr>
          <p:cNvPr id="40" name="TextBox 39"/>
          <p:cNvSpPr txBox="1"/>
          <p:nvPr/>
        </p:nvSpPr>
        <p:spPr>
          <a:xfrm>
            <a:off x="6035040" y="5029200"/>
            <a:ext cx="1463040" cy="411480"/>
          </a:xfrm>
          <a:prstGeom prst="rect">
            <a:avLst/>
          </a:prstGeom>
          <a:noFill/>
        </p:spPr>
        <p:txBody>
          <a:bodyPr wrap="square">
            <a:spAutoFit/>
          </a:bodyPr>
          <a:lstStyle/>
          <a:p>
            <a:pPr algn="r">
              <a:lnSpc>
                <a:spcPts val="1560"/>
              </a:lnSpc>
              <a:spcAft>
                <a:spcPts val="0"/>
              </a:spcAft>
              <a:defRPr sz="1300" b="1">
                <a:solidFill>
                  <a:srgbClr val="1E293B"/>
                </a:solidFill>
                <a:latin typeface="JetBrains Mono"/>
              </a:defRPr>
            </a:pPr>
            <a:r>
              <a:t>KSH 12M</a:t>
            </a:r>
          </a:p>
        </p:txBody>
      </p:sp>
      <p:sp>
        <p:nvSpPr>
          <p:cNvPr id="41" name="Rectangle 40"/>
          <p:cNvSpPr/>
          <p:nvPr/>
        </p:nvSpPr>
        <p:spPr>
          <a:xfrm>
            <a:off x="4389120" y="5577840"/>
            <a:ext cx="338328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63440" y="5669280"/>
            <a:ext cx="1645920" cy="411480"/>
          </a:xfrm>
          <a:prstGeom prst="rect">
            <a:avLst/>
          </a:prstGeom>
          <a:noFill/>
        </p:spPr>
        <p:txBody>
          <a:bodyPr wrap="square">
            <a:spAutoFit/>
          </a:bodyPr>
          <a:lstStyle/>
          <a:p>
            <a:pPr algn="l">
              <a:lnSpc>
                <a:spcPts val="1439"/>
              </a:lnSpc>
              <a:spcAft>
                <a:spcPts val="0"/>
              </a:spcAft>
              <a:defRPr sz="1200" b="1">
                <a:solidFill>
                  <a:srgbClr val="64748B"/>
                </a:solidFill>
                <a:latin typeface="Karla"/>
              </a:defRPr>
            </a:pPr>
            <a:r>
              <a:t>Net</a:t>
            </a:r>
          </a:p>
        </p:txBody>
      </p:sp>
      <p:sp>
        <p:nvSpPr>
          <p:cNvPr id="43" name="TextBox 42"/>
          <p:cNvSpPr txBox="1"/>
          <p:nvPr/>
        </p:nvSpPr>
        <p:spPr>
          <a:xfrm>
            <a:off x="6035040" y="5669280"/>
            <a:ext cx="1463040" cy="411480"/>
          </a:xfrm>
          <a:prstGeom prst="rect">
            <a:avLst/>
          </a:prstGeom>
          <a:noFill/>
        </p:spPr>
        <p:txBody>
          <a:bodyPr wrap="square">
            <a:spAutoFit/>
          </a:bodyPr>
          <a:lstStyle/>
          <a:p>
            <a:pPr algn="r">
              <a:lnSpc>
                <a:spcPts val="1560"/>
              </a:lnSpc>
              <a:spcAft>
                <a:spcPts val="0"/>
              </a:spcAft>
              <a:defRPr sz="1300" b="1">
                <a:solidFill>
                  <a:srgbClr val="16A34A"/>
                </a:solidFill>
                <a:latin typeface="JetBrains Mono"/>
              </a:defRPr>
            </a:pPr>
            <a:r>
              <a:t>KSH 14.2M</a:t>
            </a:r>
          </a:p>
        </p:txBody>
      </p:sp>
      <p:sp>
        <p:nvSpPr>
          <p:cNvPr id="44" name="Rectangle 43"/>
          <p:cNvSpPr/>
          <p:nvPr/>
        </p:nvSpPr>
        <p:spPr>
          <a:xfrm>
            <a:off x="8046720" y="1737360"/>
            <a:ext cx="3383280" cy="54864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46720" y="1755648"/>
            <a:ext cx="3383280" cy="548640"/>
          </a:xfrm>
          <a:prstGeom prst="rect">
            <a:avLst/>
          </a:prstGeom>
          <a:noFill/>
        </p:spPr>
        <p:txBody>
          <a:bodyPr wrap="square">
            <a:spAutoFit/>
          </a:bodyPr>
          <a:lstStyle/>
          <a:p>
            <a:pPr algn="ctr">
              <a:lnSpc>
                <a:spcPts val="2160"/>
              </a:lnSpc>
              <a:spcAft>
                <a:spcPts val="0"/>
              </a:spcAft>
              <a:defRPr sz="1800" b="1">
                <a:solidFill>
                  <a:srgbClr val="FFFFFF"/>
                </a:solidFill>
                <a:latin typeface="Fredoka"/>
              </a:defRPr>
            </a:pPr>
            <a:r>
              <a:t>Year 3</a:t>
            </a:r>
          </a:p>
        </p:txBody>
      </p:sp>
      <p:sp>
        <p:nvSpPr>
          <p:cNvPr id="46" name="Rectangle 45"/>
          <p:cNvSpPr/>
          <p:nvPr/>
        </p:nvSpPr>
        <p:spPr>
          <a:xfrm>
            <a:off x="8046720" y="2377440"/>
            <a:ext cx="3383280" cy="59436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21040" y="2468880"/>
            <a:ext cx="1645920" cy="411480"/>
          </a:xfrm>
          <a:prstGeom prst="rect">
            <a:avLst/>
          </a:prstGeom>
          <a:noFill/>
        </p:spPr>
        <p:txBody>
          <a:bodyPr wrap="square">
            <a:spAutoFit/>
          </a:bodyPr>
          <a:lstStyle/>
          <a:p>
            <a:pPr algn="l">
              <a:lnSpc>
                <a:spcPts val="1439"/>
              </a:lnSpc>
              <a:spcAft>
                <a:spcPts val="0"/>
              </a:spcAft>
              <a:defRPr sz="1200" b="0">
                <a:solidFill>
                  <a:srgbClr val="64748B"/>
                </a:solidFill>
                <a:latin typeface="Karla"/>
              </a:defRPr>
            </a:pPr>
            <a:r>
              <a:t>Monthly Orders</a:t>
            </a:r>
          </a:p>
        </p:txBody>
      </p:sp>
      <p:sp>
        <p:nvSpPr>
          <p:cNvPr id="48" name="TextBox 47"/>
          <p:cNvSpPr txBox="1"/>
          <p:nvPr/>
        </p:nvSpPr>
        <p:spPr>
          <a:xfrm>
            <a:off x="9692640" y="2468880"/>
            <a:ext cx="1463040" cy="411480"/>
          </a:xfrm>
          <a:prstGeom prst="rect">
            <a:avLst/>
          </a:prstGeom>
          <a:noFill/>
        </p:spPr>
        <p:txBody>
          <a:bodyPr wrap="square">
            <a:spAutoFit/>
          </a:bodyPr>
          <a:lstStyle/>
          <a:p>
            <a:pPr algn="r">
              <a:lnSpc>
                <a:spcPts val="1560"/>
              </a:lnSpc>
              <a:spcAft>
                <a:spcPts val="0"/>
              </a:spcAft>
              <a:defRPr sz="1300" b="1">
                <a:solidFill>
                  <a:srgbClr val="1E293B"/>
                </a:solidFill>
                <a:latin typeface="JetBrains Mono"/>
              </a:defRPr>
            </a:pPr>
            <a:r>
              <a:t>200,000</a:t>
            </a:r>
          </a:p>
        </p:txBody>
      </p:sp>
      <p:sp>
        <p:nvSpPr>
          <p:cNvPr id="49" name="Rectangle 48"/>
          <p:cNvSpPr/>
          <p:nvPr/>
        </p:nvSpPr>
        <p:spPr>
          <a:xfrm>
            <a:off x="8046720" y="3017520"/>
            <a:ext cx="338328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21040" y="3108960"/>
            <a:ext cx="1645920" cy="411480"/>
          </a:xfrm>
          <a:prstGeom prst="rect">
            <a:avLst/>
          </a:prstGeom>
          <a:noFill/>
        </p:spPr>
        <p:txBody>
          <a:bodyPr wrap="square">
            <a:spAutoFit/>
          </a:bodyPr>
          <a:lstStyle/>
          <a:p>
            <a:pPr algn="l">
              <a:lnSpc>
                <a:spcPts val="1439"/>
              </a:lnSpc>
              <a:spcAft>
                <a:spcPts val="0"/>
              </a:spcAft>
              <a:defRPr sz="1200" b="0">
                <a:solidFill>
                  <a:srgbClr val="64748B"/>
                </a:solidFill>
                <a:latin typeface="Karla"/>
              </a:defRPr>
            </a:pPr>
            <a:r>
              <a:t>GMV</a:t>
            </a:r>
          </a:p>
        </p:txBody>
      </p:sp>
      <p:sp>
        <p:nvSpPr>
          <p:cNvPr id="51" name="TextBox 50"/>
          <p:cNvSpPr txBox="1"/>
          <p:nvPr/>
        </p:nvSpPr>
        <p:spPr>
          <a:xfrm>
            <a:off x="9692640" y="3108960"/>
            <a:ext cx="1463040" cy="411480"/>
          </a:xfrm>
          <a:prstGeom prst="rect">
            <a:avLst/>
          </a:prstGeom>
          <a:noFill/>
        </p:spPr>
        <p:txBody>
          <a:bodyPr wrap="square">
            <a:spAutoFit/>
          </a:bodyPr>
          <a:lstStyle/>
          <a:p>
            <a:pPr algn="r">
              <a:lnSpc>
                <a:spcPts val="1560"/>
              </a:lnSpc>
              <a:spcAft>
                <a:spcPts val="0"/>
              </a:spcAft>
              <a:defRPr sz="1300" b="1">
                <a:solidFill>
                  <a:srgbClr val="1E293B"/>
                </a:solidFill>
                <a:latin typeface="JetBrains Mono"/>
              </a:defRPr>
            </a:pPr>
            <a:r>
              <a:t>KSH 3.9B</a:t>
            </a:r>
          </a:p>
        </p:txBody>
      </p:sp>
      <p:sp>
        <p:nvSpPr>
          <p:cNvPr id="52" name="Rectangle 51"/>
          <p:cNvSpPr/>
          <p:nvPr/>
        </p:nvSpPr>
        <p:spPr>
          <a:xfrm>
            <a:off x="8046720" y="3657600"/>
            <a:ext cx="3383280" cy="59436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321040" y="3749040"/>
            <a:ext cx="1645920" cy="411480"/>
          </a:xfrm>
          <a:prstGeom prst="rect">
            <a:avLst/>
          </a:prstGeom>
          <a:noFill/>
        </p:spPr>
        <p:txBody>
          <a:bodyPr wrap="square">
            <a:spAutoFit/>
          </a:bodyPr>
          <a:lstStyle/>
          <a:p>
            <a:pPr algn="l">
              <a:lnSpc>
                <a:spcPts val="1439"/>
              </a:lnSpc>
              <a:spcAft>
                <a:spcPts val="0"/>
              </a:spcAft>
              <a:defRPr sz="1200" b="0">
                <a:solidFill>
                  <a:srgbClr val="64748B"/>
                </a:solidFill>
                <a:latin typeface="Karla"/>
              </a:defRPr>
            </a:pPr>
            <a:r>
              <a:t>Platform Take</a:t>
            </a:r>
          </a:p>
        </p:txBody>
      </p:sp>
      <p:sp>
        <p:nvSpPr>
          <p:cNvPr id="54" name="TextBox 53"/>
          <p:cNvSpPr txBox="1"/>
          <p:nvPr/>
        </p:nvSpPr>
        <p:spPr>
          <a:xfrm>
            <a:off x="9692640" y="3749040"/>
            <a:ext cx="1463040" cy="411480"/>
          </a:xfrm>
          <a:prstGeom prst="rect">
            <a:avLst/>
          </a:prstGeom>
          <a:noFill/>
        </p:spPr>
        <p:txBody>
          <a:bodyPr wrap="square">
            <a:spAutoFit/>
          </a:bodyPr>
          <a:lstStyle/>
          <a:p>
            <a:pPr algn="r">
              <a:lnSpc>
                <a:spcPts val="1560"/>
              </a:lnSpc>
              <a:spcAft>
                <a:spcPts val="0"/>
              </a:spcAft>
              <a:defRPr sz="1300" b="1">
                <a:solidFill>
                  <a:srgbClr val="1E293B"/>
                </a:solidFill>
                <a:latin typeface="JetBrains Mono"/>
              </a:defRPr>
            </a:pPr>
            <a:r>
              <a:t>KSH 339M</a:t>
            </a:r>
          </a:p>
        </p:txBody>
      </p:sp>
      <p:sp>
        <p:nvSpPr>
          <p:cNvPr id="55" name="Rectangle 54"/>
          <p:cNvSpPr/>
          <p:nvPr/>
        </p:nvSpPr>
        <p:spPr>
          <a:xfrm>
            <a:off x="8046720" y="4297679"/>
            <a:ext cx="338328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21040" y="4389119"/>
            <a:ext cx="1645920" cy="411480"/>
          </a:xfrm>
          <a:prstGeom prst="rect">
            <a:avLst/>
          </a:prstGeom>
          <a:noFill/>
        </p:spPr>
        <p:txBody>
          <a:bodyPr wrap="square">
            <a:spAutoFit/>
          </a:bodyPr>
          <a:lstStyle/>
          <a:p>
            <a:pPr algn="l">
              <a:lnSpc>
                <a:spcPts val="1439"/>
              </a:lnSpc>
              <a:spcAft>
                <a:spcPts val="0"/>
              </a:spcAft>
              <a:defRPr sz="1200" b="0">
                <a:solidFill>
                  <a:srgbClr val="64748B"/>
                </a:solidFill>
                <a:latin typeface="Karla"/>
              </a:defRPr>
            </a:pPr>
            <a:r>
              <a:t>Payment Costs</a:t>
            </a:r>
          </a:p>
        </p:txBody>
      </p:sp>
      <p:sp>
        <p:nvSpPr>
          <p:cNvPr id="57" name="TextBox 56"/>
          <p:cNvSpPr txBox="1"/>
          <p:nvPr/>
        </p:nvSpPr>
        <p:spPr>
          <a:xfrm>
            <a:off x="9692640" y="4389119"/>
            <a:ext cx="1463040" cy="411480"/>
          </a:xfrm>
          <a:prstGeom prst="rect">
            <a:avLst/>
          </a:prstGeom>
          <a:noFill/>
        </p:spPr>
        <p:txBody>
          <a:bodyPr wrap="square">
            <a:spAutoFit/>
          </a:bodyPr>
          <a:lstStyle/>
          <a:p>
            <a:pPr algn="r">
              <a:lnSpc>
                <a:spcPts val="1560"/>
              </a:lnSpc>
              <a:spcAft>
                <a:spcPts val="0"/>
              </a:spcAft>
              <a:defRPr sz="1300" b="1">
                <a:solidFill>
                  <a:srgbClr val="1E293B"/>
                </a:solidFill>
                <a:latin typeface="JetBrains Mono"/>
              </a:defRPr>
            </a:pPr>
            <a:r>
              <a:t>KSH 57.6M</a:t>
            </a:r>
          </a:p>
        </p:txBody>
      </p:sp>
      <p:sp>
        <p:nvSpPr>
          <p:cNvPr id="58" name="Rectangle 57"/>
          <p:cNvSpPr/>
          <p:nvPr/>
        </p:nvSpPr>
        <p:spPr>
          <a:xfrm>
            <a:off x="8046720" y="4937760"/>
            <a:ext cx="3383280" cy="59436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321040" y="5029200"/>
            <a:ext cx="1645920" cy="411480"/>
          </a:xfrm>
          <a:prstGeom prst="rect">
            <a:avLst/>
          </a:prstGeom>
          <a:noFill/>
        </p:spPr>
        <p:txBody>
          <a:bodyPr wrap="square">
            <a:spAutoFit/>
          </a:bodyPr>
          <a:lstStyle/>
          <a:p>
            <a:pPr algn="l">
              <a:lnSpc>
                <a:spcPts val="1439"/>
              </a:lnSpc>
              <a:spcAft>
                <a:spcPts val="0"/>
              </a:spcAft>
              <a:defRPr sz="1200" b="0">
                <a:solidFill>
                  <a:srgbClr val="64748B"/>
                </a:solidFill>
                <a:latin typeface="Karla"/>
              </a:defRPr>
            </a:pPr>
            <a:r>
              <a:t>Operating Costs</a:t>
            </a:r>
          </a:p>
        </p:txBody>
      </p:sp>
      <p:sp>
        <p:nvSpPr>
          <p:cNvPr id="60" name="TextBox 59"/>
          <p:cNvSpPr txBox="1"/>
          <p:nvPr/>
        </p:nvSpPr>
        <p:spPr>
          <a:xfrm>
            <a:off x="9692640" y="5029200"/>
            <a:ext cx="1463040" cy="411480"/>
          </a:xfrm>
          <a:prstGeom prst="rect">
            <a:avLst/>
          </a:prstGeom>
          <a:noFill/>
        </p:spPr>
        <p:txBody>
          <a:bodyPr wrap="square">
            <a:spAutoFit/>
          </a:bodyPr>
          <a:lstStyle/>
          <a:p>
            <a:pPr algn="r">
              <a:lnSpc>
                <a:spcPts val="1560"/>
              </a:lnSpc>
              <a:spcAft>
                <a:spcPts val="0"/>
              </a:spcAft>
              <a:defRPr sz="1300" b="1">
                <a:solidFill>
                  <a:srgbClr val="1E293B"/>
                </a:solidFill>
                <a:latin typeface="JetBrains Mono"/>
              </a:defRPr>
            </a:pPr>
            <a:r>
              <a:t>KSH 65M</a:t>
            </a:r>
          </a:p>
        </p:txBody>
      </p:sp>
      <p:sp>
        <p:nvSpPr>
          <p:cNvPr id="61" name="Rectangle 60"/>
          <p:cNvSpPr/>
          <p:nvPr/>
        </p:nvSpPr>
        <p:spPr>
          <a:xfrm>
            <a:off x="8046720" y="5577840"/>
            <a:ext cx="338328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321040" y="5669280"/>
            <a:ext cx="1645920" cy="411480"/>
          </a:xfrm>
          <a:prstGeom prst="rect">
            <a:avLst/>
          </a:prstGeom>
          <a:noFill/>
        </p:spPr>
        <p:txBody>
          <a:bodyPr wrap="square">
            <a:spAutoFit/>
          </a:bodyPr>
          <a:lstStyle/>
          <a:p>
            <a:pPr algn="l">
              <a:lnSpc>
                <a:spcPts val="1439"/>
              </a:lnSpc>
              <a:spcAft>
                <a:spcPts val="0"/>
              </a:spcAft>
              <a:defRPr sz="1200" b="1">
                <a:solidFill>
                  <a:srgbClr val="64748B"/>
                </a:solidFill>
                <a:latin typeface="Karla"/>
              </a:defRPr>
            </a:pPr>
            <a:r>
              <a:t>Net</a:t>
            </a:r>
          </a:p>
        </p:txBody>
      </p:sp>
      <p:sp>
        <p:nvSpPr>
          <p:cNvPr id="63" name="TextBox 62"/>
          <p:cNvSpPr txBox="1"/>
          <p:nvPr/>
        </p:nvSpPr>
        <p:spPr>
          <a:xfrm>
            <a:off x="9692640" y="5669280"/>
            <a:ext cx="1463040" cy="411480"/>
          </a:xfrm>
          <a:prstGeom prst="rect">
            <a:avLst/>
          </a:prstGeom>
          <a:noFill/>
        </p:spPr>
        <p:txBody>
          <a:bodyPr wrap="square">
            <a:spAutoFit/>
          </a:bodyPr>
          <a:lstStyle/>
          <a:p>
            <a:pPr algn="r">
              <a:lnSpc>
                <a:spcPts val="1560"/>
              </a:lnSpc>
              <a:spcAft>
                <a:spcPts val="0"/>
              </a:spcAft>
              <a:defRPr sz="1300" b="1">
                <a:solidFill>
                  <a:srgbClr val="16A34A"/>
                </a:solidFill>
                <a:latin typeface="JetBrains Mono"/>
              </a:defRPr>
            </a:pPr>
            <a:r>
              <a:t>KSH 216.5M</a:t>
            </a:r>
          </a:p>
        </p:txBody>
      </p:sp>
      <p:sp>
        <p:nvSpPr>
          <p:cNvPr id="64" name="TextBox 63"/>
          <p:cNvSpPr txBox="1"/>
          <p:nvPr/>
        </p:nvSpPr>
        <p:spPr>
          <a:xfrm>
            <a:off x="731520" y="6400800"/>
            <a:ext cx="3657600" cy="365760"/>
          </a:xfrm>
          <a:prstGeom prst="rect">
            <a:avLst/>
          </a:prstGeom>
          <a:noFill/>
        </p:spPr>
        <p:txBody>
          <a:bodyPr wrap="square">
            <a:spAutoFit/>
          </a:bodyPr>
          <a:lstStyle/>
          <a:p>
            <a:pPr algn="l">
              <a:lnSpc>
                <a:spcPts val="1080"/>
              </a:lnSpc>
              <a:spcAft>
                <a:spcPts val="0"/>
              </a:spcAft>
              <a:defRPr sz="900" b="0">
                <a:solidFill>
                  <a:srgbClr val="64748B"/>
                </a:solidFill>
                <a:latin typeface="Fredoka"/>
              </a:defRPr>
            </a:pPr>
            <a:r>
              <a:t>💧 Drop — Multivendor Water Delivery Platform</a:t>
            </a:r>
          </a:p>
        </p:txBody>
      </p:sp>
      <p:sp>
        <p:nvSpPr>
          <p:cNvPr id="65" name="TextBox 64"/>
          <p:cNvSpPr txBox="1"/>
          <p:nvPr/>
        </p:nvSpPr>
        <p:spPr>
          <a:xfrm>
            <a:off x="10515600" y="6400800"/>
            <a:ext cx="1371600" cy="365760"/>
          </a:xfrm>
          <a:prstGeom prst="rect">
            <a:avLst/>
          </a:prstGeom>
          <a:noFill/>
        </p:spPr>
        <p:txBody>
          <a:bodyPr wrap="square">
            <a:spAutoFit/>
          </a:bodyPr>
          <a:lstStyle/>
          <a:p>
            <a:pPr algn="r">
              <a:lnSpc>
                <a:spcPts val="1080"/>
              </a:lnSpc>
              <a:spcAft>
                <a:spcPts val="0"/>
              </a:spcAft>
              <a:defRPr sz="900" b="0">
                <a:solidFill>
                  <a:srgbClr val="64748B"/>
                </a:solidFill>
                <a:latin typeface="Karla"/>
              </a:defRPr>
            </a:pPr>
            <a:r>
              <a:t>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563EB"/>
        </a:solidFill>
        <a:effectLst/>
      </p:bgPr>
    </p:bg>
    <p:spTree>
      <p:nvGrpSpPr>
        <p:cNvPr id="1" name=""/>
        <p:cNvGrpSpPr/>
        <p:nvPr/>
      </p:nvGrpSpPr>
      <p:grpSpPr/>
      <p:sp>
        <p:nvSpPr>
          <p:cNvPr id="2" name="TextBox 1"/>
          <p:cNvSpPr txBox="1"/>
          <p:nvPr/>
        </p:nvSpPr>
        <p:spPr>
          <a:xfrm>
            <a:off x="731520" y="548640"/>
            <a:ext cx="10058400" cy="731520"/>
          </a:xfrm>
          <a:prstGeom prst="rect">
            <a:avLst/>
          </a:prstGeom>
          <a:noFill/>
        </p:spPr>
        <p:txBody>
          <a:bodyPr wrap="square">
            <a:spAutoFit/>
          </a:bodyPr>
          <a:lstStyle/>
          <a:p>
            <a:pPr algn="l">
              <a:lnSpc>
                <a:spcPts val="4320"/>
              </a:lnSpc>
              <a:spcAft>
                <a:spcPts val="0"/>
              </a:spcAft>
              <a:defRPr sz="3600" b="1">
                <a:solidFill>
                  <a:srgbClr val="FFFFFF"/>
                </a:solidFill>
                <a:latin typeface="Fredoka"/>
              </a:defRPr>
            </a:pPr>
            <a:r>
              <a:t>Current Traction</a:t>
            </a:r>
          </a:p>
        </p:txBody>
      </p:sp>
      <p:sp>
        <p:nvSpPr>
          <p:cNvPr id="3" name="Rounded Rectangle 2"/>
          <p:cNvSpPr/>
          <p:nvPr/>
        </p:nvSpPr>
        <p:spPr>
          <a:xfrm>
            <a:off x="731520" y="1554480"/>
            <a:ext cx="3383280" cy="2194560"/>
          </a:xfrm>
          <a:prstGeom prst="round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2834640" cy="457200"/>
          </a:xfrm>
          <a:prstGeom prst="rect">
            <a:avLst/>
          </a:prstGeom>
          <a:noFill/>
        </p:spPr>
        <p:txBody>
          <a:bodyPr wrap="square">
            <a:spAutoFit/>
          </a:bodyPr>
          <a:lstStyle/>
          <a:p>
            <a:pPr algn="l">
              <a:lnSpc>
                <a:spcPts val="1920"/>
              </a:lnSpc>
              <a:spcAft>
                <a:spcPts val="0"/>
              </a:spcAft>
              <a:defRPr sz="1600" b="1">
                <a:solidFill>
                  <a:srgbClr val="FFFFFF"/>
                </a:solidFill>
                <a:latin typeface="Fredoka"/>
              </a:defRPr>
            </a:pPr>
            <a:r>
              <a:t>🏗️  Product Built</a:t>
            </a:r>
          </a:p>
        </p:txBody>
      </p:sp>
      <p:sp>
        <p:nvSpPr>
          <p:cNvPr id="5" name="TextBox 4"/>
          <p:cNvSpPr txBox="1"/>
          <p:nvPr/>
        </p:nvSpPr>
        <p:spPr>
          <a:xfrm>
            <a:off x="1005840" y="2377440"/>
            <a:ext cx="2834640" cy="1188720"/>
          </a:xfrm>
          <a:prstGeom prst="rect">
            <a:avLst/>
          </a:prstGeom>
          <a:noFill/>
        </p:spPr>
        <p:txBody>
          <a:bodyPr wrap="square">
            <a:spAutoFit/>
          </a:bodyPr>
          <a:lstStyle/>
          <a:p>
            <a:pPr algn="l">
              <a:lnSpc>
                <a:spcPts val="1679"/>
              </a:lnSpc>
              <a:spcAft>
                <a:spcPts val="0"/>
              </a:spcAft>
              <a:defRPr sz="1200" b="0">
                <a:solidFill>
                  <a:srgbClr val="DBEAFE"/>
                </a:solidFill>
                <a:latin typeface="Karla"/>
              </a:defRPr>
            </a:pPr>
            <a:r>
              <a:t>Full-stack platform complete — 3 mobile apps, admin console, backend API, all deployed and live.</a:t>
            </a:r>
          </a:p>
        </p:txBody>
      </p:sp>
      <p:sp>
        <p:nvSpPr>
          <p:cNvPr id="6" name="Rounded Rectangle 5"/>
          <p:cNvSpPr/>
          <p:nvPr/>
        </p:nvSpPr>
        <p:spPr>
          <a:xfrm>
            <a:off x="4389120" y="1554480"/>
            <a:ext cx="3383280" cy="2194560"/>
          </a:xfrm>
          <a:prstGeom prst="round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63440" y="1828800"/>
            <a:ext cx="2834640" cy="457200"/>
          </a:xfrm>
          <a:prstGeom prst="rect">
            <a:avLst/>
          </a:prstGeom>
          <a:noFill/>
        </p:spPr>
        <p:txBody>
          <a:bodyPr wrap="square">
            <a:spAutoFit/>
          </a:bodyPr>
          <a:lstStyle/>
          <a:p>
            <a:pPr algn="l">
              <a:lnSpc>
                <a:spcPts val="1920"/>
              </a:lnSpc>
              <a:spcAft>
                <a:spcPts val="0"/>
              </a:spcAft>
              <a:defRPr sz="1600" b="1">
                <a:solidFill>
                  <a:srgbClr val="FFFFFF"/>
                </a:solidFill>
                <a:latin typeface="Fredoka"/>
              </a:defRPr>
            </a:pPr>
            <a:r>
              <a:t>🧪  Beta Live</a:t>
            </a:r>
          </a:p>
        </p:txBody>
      </p:sp>
      <p:sp>
        <p:nvSpPr>
          <p:cNvPr id="8" name="TextBox 7"/>
          <p:cNvSpPr txBox="1"/>
          <p:nvPr/>
        </p:nvSpPr>
        <p:spPr>
          <a:xfrm>
            <a:off x="4663440" y="2377440"/>
            <a:ext cx="2834640" cy="1188720"/>
          </a:xfrm>
          <a:prstGeom prst="rect">
            <a:avLst/>
          </a:prstGeom>
          <a:noFill/>
        </p:spPr>
        <p:txBody>
          <a:bodyPr wrap="square">
            <a:spAutoFit/>
          </a:bodyPr>
          <a:lstStyle/>
          <a:p>
            <a:pPr algn="l">
              <a:lnSpc>
                <a:spcPts val="1679"/>
              </a:lnSpc>
              <a:spcAft>
                <a:spcPts val="0"/>
              </a:spcAft>
              <a:defRPr sz="1200" b="0">
                <a:solidFill>
                  <a:srgbClr val="DBEAFE"/>
                </a:solidFill>
                <a:latin typeface="Karla"/>
              </a:defRPr>
            </a:pPr>
            <a:r>
              <a:t>APKs available for download on the website. Beta credentials active for external testers.</a:t>
            </a:r>
          </a:p>
        </p:txBody>
      </p:sp>
      <p:sp>
        <p:nvSpPr>
          <p:cNvPr id="9" name="Rounded Rectangle 8"/>
          <p:cNvSpPr/>
          <p:nvPr/>
        </p:nvSpPr>
        <p:spPr>
          <a:xfrm>
            <a:off x="8046720" y="1554480"/>
            <a:ext cx="3383280" cy="2194560"/>
          </a:xfrm>
          <a:prstGeom prst="round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0" y="1828800"/>
            <a:ext cx="2834640" cy="457200"/>
          </a:xfrm>
          <a:prstGeom prst="rect">
            <a:avLst/>
          </a:prstGeom>
          <a:noFill/>
        </p:spPr>
        <p:txBody>
          <a:bodyPr wrap="square">
            <a:spAutoFit/>
          </a:bodyPr>
          <a:lstStyle/>
          <a:p>
            <a:pPr algn="l">
              <a:lnSpc>
                <a:spcPts val="1920"/>
              </a:lnSpc>
              <a:spcAft>
                <a:spcPts val="0"/>
              </a:spcAft>
              <a:defRPr sz="1600" b="1">
                <a:solidFill>
                  <a:srgbClr val="FFFFFF"/>
                </a:solidFill>
                <a:latin typeface="Fredoka"/>
              </a:defRPr>
            </a:pPr>
            <a:r>
              <a:t>✅  704 Tests Passing</a:t>
            </a:r>
          </a:p>
        </p:txBody>
      </p:sp>
      <p:sp>
        <p:nvSpPr>
          <p:cNvPr id="11" name="TextBox 10"/>
          <p:cNvSpPr txBox="1"/>
          <p:nvPr/>
        </p:nvSpPr>
        <p:spPr>
          <a:xfrm>
            <a:off x="8321040" y="2377440"/>
            <a:ext cx="2834640" cy="1188720"/>
          </a:xfrm>
          <a:prstGeom prst="rect">
            <a:avLst/>
          </a:prstGeom>
          <a:noFill/>
        </p:spPr>
        <p:txBody>
          <a:bodyPr wrap="square">
            <a:spAutoFit/>
          </a:bodyPr>
          <a:lstStyle/>
          <a:p>
            <a:pPr algn="l">
              <a:lnSpc>
                <a:spcPts val="1679"/>
              </a:lnSpc>
              <a:spcAft>
                <a:spcPts val="0"/>
              </a:spcAft>
              <a:defRPr sz="1200" b="0">
                <a:solidFill>
                  <a:srgbClr val="DBEAFE"/>
                </a:solidFill>
                <a:latin typeface="Karla"/>
              </a:defRPr>
            </a:pPr>
            <a:r>
              <a:t>Comprehensive test suite including AST structural walkers. CI/CD pipeline on every push.</a:t>
            </a:r>
          </a:p>
        </p:txBody>
      </p:sp>
      <p:sp>
        <p:nvSpPr>
          <p:cNvPr id="12" name="Rounded Rectangle 11"/>
          <p:cNvSpPr/>
          <p:nvPr/>
        </p:nvSpPr>
        <p:spPr>
          <a:xfrm>
            <a:off x="731520" y="4023360"/>
            <a:ext cx="3383280" cy="2194560"/>
          </a:xfrm>
          <a:prstGeom prst="round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297680"/>
            <a:ext cx="2834640" cy="457200"/>
          </a:xfrm>
          <a:prstGeom prst="rect">
            <a:avLst/>
          </a:prstGeom>
          <a:noFill/>
        </p:spPr>
        <p:txBody>
          <a:bodyPr wrap="square">
            <a:spAutoFit/>
          </a:bodyPr>
          <a:lstStyle/>
          <a:p>
            <a:pPr algn="l">
              <a:lnSpc>
                <a:spcPts val="1920"/>
              </a:lnSpc>
              <a:spcAft>
                <a:spcPts val="0"/>
              </a:spcAft>
              <a:defRPr sz="1600" b="1">
                <a:solidFill>
                  <a:srgbClr val="FFFFFF"/>
                </a:solidFill>
                <a:latin typeface="Fredoka"/>
              </a:defRPr>
            </a:pPr>
            <a:r>
              <a:t>📄  27 Admin Screens</a:t>
            </a:r>
          </a:p>
        </p:txBody>
      </p:sp>
      <p:sp>
        <p:nvSpPr>
          <p:cNvPr id="14" name="TextBox 13"/>
          <p:cNvSpPr txBox="1"/>
          <p:nvPr/>
        </p:nvSpPr>
        <p:spPr>
          <a:xfrm>
            <a:off x="1005840" y="4846320"/>
            <a:ext cx="2834640" cy="1188720"/>
          </a:xfrm>
          <a:prstGeom prst="rect">
            <a:avLst/>
          </a:prstGeom>
          <a:noFill/>
        </p:spPr>
        <p:txBody>
          <a:bodyPr wrap="square">
            <a:spAutoFit/>
          </a:bodyPr>
          <a:lstStyle/>
          <a:p>
            <a:pPr algn="l">
              <a:lnSpc>
                <a:spcPts val="1679"/>
              </a:lnSpc>
              <a:spcAft>
                <a:spcPts val="0"/>
              </a:spcAft>
              <a:defRPr sz="1200" b="0">
                <a:solidFill>
                  <a:srgbClr val="DBEAFE"/>
                </a:solidFill>
                <a:latin typeface="Karla"/>
              </a:defRPr>
            </a:pPr>
            <a:r>
              <a:t>Complete operations console with KYC, disputes, reconciliation, delivery replay, and more.</a:t>
            </a:r>
          </a:p>
        </p:txBody>
      </p:sp>
      <p:sp>
        <p:nvSpPr>
          <p:cNvPr id="15" name="Rounded Rectangle 14"/>
          <p:cNvSpPr/>
          <p:nvPr/>
        </p:nvSpPr>
        <p:spPr>
          <a:xfrm>
            <a:off x="4389120" y="4023360"/>
            <a:ext cx="3383280" cy="2194560"/>
          </a:xfrm>
          <a:prstGeom prst="round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63440" y="4297680"/>
            <a:ext cx="2834640" cy="457200"/>
          </a:xfrm>
          <a:prstGeom prst="rect">
            <a:avLst/>
          </a:prstGeom>
          <a:noFill/>
        </p:spPr>
        <p:txBody>
          <a:bodyPr wrap="square">
            <a:spAutoFit/>
          </a:bodyPr>
          <a:lstStyle/>
          <a:p>
            <a:pPr algn="l">
              <a:lnSpc>
                <a:spcPts val="1920"/>
              </a:lnSpc>
              <a:spcAft>
                <a:spcPts val="0"/>
              </a:spcAft>
              <a:defRPr sz="1600" b="1">
                <a:solidFill>
                  <a:srgbClr val="FFFFFF"/>
                </a:solidFill>
                <a:latin typeface="Fredoka"/>
              </a:defRPr>
            </a:pPr>
            <a:r>
              <a:t>🔐  Security Hardened</a:t>
            </a:r>
          </a:p>
        </p:txBody>
      </p:sp>
      <p:sp>
        <p:nvSpPr>
          <p:cNvPr id="17" name="TextBox 16"/>
          <p:cNvSpPr txBox="1"/>
          <p:nvPr/>
        </p:nvSpPr>
        <p:spPr>
          <a:xfrm>
            <a:off x="4663440" y="4846320"/>
            <a:ext cx="2834640" cy="1188720"/>
          </a:xfrm>
          <a:prstGeom prst="rect">
            <a:avLst/>
          </a:prstGeom>
          <a:noFill/>
        </p:spPr>
        <p:txBody>
          <a:bodyPr wrap="square">
            <a:spAutoFit/>
          </a:bodyPr>
          <a:lstStyle/>
          <a:p>
            <a:pPr algn="l">
              <a:lnSpc>
                <a:spcPts val="1679"/>
              </a:lnSpc>
              <a:spcAft>
                <a:spcPts val="0"/>
              </a:spcAft>
              <a:defRPr sz="1200" b="0">
                <a:solidFill>
                  <a:srgbClr val="DBEAFE"/>
                </a:solidFill>
                <a:latin typeface="Karla"/>
              </a:defRPr>
            </a:pPr>
            <a:r>
              <a:t>Clerk auth, BFF pattern, encrypted PII, audited mutations, concurrent-safe workers.</a:t>
            </a:r>
          </a:p>
        </p:txBody>
      </p:sp>
      <p:sp>
        <p:nvSpPr>
          <p:cNvPr id="18" name="Rounded Rectangle 17"/>
          <p:cNvSpPr/>
          <p:nvPr/>
        </p:nvSpPr>
        <p:spPr>
          <a:xfrm>
            <a:off x="8046720" y="4023360"/>
            <a:ext cx="3383280" cy="2194560"/>
          </a:xfrm>
          <a:prstGeom prst="round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1040" y="4297680"/>
            <a:ext cx="2834640" cy="457200"/>
          </a:xfrm>
          <a:prstGeom prst="rect">
            <a:avLst/>
          </a:prstGeom>
          <a:noFill/>
        </p:spPr>
        <p:txBody>
          <a:bodyPr wrap="square">
            <a:spAutoFit/>
          </a:bodyPr>
          <a:lstStyle/>
          <a:p>
            <a:pPr algn="l">
              <a:lnSpc>
                <a:spcPts val="1920"/>
              </a:lnSpc>
              <a:spcAft>
                <a:spcPts val="0"/>
              </a:spcAft>
              <a:defRPr sz="1600" b="1">
                <a:solidFill>
                  <a:srgbClr val="FFFFFF"/>
                </a:solidFill>
                <a:latin typeface="Fredoka"/>
              </a:defRPr>
            </a:pPr>
            <a:r>
              <a:t>📖  Fully Documented</a:t>
            </a:r>
          </a:p>
        </p:txBody>
      </p:sp>
      <p:sp>
        <p:nvSpPr>
          <p:cNvPr id="20" name="TextBox 19"/>
          <p:cNvSpPr txBox="1"/>
          <p:nvPr/>
        </p:nvSpPr>
        <p:spPr>
          <a:xfrm>
            <a:off x="8321040" y="4846320"/>
            <a:ext cx="2834640" cy="1188720"/>
          </a:xfrm>
          <a:prstGeom prst="rect">
            <a:avLst/>
          </a:prstGeom>
          <a:noFill/>
        </p:spPr>
        <p:txBody>
          <a:bodyPr wrap="square">
            <a:spAutoFit/>
          </a:bodyPr>
          <a:lstStyle/>
          <a:p>
            <a:pPr algn="l">
              <a:lnSpc>
                <a:spcPts val="1679"/>
              </a:lnSpc>
              <a:spcAft>
                <a:spcPts val="0"/>
              </a:spcAft>
              <a:defRPr sz="1200" b="0">
                <a:solidFill>
                  <a:srgbClr val="DBEAFE"/>
                </a:solidFill>
                <a:latin typeface="Karla"/>
              </a:defRPr>
            </a:pPr>
            <a:r>
              <a:t>12 architecture docs, decision records, runbooks, and deployment guides.</a:t>
            </a:r>
          </a:p>
        </p:txBody>
      </p:sp>
      <p:sp>
        <p:nvSpPr>
          <p:cNvPr id="21" name="TextBox 20"/>
          <p:cNvSpPr txBox="1"/>
          <p:nvPr/>
        </p:nvSpPr>
        <p:spPr>
          <a:xfrm>
            <a:off x="10515600" y="6400800"/>
            <a:ext cx="1371600" cy="365760"/>
          </a:xfrm>
          <a:prstGeom prst="rect">
            <a:avLst/>
          </a:prstGeom>
          <a:noFill/>
        </p:spPr>
        <p:txBody>
          <a:bodyPr wrap="square">
            <a:spAutoFit/>
          </a:bodyPr>
          <a:lstStyle/>
          <a:p>
            <a:pPr algn="r">
              <a:lnSpc>
                <a:spcPts val="1080"/>
              </a:lnSpc>
              <a:spcAft>
                <a:spcPts val="0"/>
              </a:spcAft>
              <a:defRPr sz="900" b="0">
                <a:solidFill>
                  <a:srgbClr val="64748B"/>
                </a:solidFill>
                <a:latin typeface="Karla"/>
              </a:defRPr>
            </a:pPr>
            <a:r>
              <a:t>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48640"/>
            <a:ext cx="10058400" cy="731520"/>
          </a:xfrm>
          <a:prstGeom prst="rect">
            <a:avLst/>
          </a:prstGeom>
          <a:noFill/>
        </p:spPr>
        <p:txBody>
          <a:bodyPr wrap="square">
            <a:spAutoFit/>
          </a:bodyPr>
          <a:lstStyle/>
          <a:p>
            <a:pPr algn="l">
              <a:lnSpc>
                <a:spcPts val="4320"/>
              </a:lnSpc>
              <a:spcAft>
                <a:spcPts val="0"/>
              </a:spcAft>
              <a:defRPr sz="3600" b="1">
                <a:solidFill>
                  <a:srgbClr val="1E293B"/>
                </a:solidFill>
                <a:latin typeface="Fredoka"/>
              </a:defRPr>
            </a:pPr>
            <a:r>
              <a:t>The Ask</a:t>
            </a:r>
          </a:p>
        </p:txBody>
      </p:sp>
      <p:sp>
        <p:nvSpPr>
          <p:cNvPr id="3" name="Rectangle 2"/>
          <p:cNvSpPr/>
          <p:nvPr/>
        </p:nvSpPr>
        <p:spPr>
          <a:xfrm>
            <a:off x="731520" y="1234440"/>
            <a:ext cx="548640" cy="50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737360"/>
            <a:ext cx="10058400" cy="914400"/>
          </a:xfrm>
          <a:prstGeom prst="rect">
            <a:avLst/>
          </a:prstGeom>
          <a:noFill/>
        </p:spPr>
        <p:txBody>
          <a:bodyPr wrap="square">
            <a:spAutoFit/>
          </a:bodyPr>
          <a:lstStyle/>
          <a:p>
            <a:pPr algn="ctr">
              <a:lnSpc>
                <a:spcPts val="3840"/>
              </a:lnSpc>
              <a:spcAft>
                <a:spcPts val="0"/>
              </a:spcAft>
              <a:defRPr sz="3200" b="1">
                <a:solidFill>
                  <a:srgbClr val="2563EB"/>
                </a:solidFill>
                <a:latin typeface="Fredoka"/>
              </a:defRPr>
            </a:pPr>
            <a:r>
              <a:t>Seed Round: KSH 15M (~$115K USD)</a:t>
            </a:r>
          </a:p>
          <a:p>
            <a:pPr algn="ctr">
              <a:spcBef>
                <a:spcPts val="800"/>
              </a:spcBef>
              <a:spcAft>
                <a:spcPts val="0"/>
              </a:spcAft>
              <a:defRPr sz="1400" b="0">
                <a:solidFill>
                  <a:srgbClr val="64748B"/>
                </a:solidFill>
                <a:latin typeface="Karla"/>
              </a:defRPr>
            </a:pPr>
            <a:r>
              <a:t>18-month runway to achieve product-market fit and reach 25,000 monthly orders</a:t>
            </a:r>
          </a:p>
        </p:txBody>
      </p:sp>
      <p:sp>
        <p:nvSpPr>
          <p:cNvPr id="5" name="Oval 4"/>
          <p:cNvSpPr/>
          <p:nvPr/>
        </p:nvSpPr>
        <p:spPr>
          <a:xfrm>
            <a:off x="1508760" y="3200400"/>
            <a:ext cx="1005840" cy="100584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ts val="2640"/>
              </a:lnSpc>
              <a:spcAft>
                <a:spcPts val="0"/>
              </a:spcAft>
              <a:defRPr sz="2200" b="1">
                <a:solidFill>
                  <a:srgbClr val="FFFFFF"/>
                </a:solidFill>
                <a:latin typeface="Fredoka"/>
              </a:defRPr>
            </a:pPr>
            <a:r>
              <a:t>40%</a:t>
            </a:r>
          </a:p>
        </p:txBody>
      </p:sp>
      <p:sp>
        <p:nvSpPr>
          <p:cNvPr id="6" name="TextBox 5"/>
          <p:cNvSpPr txBox="1"/>
          <p:nvPr/>
        </p:nvSpPr>
        <p:spPr>
          <a:xfrm>
            <a:off x="914400" y="4389120"/>
            <a:ext cx="2377440" cy="457200"/>
          </a:xfrm>
          <a:prstGeom prst="rect">
            <a:avLst/>
          </a:prstGeom>
          <a:noFill/>
        </p:spPr>
        <p:txBody>
          <a:bodyPr wrap="square">
            <a:spAutoFit/>
          </a:bodyPr>
          <a:lstStyle/>
          <a:p>
            <a:pPr algn="ctr">
              <a:lnSpc>
                <a:spcPts val="1680"/>
              </a:lnSpc>
              <a:spcAft>
                <a:spcPts val="0"/>
              </a:spcAft>
              <a:defRPr sz="1400" b="1">
                <a:solidFill>
                  <a:srgbClr val="1D4ED8"/>
                </a:solidFill>
                <a:latin typeface="Fredoka"/>
              </a:defRPr>
            </a:pPr>
            <a:r>
              <a:t>Operations &amp; Growth</a:t>
            </a:r>
          </a:p>
        </p:txBody>
      </p:sp>
      <p:sp>
        <p:nvSpPr>
          <p:cNvPr id="7" name="TextBox 6"/>
          <p:cNvSpPr txBox="1"/>
          <p:nvPr/>
        </p:nvSpPr>
        <p:spPr>
          <a:xfrm>
            <a:off x="914400" y="4846320"/>
            <a:ext cx="2377440" cy="1371600"/>
          </a:xfrm>
          <a:prstGeom prst="rect">
            <a:avLst/>
          </a:prstGeom>
          <a:noFill/>
        </p:spPr>
        <p:txBody>
          <a:bodyPr wrap="square">
            <a:spAutoFit/>
          </a:bodyPr>
          <a:lstStyle/>
          <a:p>
            <a:pPr algn="ctr">
              <a:lnSpc>
                <a:spcPts val="1539"/>
              </a:lnSpc>
              <a:spcAft>
                <a:spcPts val="0"/>
              </a:spcAft>
              <a:defRPr sz="1100" b="0">
                <a:solidFill>
                  <a:srgbClr val="64748B"/>
                </a:solidFill>
                <a:latin typeface="Karla"/>
              </a:defRPr>
            </a:pPr>
            <a:r>
              <a:t>Vendor onboarding, rider recruitment, customer acquisition, and market activation across Nairobi satellite towns.</a:t>
            </a:r>
          </a:p>
        </p:txBody>
      </p:sp>
      <p:sp>
        <p:nvSpPr>
          <p:cNvPr id="8" name="Oval 7"/>
          <p:cNvSpPr/>
          <p:nvPr/>
        </p:nvSpPr>
        <p:spPr>
          <a:xfrm>
            <a:off x="4343400" y="3200400"/>
            <a:ext cx="1005840" cy="100584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ts val="2640"/>
              </a:lnSpc>
              <a:spcAft>
                <a:spcPts val="0"/>
              </a:spcAft>
              <a:defRPr sz="2200" b="1">
                <a:solidFill>
                  <a:srgbClr val="FFFFFF"/>
                </a:solidFill>
                <a:latin typeface="Fredoka"/>
              </a:defRPr>
            </a:pPr>
            <a:r>
              <a:t>25%</a:t>
            </a:r>
          </a:p>
        </p:txBody>
      </p:sp>
      <p:sp>
        <p:nvSpPr>
          <p:cNvPr id="9" name="TextBox 8"/>
          <p:cNvSpPr txBox="1"/>
          <p:nvPr/>
        </p:nvSpPr>
        <p:spPr>
          <a:xfrm>
            <a:off x="3749040" y="4389120"/>
            <a:ext cx="2377440" cy="457200"/>
          </a:xfrm>
          <a:prstGeom prst="rect">
            <a:avLst/>
          </a:prstGeom>
          <a:noFill/>
        </p:spPr>
        <p:txBody>
          <a:bodyPr wrap="square">
            <a:spAutoFit/>
          </a:bodyPr>
          <a:lstStyle/>
          <a:p>
            <a:pPr algn="ctr">
              <a:lnSpc>
                <a:spcPts val="1680"/>
              </a:lnSpc>
              <a:spcAft>
                <a:spcPts val="0"/>
              </a:spcAft>
              <a:defRPr sz="1400" b="1">
                <a:solidFill>
                  <a:srgbClr val="1D4ED8"/>
                </a:solidFill>
                <a:latin typeface="Fredoka"/>
              </a:defRPr>
            </a:pPr>
            <a:r>
              <a:t>Engineering</a:t>
            </a:r>
          </a:p>
        </p:txBody>
      </p:sp>
      <p:sp>
        <p:nvSpPr>
          <p:cNvPr id="10" name="TextBox 9"/>
          <p:cNvSpPr txBox="1"/>
          <p:nvPr/>
        </p:nvSpPr>
        <p:spPr>
          <a:xfrm>
            <a:off x="3749040" y="4846320"/>
            <a:ext cx="2377440" cy="1371600"/>
          </a:xfrm>
          <a:prstGeom prst="rect">
            <a:avLst/>
          </a:prstGeom>
          <a:noFill/>
        </p:spPr>
        <p:txBody>
          <a:bodyPr wrap="square">
            <a:spAutoFit/>
          </a:bodyPr>
          <a:lstStyle/>
          <a:p>
            <a:pPr algn="ctr">
              <a:lnSpc>
                <a:spcPts val="1539"/>
              </a:lnSpc>
              <a:spcAft>
                <a:spcPts val="0"/>
              </a:spcAft>
              <a:defRPr sz="1100" b="0">
                <a:solidFill>
                  <a:srgbClr val="64748B"/>
                </a:solidFill>
                <a:latin typeface="Karla"/>
              </a:defRPr>
            </a:pPr>
            <a:r>
              <a:t>Android + iOS builds, Play Store listing, push notification infrastructure, payment edge cases, and performance optimization.</a:t>
            </a:r>
          </a:p>
        </p:txBody>
      </p:sp>
      <p:sp>
        <p:nvSpPr>
          <p:cNvPr id="11" name="Oval 10"/>
          <p:cNvSpPr/>
          <p:nvPr/>
        </p:nvSpPr>
        <p:spPr>
          <a:xfrm>
            <a:off x="7178040" y="3200400"/>
            <a:ext cx="1005840" cy="100584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ts val="2640"/>
              </a:lnSpc>
              <a:spcAft>
                <a:spcPts val="0"/>
              </a:spcAft>
              <a:defRPr sz="2200" b="1">
                <a:solidFill>
                  <a:srgbClr val="FFFFFF"/>
                </a:solidFill>
                <a:latin typeface="Fredoka"/>
              </a:defRPr>
            </a:pPr>
            <a:r>
              <a:t>20%</a:t>
            </a:r>
          </a:p>
        </p:txBody>
      </p:sp>
      <p:sp>
        <p:nvSpPr>
          <p:cNvPr id="12" name="TextBox 11"/>
          <p:cNvSpPr txBox="1"/>
          <p:nvPr/>
        </p:nvSpPr>
        <p:spPr>
          <a:xfrm>
            <a:off x="6583680" y="4389120"/>
            <a:ext cx="2377440" cy="457200"/>
          </a:xfrm>
          <a:prstGeom prst="rect">
            <a:avLst/>
          </a:prstGeom>
          <a:noFill/>
        </p:spPr>
        <p:txBody>
          <a:bodyPr wrap="square">
            <a:spAutoFit/>
          </a:bodyPr>
          <a:lstStyle/>
          <a:p>
            <a:pPr algn="ctr">
              <a:lnSpc>
                <a:spcPts val="1680"/>
              </a:lnSpc>
              <a:spcAft>
                <a:spcPts val="0"/>
              </a:spcAft>
              <a:defRPr sz="1400" b="1">
                <a:solidFill>
                  <a:srgbClr val="1D4ED8"/>
                </a:solidFill>
                <a:latin typeface="Fredoka"/>
              </a:defRPr>
            </a:pPr>
            <a:r>
              <a:t>Infrastructure</a:t>
            </a:r>
          </a:p>
        </p:txBody>
      </p:sp>
      <p:sp>
        <p:nvSpPr>
          <p:cNvPr id="13" name="TextBox 12"/>
          <p:cNvSpPr txBox="1"/>
          <p:nvPr/>
        </p:nvSpPr>
        <p:spPr>
          <a:xfrm>
            <a:off x="6583680" y="4846320"/>
            <a:ext cx="2377440" cy="1371600"/>
          </a:xfrm>
          <a:prstGeom prst="rect">
            <a:avLst/>
          </a:prstGeom>
          <a:noFill/>
        </p:spPr>
        <p:txBody>
          <a:bodyPr wrap="square">
            <a:spAutoFit/>
          </a:bodyPr>
          <a:lstStyle/>
          <a:p>
            <a:pPr algn="ctr">
              <a:lnSpc>
                <a:spcPts val="1539"/>
              </a:lnSpc>
              <a:spcAft>
                <a:spcPts val="0"/>
              </a:spcAft>
              <a:defRPr sz="1100" b="0">
                <a:solidFill>
                  <a:srgbClr val="64748B"/>
                </a:solidFill>
                <a:latin typeface="Karla"/>
              </a:defRPr>
            </a:pPr>
            <a:r>
              <a:t>Render hosting, Neon Postgres, Redis, AWS S3, Clerk auth, domain registration, and monitoring (Sentry, Prometheus).</a:t>
            </a:r>
          </a:p>
        </p:txBody>
      </p:sp>
      <p:sp>
        <p:nvSpPr>
          <p:cNvPr id="14" name="Oval 13"/>
          <p:cNvSpPr/>
          <p:nvPr/>
        </p:nvSpPr>
        <p:spPr>
          <a:xfrm>
            <a:off x="10012680" y="3200400"/>
            <a:ext cx="1005840" cy="100584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ts val="2640"/>
              </a:lnSpc>
              <a:spcAft>
                <a:spcPts val="0"/>
              </a:spcAft>
              <a:defRPr sz="2200" b="1">
                <a:solidFill>
                  <a:srgbClr val="FFFFFF"/>
                </a:solidFill>
                <a:latin typeface="Fredoka"/>
              </a:defRPr>
            </a:pPr>
            <a:r>
              <a:t>15%</a:t>
            </a:r>
          </a:p>
        </p:txBody>
      </p:sp>
      <p:sp>
        <p:nvSpPr>
          <p:cNvPr id="15" name="TextBox 14"/>
          <p:cNvSpPr txBox="1"/>
          <p:nvPr/>
        </p:nvSpPr>
        <p:spPr>
          <a:xfrm>
            <a:off x="9418320" y="4389120"/>
            <a:ext cx="2377440" cy="457200"/>
          </a:xfrm>
          <a:prstGeom prst="rect">
            <a:avLst/>
          </a:prstGeom>
          <a:noFill/>
        </p:spPr>
        <p:txBody>
          <a:bodyPr wrap="square">
            <a:spAutoFit/>
          </a:bodyPr>
          <a:lstStyle/>
          <a:p>
            <a:pPr algn="ctr">
              <a:lnSpc>
                <a:spcPts val="1680"/>
              </a:lnSpc>
              <a:spcAft>
                <a:spcPts val="0"/>
              </a:spcAft>
              <a:defRPr sz="1400" b="1">
                <a:solidFill>
                  <a:srgbClr val="1D4ED8"/>
                </a:solidFill>
                <a:latin typeface="Fredoka"/>
              </a:defRPr>
            </a:pPr>
            <a:r>
              <a:t>Legal &amp; Compliance</a:t>
            </a:r>
          </a:p>
        </p:txBody>
      </p:sp>
      <p:sp>
        <p:nvSpPr>
          <p:cNvPr id="16" name="TextBox 15"/>
          <p:cNvSpPr txBox="1"/>
          <p:nvPr/>
        </p:nvSpPr>
        <p:spPr>
          <a:xfrm>
            <a:off x="9418320" y="4846320"/>
            <a:ext cx="2377440" cy="1371600"/>
          </a:xfrm>
          <a:prstGeom prst="rect">
            <a:avLst/>
          </a:prstGeom>
          <a:noFill/>
        </p:spPr>
        <p:txBody>
          <a:bodyPr wrap="square">
            <a:spAutoFit/>
          </a:bodyPr>
          <a:lstStyle/>
          <a:p>
            <a:pPr algn="ctr">
              <a:lnSpc>
                <a:spcPts val="1539"/>
              </a:lnSpc>
              <a:spcAft>
                <a:spcPts val="0"/>
              </a:spcAft>
              <a:defRPr sz="1100" b="0">
                <a:solidFill>
                  <a:srgbClr val="64748B"/>
                </a:solidFill>
                <a:latin typeface="Karla"/>
              </a:defRPr>
            </a:pPr>
            <a:r>
              <a:t>Business registration, M-Pesa partnership agreements, data protection compliance (Kenya Data Protection Act), and insurance.</a:t>
            </a:r>
          </a:p>
        </p:txBody>
      </p:sp>
      <p:sp>
        <p:nvSpPr>
          <p:cNvPr id="17" name="TextBox 16"/>
          <p:cNvSpPr txBox="1"/>
          <p:nvPr/>
        </p:nvSpPr>
        <p:spPr>
          <a:xfrm>
            <a:off x="731520" y="6400800"/>
            <a:ext cx="3657600" cy="365760"/>
          </a:xfrm>
          <a:prstGeom prst="rect">
            <a:avLst/>
          </a:prstGeom>
          <a:noFill/>
        </p:spPr>
        <p:txBody>
          <a:bodyPr wrap="square">
            <a:spAutoFit/>
          </a:bodyPr>
          <a:lstStyle/>
          <a:p>
            <a:pPr algn="l">
              <a:lnSpc>
                <a:spcPts val="1080"/>
              </a:lnSpc>
              <a:spcAft>
                <a:spcPts val="0"/>
              </a:spcAft>
              <a:defRPr sz="900" b="0">
                <a:solidFill>
                  <a:srgbClr val="64748B"/>
                </a:solidFill>
                <a:latin typeface="Fredoka"/>
              </a:defRPr>
            </a:pPr>
            <a:r>
              <a:t>💧 Drop — Multivendor Water Delivery Platform</a:t>
            </a:r>
          </a:p>
        </p:txBody>
      </p:sp>
      <p:sp>
        <p:nvSpPr>
          <p:cNvPr id="18" name="TextBox 17"/>
          <p:cNvSpPr txBox="1"/>
          <p:nvPr/>
        </p:nvSpPr>
        <p:spPr>
          <a:xfrm>
            <a:off x="10515600" y="6400800"/>
            <a:ext cx="1371600" cy="365760"/>
          </a:xfrm>
          <a:prstGeom prst="rect">
            <a:avLst/>
          </a:prstGeom>
          <a:noFill/>
        </p:spPr>
        <p:txBody>
          <a:bodyPr wrap="square">
            <a:spAutoFit/>
          </a:bodyPr>
          <a:lstStyle/>
          <a:p>
            <a:pPr algn="r">
              <a:lnSpc>
                <a:spcPts val="1080"/>
              </a:lnSpc>
              <a:spcAft>
                <a:spcPts val="0"/>
              </a:spcAft>
              <a:defRPr sz="900" b="0">
                <a:solidFill>
                  <a:srgbClr val="64748B"/>
                </a:solidFill>
                <a:latin typeface="Karla"/>
              </a:defRPr>
            </a:pPr>
            <a:r>
              <a:t>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563EB"/>
        </a:solidFill>
        <a:effectLst/>
      </p:bgPr>
    </p:bg>
    <p:spTree>
      <p:nvGrpSpPr>
        <p:cNvPr id="1" name=""/>
        <p:cNvGrpSpPr/>
        <p:nvPr/>
      </p:nvGrpSpPr>
      <p:grpSpPr/>
      <p:sp>
        <p:nvSpPr>
          <p:cNvPr id="2" name="TextBox 1"/>
          <p:cNvSpPr txBox="1"/>
          <p:nvPr/>
        </p:nvSpPr>
        <p:spPr>
          <a:xfrm>
            <a:off x="914400" y="1371600"/>
            <a:ext cx="10058400" cy="1371600"/>
          </a:xfrm>
          <a:prstGeom prst="rect">
            <a:avLst/>
          </a:prstGeom>
          <a:noFill/>
        </p:spPr>
        <p:txBody>
          <a:bodyPr wrap="square">
            <a:spAutoFit/>
          </a:bodyPr>
          <a:lstStyle/>
          <a:p>
            <a:pPr algn="ctr">
              <a:lnSpc>
                <a:spcPts val="8640"/>
              </a:lnSpc>
              <a:spcAft>
                <a:spcPts val="0"/>
              </a:spcAft>
              <a:defRPr sz="7200" b="1">
                <a:solidFill>
                  <a:srgbClr val="FFFFFF"/>
                </a:solidFill>
                <a:latin typeface="Fredoka"/>
              </a:defRPr>
            </a:pPr>
            <a:r>
              <a:t>💧 Drop</a:t>
            </a:r>
          </a:p>
          <a:p>
            <a:pPr algn="ctr">
              <a:spcBef>
                <a:spcPts val="400"/>
              </a:spcBef>
              <a:spcAft>
                <a:spcPts val="0"/>
              </a:spcAft>
              <a:defRPr sz="2400" b="0">
                <a:solidFill>
                  <a:srgbClr val="DBEAFE"/>
                </a:solidFill>
                <a:latin typeface="Fredoka"/>
              </a:defRPr>
            </a:pPr>
            <a:r>
              <a:t>Clean Water, Delivered to Your Door</a:t>
            </a:r>
          </a:p>
        </p:txBody>
      </p:sp>
      <p:sp>
        <p:nvSpPr>
          <p:cNvPr id="3" name="TextBox 2"/>
          <p:cNvSpPr txBox="1"/>
          <p:nvPr/>
        </p:nvSpPr>
        <p:spPr>
          <a:xfrm>
            <a:off x="2286000" y="3474720"/>
            <a:ext cx="7315200" cy="2286000"/>
          </a:xfrm>
          <a:prstGeom prst="rect">
            <a:avLst/>
          </a:prstGeom>
          <a:noFill/>
        </p:spPr>
        <p:txBody>
          <a:bodyPr wrap="square">
            <a:spAutoFit/>
          </a:bodyPr>
          <a:lstStyle/>
          <a:p>
            <a:pPr algn="ctr">
              <a:lnSpc>
                <a:spcPts val="3360"/>
              </a:lnSpc>
              <a:spcAft>
                <a:spcPts val="0"/>
              </a:spcAft>
              <a:defRPr sz="2800" b="1">
                <a:solidFill>
                  <a:srgbClr val="FFFFFF"/>
                </a:solidFill>
                <a:latin typeface="Fredoka"/>
              </a:defRPr>
            </a:pPr>
            <a:r>
              <a:t>Let's talk.</a:t>
            </a:r>
          </a:p>
          <a:p>
            <a:pPr algn="ctr">
              <a:spcBef>
                <a:spcPts val="1200"/>
              </a:spcBef>
              <a:spcAft>
                <a:spcPts val="0"/>
              </a:spcAft>
              <a:defRPr sz="1400" b="0">
                <a:solidFill>
                  <a:srgbClr val="DBEAFE"/>
                </a:solidFill>
                <a:latin typeface="Karla"/>
              </a:defRPr>
            </a:pPr>
            <a:r>
              <a:t>🌐  Website: drop-water-delivery-website.vercel.app</a:t>
            </a:r>
          </a:p>
          <a:p>
            <a:pPr algn="ctr">
              <a:spcBef>
                <a:spcPts val="1200"/>
              </a:spcBef>
              <a:spcAft>
                <a:spcPts val="0"/>
              </a:spcAft>
              <a:defRPr sz="1400" b="0">
                <a:solidFill>
                  <a:srgbClr val="DBEAFE"/>
                </a:solidFill>
                <a:latin typeface="Karla"/>
              </a:defRPr>
            </a:pPr>
            <a:r>
              <a:t>⚡  Admin Console: drop-admin-five.vercel.app</a:t>
            </a:r>
          </a:p>
          <a:p>
            <a:pPr algn="ctr">
              <a:spcBef>
                <a:spcPts val="1200"/>
              </a:spcBef>
              <a:spcAft>
                <a:spcPts val="0"/>
              </a:spcAft>
              <a:defRPr sz="1400" b="0">
                <a:solidFill>
                  <a:srgbClr val="DBEAFE"/>
                </a:solidFill>
                <a:latin typeface="Karla"/>
              </a:defRPr>
            </a:pPr>
            <a:r>
              <a:t>📦  GitHub: github.com/WinterJackson/drop-water-delivery-app</a:t>
            </a:r>
          </a:p>
          <a:p>
            <a:pPr algn="ctr">
              <a:spcBef>
                <a:spcPts val="1200"/>
              </a:spcBef>
              <a:spcAft>
                <a:spcPts val="0"/>
              </a:spcAft>
              <a:defRPr sz="1400" b="0">
                <a:solidFill>
                  <a:srgbClr val="DBEAFE"/>
                </a:solidFill>
                <a:latin typeface="Karla"/>
              </a:defRPr>
            </a:pPr>
            <a:r>
              <a:t>📱  Beta APKs: Available for download now</a:t>
            </a:r>
          </a:p>
        </p:txBody>
      </p:sp>
      <p:sp>
        <p:nvSpPr>
          <p:cNvPr id="4" name="TextBox 3"/>
          <p:cNvSpPr txBox="1"/>
          <p:nvPr/>
        </p:nvSpPr>
        <p:spPr>
          <a:xfrm>
            <a:off x="2743200" y="5943600"/>
            <a:ext cx="6400800" cy="548640"/>
          </a:xfrm>
          <a:prstGeom prst="rect">
            <a:avLst/>
          </a:prstGeom>
          <a:noFill/>
        </p:spPr>
        <p:txBody>
          <a:bodyPr wrap="square">
            <a:spAutoFit/>
          </a:bodyPr>
          <a:lstStyle/>
          <a:p>
            <a:pPr algn="ctr">
              <a:lnSpc>
                <a:spcPts val="2400"/>
              </a:lnSpc>
              <a:spcAft>
                <a:spcPts val="0"/>
              </a:spcAft>
              <a:defRPr sz="2000" b="0">
                <a:solidFill>
                  <a:srgbClr val="FFFFFF"/>
                </a:solidFill>
                <a:latin typeface="Fredoka"/>
              </a:defRPr>
            </a:pPr>
            <a:r>
              <a:t>Thank you  🙏</a:t>
            </a:r>
          </a:p>
        </p:txBody>
      </p:sp>
      <p:sp>
        <p:nvSpPr>
          <p:cNvPr id="5" name="TextBox 4"/>
          <p:cNvSpPr txBox="1"/>
          <p:nvPr/>
        </p:nvSpPr>
        <p:spPr>
          <a:xfrm>
            <a:off x="10515600" y="6400800"/>
            <a:ext cx="1371600" cy="365760"/>
          </a:xfrm>
          <a:prstGeom prst="rect">
            <a:avLst/>
          </a:prstGeom>
          <a:noFill/>
        </p:spPr>
        <p:txBody>
          <a:bodyPr wrap="square">
            <a:spAutoFit/>
          </a:bodyPr>
          <a:lstStyle/>
          <a:p>
            <a:pPr algn="r">
              <a:lnSpc>
                <a:spcPts val="1080"/>
              </a:lnSpc>
              <a:spcAft>
                <a:spcPts val="0"/>
              </a:spcAft>
              <a:defRPr sz="900" b="0">
                <a:solidFill>
                  <a:srgbClr val="64748B"/>
                </a:solidFill>
                <a:latin typeface="Karla"/>
              </a:defRPr>
            </a:pPr>
            <a:r>
              <a:t>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