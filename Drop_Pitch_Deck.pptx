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B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640"/>
              </a:lnSpc>
              <a:spcAft>
                <a:spcPts val="0"/>
              </a:spcAft>
              <a:defRPr sz="7200" b="1">
                <a:solidFill>
                  <a:srgbClr val="FFFFFF"/>
                </a:solidFill>
                <a:latin typeface="Fredoka"/>
              </a:defRPr>
            </a:pPr>
            <a:r>
              <a:t>💧 Drop</a:t>
            </a:r>
          </a:p>
          <a:p>
            <a:pPr algn="ctr">
              <a:spcBef>
                <a:spcPts val="400"/>
              </a:spcBef>
              <a:spcAft>
                <a:spcPts val="0"/>
              </a:spcAft>
              <a:defRPr sz="2800" b="0">
                <a:solidFill>
                  <a:srgbClr val="FFFFFF"/>
                </a:solidFill>
                <a:latin typeface="Fredoka"/>
              </a:defRPr>
            </a:pPr>
            <a:r>
              <a:t>Clean Water, Delivered to Your Door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931920"/>
            <a:ext cx="8503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CFEDFF"/>
                </a:solidFill>
                <a:latin typeface="Karla"/>
              </a:defRPr>
            </a:pPr>
            <a:r>
              <a:t>On-demand delivery platform for neighborhood water refill stations.</a:t>
            </a:r>
            <a:br/>
            <a:r>
              <a:t>Scan nearby stations, compare refill prices, and eliminate the 20kg hauling struggle.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566928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CFEDFF"/>
                </a:solidFill>
                <a:latin typeface="Karla"/>
              </a:defRPr>
            </a:pPr>
            <a:r>
              <a:t>Pitch Deck  •  September 2026  •  Beta 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64748B"/>
                </a:solidFill>
                <a:latin typeface="Karla"/>
              </a:defRPr>
            </a:pPr>
            <a:r>
              <a:t>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719"/>
              </a:lnSpc>
              <a:spcAft>
                <a:spcPts val="0"/>
              </a:spcAft>
              <a:defRPr sz="3100" b="1">
                <a:solidFill>
                  <a:srgbClr val="1E293B"/>
                </a:solidFill>
                <a:latin typeface="Fredoka"/>
              </a:defRPr>
            </a:pPr>
            <a:r>
              <a:t>The Problem: Water Refill Station Logistics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548640" cy="50800"/>
          </a:xfrm>
          <a:prstGeom prst="rect">
            <a:avLst/>
          </a:prstGeom>
          <a:solidFill>
            <a:srgbClr val="006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9844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64748B"/>
                </a:solidFill>
                <a:latin typeface="Karla"/>
              </a:defRPr>
            </a:pPr>
            <a:r>
              <a:t>Millions of urban Kenyans rely on local refill stations for clean 20L drinking water. But getting it home is exhausting: walking with empties, carrying 20kg back, or bargaining with random street bodas.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65960"/>
            <a:ext cx="5212080" cy="20574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6712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006DB0"/>
                </a:solidFill>
                <a:latin typeface="Fredoka"/>
              </a:defRPr>
            </a:pPr>
            <a:r>
              <a:t>🚶‍♂️  The Exhausting "20kg Walk"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624328"/>
            <a:ext cx="45720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0"/>
              </a:spcAft>
              <a:defRPr sz="1150" b="0">
                <a:solidFill>
                  <a:srgbClr val="64748B"/>
                </a:solidFill>
                <a:latin typeface="Karla"/>
              </a:defRPr>
            </a:pPr>
            <a:r>
              <a:t>To get clean drinking water, customers must carry an empty 20L bottle, walk to a neighborhood refill shop, wait in line, and physically haul a back-breaking 20kg (44 lbs) refilled container back home on foot — often climbing several flights of apartment stairs.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65960"/>
            <a:ext cx="5212080" cy="20574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216712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006DB0"/>
                </a:solidFill>
                <a:latin typeface="Fredoka"/>
              </a:defRPr>
            </a:pPr>
            <a:r>
              <a:t>🏍️  The Inconvenient Boda Compromise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624328"/>
            <a:ext cx="45720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0"/>
              </a:spcAft>
              <a:defRPr sz="1150" b="0">
                <a:solidFill>
                  <a:srgbClr val="64748B"/>
                </a:solidFill>
                <a:latin typeface="Karla"/>
              </a:defRPr>
            </a:pPr>
            <a:r>
              <a:t>To avoid the 20kg walk, customers must walk to a roadside stage, hail a motorbike rider, haggle over arbitrary fares, and dangerously balance a 20L bottle on the bike — turning an affordable KSh 80 refill into an expensive, risky ordeal.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06240"/>
            <a:ext cx="5212080" cy="20574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4074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006DB0"/>
                </a:solidFill>
                <a:latin typeface="Fredoka"/>
              </a:defRPr>
            </a:pPr>
            <a:r>
              <a:t>🏪  Refill Stations Lack Delivery Fleets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864608"/>
            <a:ext cx="45720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0"/>
              </a:spcAft>
              <a:defRPr sz="1150" b="0">
                <a:solidFill>
                  <a:srgbClr val="64748B"/>
                </a:solidFill>
                <a:latin typeface="Karla"/>
              </a:defRPr>
            </a:pPr>
            <a:r>
              <a:t>Neighborhood water refill shops and ATMs have pure purification capacity, but operate strictly as walk-in counters. With no delivery fleet or dispatch tools, they cannot reach busy families, offices, or customers living beyond walking distance.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206240"/>
            <a:ext cx="5212080" cy="20574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44074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006DB0"/>
                </a:solidFill>
                <a:latin typeface="Fredoka"/>
              </a:defRPr>
            </a:pPr>
            <a:r>
              <a:t>🔍  Blind Discovery &amp; Price Opacity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4864608"/>
            <a:ext cx="45720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0"/>
              </a:spcAft>
              <a:defRPr sz="1150" b="0">
                <a:solidFill>
                  <a:srgbClr val="64748B"/>
                </a:solidFill>
                <a:latin typeface="Karla"/>
              </a:defRPr>
            </a:pPr>
            <a:r>
              <a:t>Customers cannot easily scan or compare nearby refill stations (prices vary from KSh 60 to KSh 120+). They have no way to verify station operating status, track queue times, or coordinate reliable empty bottle exchanges.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64748B"/>
                </a:solidFill>
                <a:latin typeface="Fredoka"/>
              </a:defRPr>
            </a:pPr>
            <a:r>
              <a:t>💧 Drop — Multivendor Water Delivery Platform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64748B"/>
                </a:solidFill>
                <a:latin typeface="Karla"/>
              </a:defRPr>
            </a:pPr>
            <a: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1E293B"/>
                </a:solidFill>
                <a:latin typeface="Fredoka"/>
              </a:defRPr>
            </a:pPr>
            <a:r>
              <a:t>The Solution: On-Demand Refill Delivery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548640" cy="50800"/>
          </a:xfrm>
          <a:prstGeom prst="rect">
            <a:avLst/>
          </a:prstGeom>
          <a:solidFill>
            <a:srgbClr val="006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500" b="0">
                <a:solidFill>
                  <a:srgbClr val="64748B"/>
                </a:solidFill>
                <a:latin typeface="Karla"/>
              </a:defRPr>
            </a:pPr>
            <a:r>
              <a:t>Drop bridges the gap between water refill stations and thirsty households — scan nearby stations, compare prices in real time, and get heavy 20L bottles delivered straight to your door.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3383280" cy="3017520"/>
          </a:xfrm>
          <a:prstGeom prst="roundRect">
            <a:avLst/>
          </a:prstGeom>
          <a:solidFill>
            <a:srgbClr val="E9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65960" y="2834640"/>
            <a:ext cx="822960" cy="822960"/>
          </a:xfrm>
          <a:prstGeom prst="ellipse">
            <a:avLst/>
          </a:prstGeom>
          <a:solidFill>
            <a:srgbClr val="006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ts val="2879"/>
              </a:lnSpc>
              <a:spcAft>
                <a:spcPts val="0"/>
              </a:spcAft>
              <a:defRPr sz="2400" b="0">
                <a:solidFill>
                  <a:srgbClr val="FFFFFF"/>
                </a:solidFill>
                <a:latin typeface="Karla"/>
              </a:defRPr>
            </a:pPr>
            <a:r>
              <a:t>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8404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006DB0"/>
                </a:solidFill>
                <a:latin typeface="Fredoka"/>
              </a:defRPr>
            </a:pPr>
            <a:r>
              <a:t>Customer 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29768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79"/>
              </a:lnSpc>
              <a:spcAft>
                <a:spcPts val="0"/>
              </a:spcAft>
              <a:defRPr sz="1200" b="0">
                <a:solidFill>
                  <a:srgbClr val="64748B"/>
                </a:solidFill>
                <a:latin typeface="Karla"/>
              </a:defRPr>
            </a:pPr>
            <a:r>
              <a:t>Scan nearby refill stations on the map, compare live prices, order 20L refills with one tap, pay via M-Pesa, and get heavy bottles delivered straight to your door.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560320"/>
            <a:ext cx="3383280" cy="3017520"/>
          </a:xfrm>
          <a:prstGeom prst="roundRect">
            <a:avLst/>
          </a:prstGeom>
          <a:solidFill>
            <a:srgbClr val="E9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623560" y="2834640"/>
            <a:ext cx="822960" cy="822960"/>
          </a:xfrm>
          <a:prstGeom prst="ellipse">
            <a:avLst/>
          </a:prstGeom>
          <a:solidFill>
            <a:srgbClr val="006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ts val="2879"/>
              </a:lnSpc>
              <a:spcAft>
                <a:spcPts val="0"/>
              </a:spcAft>
              <a:defRPr sz="2400" b="0">
                <a:solidFill>
                  <a:srgbClr val="FFFFFF"/>
                </a:solidFill>
                <a:latin typeface="Karla"/>
              </a:defRPr>
            </a:pPr>
            <a:r>
              <a:t>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8404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006DB0"/>
                </a:solidFill>
                <a:latin typeface="Fredoka"/>
              </a:defRPr>
            </a:pPr>
            <a:r>
              <a:t>Vendor 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429768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79"/>
              </a:lnSpc>
              <a:spcAft>
                <a:spcPts val="0"/>
              </a:spcAft>
              <a:defRPr sz="1200" b="0">
                <a:solidFill>
                  <a:srgbClr val="64748B"/>
                </a:solidFill>
                <a:latin typeface="Karla"/>
              </a:defRPr>
            </a:pPr>
            <a:r>
              <a:t>Equips stationary water refill shops with a turnkey on-demand delivery arm — manage orders, track bottle inventory, dispatch riders, and grow far beyond walk-in traffic.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560320"/>
            <a:ext cx="3383280" cy="3017520"/>
          </a:xfrm>
          <a:prstGeom prst="roundRect">
            <a:avLst/>
          </a:prstGeom>
          <a:solidFill>
            <a:srgbClr val="E9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281160" y="2834640"/>
            <a:ext cx="822960" cy="822960"/>
          </a:xfrm>
          <a:prstGeom prst="ellipse">
            <a:avLst/>
          </a:prstGeom>
          <a:solidFill>
            <a:srgbClr val="006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ts val="2879"/>
              </a:lnSpc>
              <a:spcAft>
                <a:spcPts val="0"/>
              </a:spcAft>
              <a:defRPr sz="2400" b="0">
                <a:solidFill>
                  <a:srgbClr val="FFFFFF"/>
                </a:solidFill>
                <a:latin typeface="Karla"/>
              </a:defRPr>
            </a:pPr>
            <a:r>
              <a:t>🏍️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8404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006DB0"/>
                </a:solidFill>
                <a:latin typeface="Fredoka"/>
              </a:defRPr>
            </a:pPr>
            <a:r>
              <a:t>Rider 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429768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79"/>
              </a:lnSpc>
              <a:spcAft>
                <a:spcPts val="0"/>
              </a:spcAft>
              <a:defRPr sz="1200" b="0">
                <a:solidFill>
                  <a:srgbClr val="64748B"/>
                </a:solidFill>
                <a:latin typeface="Karla"/>
              </a:defRPr>
            </a:pPr>
            <a:r>
              <a:t>Enables motorbike riders to accept delivery jobs, collect customer empties, exchange them at partner refill stations, and earn steady income handling the heavy hauling.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852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64748B"/>
                </a:solidFill>
                <a:latin typeface="Karla"/>
              </a:defRPr>
            </a:pPr>
            <a:r>
              <a:t>+ Admin Operations Console  —  27 screens for refill station management, bottle float tracking, live dispatch, and automated financial settlements.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64748B"/>
                </a:solidFill>
                <a:latin typeface="Fredoka"/>
              </a:defRPr>
            </a:pPr>
            <a:r>
              <a:t>💧 Drop — Multivendor Water Delivery Platform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64748B"/>
                </a:solidFill>
                <a:latin typeface="Karla"/>
              </a:defRPr>
            </a:pPr>
            <a: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1E293B"/>
                </a:solidFill>
                <a:latin typeface="Fredoka"/>
              </a:defRPr>
            </a:pPr>
            <a:r>
              <a:t>Market Opportunity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548640" cy="50800"/>
          </a:xfrm>
          <a:prstGeom prst="rect">
            <a:avLst/>
          </a:prstGeom>
          <a:solidFill>
            <a:srgbClr val="006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383280" cy="237744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64748B"/>
                </a:solidFill>
                <a:latin typeface="Fredoka"/>
              </a:defRPr>
            </a:pPr>
            <a:r>
              <a:t>TAM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040"/>
              </a:lnSpc>
              <a:spcAft>
                <a:spcPts val="0"/>
              </a:spcAft>
              <a:defRPr sz="4200" b="1">
                <a:solidFill>
                  <a:srgbClr val="006DB0"/>
                </a:solidFill>
                <a:latin typeface="Fredoka"/>
              </a:defRPr>
            </a:pPr>
            <a:r>
              <a:t>$3.2B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10896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79"/>
              </a:lnSpc>
              <a:spcAft>
                <a:spcPts val="0"/>
              </a:spcAft>
              <a:defRPr sz="1200" b="0">
                <a:solidFill>
                  <a:srgbClr val="64748B"/>
                </a:solidFill>
                <a:latin typeface="Karla"/>
              </a:defRPr>
            </a:pPr>
            <a:r>
              <a:t>Kenya's entire water supply &amp; sanitation market — formal and informal combined.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737360"/>
            <a:ext cx="3383280" cy="237744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9202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64748B"/>
                </a:solidFill>
                <a:latin typeface="Fredoka"/>
              </a:defRPr>
            </a:pPr>
            <a:r>
              <a:t>SAM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28600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040"/>
              </a:lnSpc>
              <a:spcAft>
                <a:spcPts val="0"/>
              </a:spcAft>
              <a:defRPr sz="4200" b="1">
                <a:solidFill>
                  <a:srgbClr val="006DB0"/>
                </a:solidFill>
                <a:latin typeface="Fredoka"/>
              </a:defRPr>
            </a:pPr>
            <a:r>
              <a:t>$850M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10896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79"/>
              </a:lnSpc>
              <a:spcAft>
                <a:spcPts val="0"/>
              </a:spcAft>
              <a:defRPr sz="1200" b="0">
                <a:solidFill>
                  <a:srgbClr val="64748B"/>
                </a:solidFill>
                <a:latin typeface="Karla"/>
              </a:defRPr>
            </a:pPr>
            <a:r>
              <a:t>Urban &amp; peri-urban bottled/tanker water delivery market across Kenya's 10 largest cities.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737360"/>
            <a:ext cx="3383280" cy="237744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9202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64748B"/>
                </a:solidFill>
                <a:latin typeface="Fredoka"/>
              </a:defRPr>
            </a:pPr>
            <a:r>
              <a:t>SOM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28600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040"/>
              </a:lnSpc>
              <a:spcAft>
                <a:spcPts val="0"/>
              </a:spcAft>
              <a:defRPr sz="4200" b="1">
                <a:solidFill>
                  <a:srgbClr val="006DB0"/>
                </a:solidFill>
                <a:latin typeface="Fredoka"/>
              </a:defRPr>
            </a:pPr>
            <a:r>
              <a:t>$45M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10896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79"/>
              </a:lnSpc>
              <a:spcAft>
                <a:spcPts val="0"/>
              </a:spcAft>
              <a:defRPr sz="1200" b="0">
                <a:solidFill>
                  <a:srgbClr val="64748B"/>
                </a:solidFill>
                <a:latin typeface="Karla"/>
              </a:defRPr>
            </a:pPr>
            <a:r>
              <a:t>Nairobi metro + satellite boomtowns (Rongai, Ngong, Ruiru, Kiambu) — our first 24-month target.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572000"/>
            <a:ext cx="2560320" cy="1463040"/>
          </a:xfrm>
          <a:prstGeom prst="roundRect">
            <a:avLst/>
          </a:prstGeom>
          <a:solidFill>
            <a:srgbClr val="E9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75488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Aft>
                <a:spcPts val="0"/>
              </a:spcAft>
              <a:defRPr sz="2800" b="1">
                <a:solidFill>
                  <a:srgbClr val="006DB0"/>
                </a:solidFill>
                <a:latin typeface="Fredoka"/>
              </a:defRPr>
            </a:pPr>
            <a:r>
              <a:t>54M+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035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64748B"/>
                </a:solidFill>
                <a:latin typeface="Karla"/>
              </a:defRPr>
            </a:pPr>
            <a:r>
              <a:t>Kenya's Population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66160" y="4572000"/>
            <a:ext cx="2560320" cy="1463040"/>
          </a:xfrm>
          <a:prstGeom prst="roundRect">
            <a:avLst/>
          </a:prstGeom>
          <a:solidFill>
            <a:srgbClr val="E9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40" y="475488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Aft>
                <a:spcPts val="0"/>
              </a:spcAft>
              <a:defRPr sz="2800" b="1">
                <a:solidFill>
                  <a:srgbClr val="006DB0"/>
                </a:solidFill>
                <a:latin typeface="Fredoka"/>
              </a:defRPr>
            </a:pPr>
            <a:r>
              <a:t>90%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40" y="53035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64748B"/>
                </a:solidFill>
                <a:latin typeface="Karla"/>
              </a:defRPr>
            </a:pPr>
            <a:r>
              <a:t>Mobile Penetration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4572000"/>
            <a:ext cx="2560320" cy="1463040"/>
          </a:xfrm>
          <a:prstGeom prst="roundRect">
            <a:avLst/>
          </a:prstGeom>
          <a:solidFill>
            <a:srgbClr val="E9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475488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Aft>
                <a:spcPts val="0"/>
              </a:spcAft>
              <a:defRPr sz="2800" b="1">
                <a:solidFill>
                  <a:srgbClr val="006DB0"/>
                </a:solidFill>
                <a:latin typeface="Fredoka"/>
              </a:defRPr>
            </a:pPr>
            <a:r>
              <a:t>28M+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53035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64748B"/>
                </a:solidFill>
                <a:latin typeface="Karla"/>
              </a:defRPr>
            </a:pPr>
            <a:r>
              <a:t>M-Pesa Active Users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35440" y="4572000"/>
            <a:ext cx="2560320" cy="1463040"/>
          </a:xfrm>
          <a:prstGeom prst="roundRect">
            <a:avLst/>
          </a:prstGeom>
          <a:solidFill>
            <a:srgbClr val="E9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0" y="475488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Aft>
                <a:spcPts val="0"/>
              </a:spcAft>
              <a:defRPr sz="2800" b="1">
                <a:solidFill>
                  <a:srgbClr val="006DB0"/>
                </a:solidFill>
                <a:latin typeface="Fredoka"/>
              </a:defRPr>
            </a:pPr>
            <a:r>
              <a:t>40%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53035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64748B"/>
                </a:solidFill>
                <a:latin typeface="Karla"/>
              </a:defRPr>
            </a:pPr>
            <a:r>
              <a:t>Lack Reliable Water Access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64748B"/>
                </a:solidFill>
                <a:latin typeface="Fredoka"/>
              </a:defRPr>
            </a:pPr>
            <a:r>
              <a:t>💧 Drop — Multivendor Water Delivery Platform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64748B"/>
                </a:solidFill>
                <a:latin typeface="Karla"/>
              </a:defRPr>
            </a:pPr>
            <a: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1E293B"/>
                </a:solidFill>
                <a:latin typeface="Fredoka"/>
              </a:defRPr>
            </a:pPr>
            <a:r>
              <a:t>How It Works: Doorstep Refill in 6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548640" cy="50800"/>
          </a:xfrm>
          <a:prstGeom prst="rect">
            <a:avLst/>
          </a:prstGeom>
          <a:solidFill>
            <a:srgbClr val="006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1783080"/>
            <a:ext cx="502920" cy="502920"/>
          </a:xfrm>
          <a:prstGeom prst="ellipse">
            <a:avLst/>
          </a:prstGeom>
          <a:solidFill>
            <a:srgbClr val="006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ts val="2400"/>
              </a:lnSpc>
              <a:spcAft>
                <a:spcPts val="0"/>
              </a:spcAft>
              <a:defRPr sz="2000" b="1">
                <a:solidFill>
                  <a:srgbClr val="FFFFFF"/>
                </a:solidFill>
                <a:latin typeface="Fredoka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1E293B"/>
                </a:solidFill>
                <a:latin typeface="Fredoka"/>
              </a:defRPr>
            </a:pPr>
            <a:r>
              <a:t>Scan &amp; Compare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10312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0"/>
              </a:spcAft>
              <a:defRPr sz="1200" b="0">
                <a:solidFill>
                  <a:srgbClr val="64748B"/>
                </a:solidFill>
                <a:latin typeface="Karla"/>
              </a:defRPr>
            </a:pPr>
            <a:r>
              <a:t>Customer opens Drop, scans nearby water refill stations on the live map, and compares real-time refill prices.</a:t>
            </a:r>
          </a:p>
        </p:txBody>
      </p:sp>
      <p:sp>
        <p:nvSpPr>
          <p:cNvPr id="7" name="Oval 6"/>
          <p:cNvSpPr/>
          <p:nvPr/>
        </p:nvSpPr>
        <p:spPr>
          <a:xfrm>
            <a:off x="4389120" y="1783080"/>
            <a:ext cx="502920" cy="502920"/>
          </a:xfrm>
          <a:prstGeom prst="ellipse">
            <a:avLst/>
          </a:prstGeom>
          <a:solidFill>
            <a:srgbClr val="006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ts val="2400"/>
              </a:lnSpc>
              <a:spcAft>
                <a:spcPts val="0"/>
              </a:spcAft>
              <a:defRPr sz="2000" b="1">
                <a:solidFill>
                  <a:srgbClr val="FFFFFF"/>
                </a:solidFill>
                <a:latin typeface="Fredoka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645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1E293B"/>
                </a:solidFill>
                <a:latin typeface="Fredoka"/>
              </a:defRPr>
            </a:pPr>
            <a:r>
              <a:t>Order &amp; Pay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210312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0"/>
              </a:spcAft>
              <a:defRPr sz="1200" b="0">
                <a:solidFill>
                  <a:srgbClr val="64748B"/>
                </a:solidFill>
                <a:latin typeface="Karla"/>
              </a:defRPr>
            </a:pPr>
            <a:r>
              <a:t>Customer selects 20L refill quantity, specifies empty bottle exchange, and checks out securely via M-Pesa STK Push.</a:t>
            </a:r>
          </a:p>
        </p:txBody>
      </p:sp>
      <p:sp>
        <p:nvSpPr>
          <p:cNvPr id="10" name="Oval 9"/>
          <p:cNvSpPr/>
          <p:nvPr/>
        </p:nvSpPr>
        <p:spPr>
          <a:xfrm>
            <a:off x="8046720" y="1783080"/>
            <a:ext cx="502920" cy="502920"/>
          </a:xfrm>
          <a:prstGeom prst="ellipse">
            <a:avLst/>
          </a:prstGeom>
          <a:solidFill>
            <a:srgbClr val="006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ts val="2400"/>
              </a:lnSpc>
              <a:spcAft>
                <a:spcPts val="0"/>
              </a:spcAft>
              <a:defRPr sz="2000" b="1">
                <a:solidFill>
                  <a:srgbClr val="FFFFFF"/>
                </a:solidFill>
                <a:latin typeface="Fredoka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645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1E293B"/>
                </a:solidFill>
                <a:latin typeface="Fredoka"/>
              </a:defRPr>
            </a:pPr>
            <a:r>
              <a:t>Smart Dispatch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210312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0"/>
              </a:spcAft>
              <a:defRPr sz="1200" b="0">
                <a:solidFill>
                  <a:srgbClr val="64748B"/>
                </a:solidFill>
                <a:latin typeface="Karla"/>
              </a:defRPr>
            </a:pPr>
            <a:r>
              <a:t>Two-tier dispatch broadcasts the delivery to station-employed riders or nearby freelance gig riders.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251960"/>
            <a:ext cx="502920" cy="502920"/>
          </a:xfrm>
          <a:prstGeom prst="ellipse">
            <a:avLst/>
          </a:prstGeom>
          <a:solidFill>
            <a:srgbClr val="006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ts val="2400"/>
              </a:lnSpc>
              <a:spcAft>
                <a:spcPts val="0"/>
              </a:spcAft>
              <a:defRPr sz="2000" b="1">
                <a:solidFill>
                  <a:srgbClr val="FFFFFF"/>
                </a:solidFill>
                <a:latin typeface="Fredoka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114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1E293B"/>
                </a:solidFill>
                <a:latin typeface="Fredoka"/>
              </a:defRPr>
            </a:pPr>
            <a:r>
              <a:t>Pickup Empties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57200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0"/>
              </a:spcAft>
              <a:defRPr sz="1200" b="0">
                <a:solidFill>
                  <a:srgbClr val="64748B"/>
                </a:solidFill>
                <a:latin typeface="Karla"/>
              </a:defRPr>
            </a:pPr>
            <a:r>
              <a:t>Rider collects customer's empty 20L bottles from their doorstep and takes them to the chosen refill station.</a:t>
            </a:r>
          </a:p>
        </p:txBody>
      </p:sp>
      <p:sp>
        <p:nvSpPr>
          <p:cNvPr id="16" name="Oval 15"/>
          <p:cNvSpPr/>
          <p:nvPr/>
        </p:nvSpPr>
        <p:spPr>
          <a:xfrm>
            <a:off x="4389120" y="4251960"/>
            <a:ext cx="502920" cy="502920"/>
          </a:xfrm>
          <a:prstGeom prst="ellipse">
            <a:avLst/>
          </a:prstGeom>
          <a:solidFill>
            <a:srgbClr val="006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ts val="2400"/>
              </a:lnSpc>
              <a:spcAft>
                <a:spcPts val="0"/>
              </a:spcAft>
              <a:defRPr sz="2000" b="1">
                <a:solidFill>
                  <a:srgbClr val="FFFFFF"/>
                </a:solidFill>
                <a:latin typeface="Fredok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4114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1E293B"/>
                </a:solidFill>
                <a:latin typeface="Fredoka"/>
              </a:defRPr>
            </a:pPr>
            <a:r>
              <a:t>Doorstep Delivery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457200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0"/>
              </a:spcAft>
              <a:defRPr sz="1200" b="0">
                <a:solidFill>
                  <a:srgbClr val="64748B"/>
                </a:solidFill>
                <a:latin typeface="Karla"/>
              </a:defRPr>
            </a:pPr>
            <a:r>
              <a:t>Customer tracks rider GPS in real time. Rider climbs stairs and delivers the heavy 20kg bottles directly into the home.</a:t>
            </a:r>
          </a:p>
        </p:txBody>
      </p:sp>
      <p:sp>
        <p:nvSpPr>
          <p:cNvPr id="19" name="Oval 18"/>
          <p:cNvSpPr/>
          <p:nvPr/>
        </p:nvSpPr>
        <p:spPr>
          <a:xfrm>
            <a:off x="8046720" y="4251960"/>
            <a:ext cx="502920" cy="502920"/>
          </a:xfrm>
          <a:prstGeom prst="ellipse">
            <a:avLst/>
          </a:prstGeom>
          <a:solidFill>
            <a:srgbClr val="006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ts val="2400"/>
              </a:lnSpc>
              <a:spcAft>
                <a:spcPts val="0"/>
              </a:spcAft>
              <a:defRPr sz="2000" b="1">
                <a:solidFill>
                  <a:srgbClr val="FFFFFF"/>
                </a:solidFill>
                <a:latin typeface="Fredoka"/>
              </a:defRPr>
            </a:pPr>
            <a: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4114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1E293B"/>
                </a:solidFill>
                <a:latin typeface="Fredoka"/>
              </a:defRPr>
            </a:pPr>
            <a:r>
              <a:t>Settle &amp; Log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457200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0"/>
              </a:spcAft>
              <a:defRPr sz="1200" b="0">
                <a:solidFill>
                  <a:srgbClr val="64748B"/>
                </a:solidFill>
                <a:latin typeface="Karla"/>
              </a:defRPr>
            </a:pPr>
            <a:r>
              <a:t>Instant revenue split credits vendor and rider M-Pesa wallets. Digital bottle ledger updates with zero deposit disputes.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64748B"/>
                </a:solidFill>
                <a:latin typeface="Fredoka"/>
              </a:defRPr>
            </a:pPr>
            <a:r>
              <a:t>💧 Drop — Multivendor Water Delivery Platform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64748B"/>
                </a:solidFill>
                <a:latin typeface="Karla"/>
              </a:defRPr>
            </a:pPr>
            <a: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1E293B"/>
                </a:solidFill>
                <a:latin typeface="Fredoka"/>
              </a:defRPr>
            </a:pPr>
            <a:r>
              <a:t>Business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548640" cy="50800"/>
          </a:xfrm>
          <a:prstGeom prst="rect">
            <a:avLst/>
          </a:prstGeom>
          <a:solidFill>
            <a:srgbClr val="006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64748B"/>
                </a:solidFill>
                <a:latin typeface="Karla"/>
              </a:defRPr>
            </a:pPr>
            <a:r>
              <a:t>Multiple revenue streams, all configurable in real time from the admin console — 34 pricing parameters across 10 groups.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2560320" cy="34747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5603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06DB0"/>
                </a:solidFill>
                <a:latin typeface="Fredoka"/>
              </a:defRPr>
            </a:pPr>
            <a:r>
              <a:t>💰  Vendor Commission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20040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006DB0"/>
                </a:solidFill>
                <a:latin typeface="JetBrains Mono"/>
              </a:defRPr>
            </a:pPr>
            <a:r>
              <a:t>5% on retail (B2C)</a:t>
            </a:r>
            <a:br/>
            <a:r>
              <a:t>5% on wholesale (B2B)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48056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39"/>
              </a:lnSpc>
              <a:spcAft>
                <a:spcPts val="0"/>
              </a:spcAft>
              <a:defRPr sz="1100" b="0">
                <a:solidFill>
                  <a:srgbClr val="64748B"/>
                </a:solidFill>
                <a:latin typeface="Karla"/>
              </a:defRPr>
            </a:pPr>
            <a:r>
              <a:t>Scales with every order on the platform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2377440"/>
            <a:ext cx="2560320" cy="34747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25603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06DB0"/>
                </a:solidFill>
                <a:latin typeface="Fredoka"/>
              </a:defRPr>
            </a:pPr>
            <a:r>
              <a:t>🏷️  Service Fees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320040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006DB0"/>
                </a:solidFill>
                <a:latin typeface="JetBrains Mono"/>
              </a:defRPr>
            </a:pPr>
            <a:r>
              <a:t>KSH 35 per retail order</a:t>
            </a:r>
            <a:br/>
            <a:r>
              <a:t>KSH 120 per wholesale order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448056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39"/>
              </a:lnSpc>
              <a:spcAft>
                <a:spcPts val="0"/>
              </a:spcAft>
              <a:defRPr sz="1100" b="0">
                <a:solidFill>
                  <a:srgbClr val="64748B"/>
                </a:solidFill>
                <a:latin typeface="Karla"/>
              </a:defRPr>
            </a:pPr>
            <a:r>
              <a:t>Covers M-Pesa tariff + platform ops costs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377440"/>
            <a:ext cx="2560320" cy="34747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5603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06DB0"/>
                </a:solidFill>
                <a:latin typeface="Fredoka"/>
              </a:defRPr>
            </a:pPr>
            <a:r>
              <a:t>🚀  Surge Pricing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20040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006DB0"/>
                </a:solidFill>
                <a:latin typeface="JetBrains Mono"/>
              </a:defRPr>
            </a:pPr>
            <a:r>
              <a:t>+KSH 10 during</a:t>
            </a:r>
            <a:br/>
            <a:r>
              <a:t>peak hours (6-8am, 5-7pm)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48056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39"/>
              </a:lnSpc>
              <a:spcAft>
                <a:spcPts val="0"/>
              </a:spcAft>
              <a:defRPr sz="1100" b="0">
                <a:solidFill>
                  <a:srgbClr val="64748B"/>
                </a:solidFill>
                <a:latin typeface="Karla"/>
              </a:defRPr>
            </a:pPr>
            <a:r>
              <a:t>Dynamic pricing for high-demand windows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2377440"/>
            <a:ext cx="2560320" cy="34747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0" y="25603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06DB0"/>
                </a:solidFill>
                <a:latin typeface="Fredoka"/>
              </a:defRPr>
            </a:pPr>
            <a:r>
              <a:t>📦  Delivery Fees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320040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006DB0"/>
                </a:solidFill>
                <a:latin typeface="JetBrains Mono"/>
              </a:defRPr>
            </a:pPr>
            <a:r>
              <a:t>Distance-based</a:t>
            </a:r>
            <a:br/>
            <a:r>
              <a:t>rider earns 90-100%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448056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39"/>
              </a:lnSpc>
              <a:spcAft>
                <a:spcPts val="0"/>
              </a:spcAft>
              <a:defRPr sz="1100" b="0">
                <a:solidFill>
                  <a:srgbClr val="64748B"/>
                </a:solidFill>
                <a:latin typeface="Karla"/>
              </a:defRPr>
            </a:pPr>
            <a:r>
              <a:t>5% wholesale markup; retail markup at 0%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6035040"/>
            <a:ext cx="10698480" cy="548640"/>
          </a:xfrm>
          <a:prstGeom prst="roundRect">
            <a:avLst/>
          </a:prstGeom>
          <a:solidFill>
            <a:srgbClr val="E9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60807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006DB0"/>
                </a:solidFill>
                <a:latin typeface="Karla"/>
              </a:defRPr>
            </a:pPr>
            <a:r>
              <a:t>💡  One pricing path: compute_order_quote is the single source of truth — client renders it, M-Pesa charges it, database stores it. Tests enforce parity.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64748B"/>
                </a:solidFill>
                <a:latin typeface="Fredoka"/>
              </a:defRPr>
            </a:pPr>
            <a:r>
              <a:t>💧 Drop — Multivendor Water Delivery Platform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64748B"/>
                </a:solidFill>
                <a:latin typeface="Karla"/>
              </a:defRPr>
            </a:pPr>
            <a: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Fredoka"/>
              </a:defRPr>
            </a:pPr>
            <a: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548640" cy="50800"/>
          </a:xfrm>
          <a:prstGeom prst="rect">
            <a:avLst/>
          </a:prstGeom>
          <a:solidFill>
            <a:srgbClr val="006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A8DCFC"/>
                </a:solidFill>
                <a:latin typeface="Fredoka"/>
              </a:defRPr>
            </a:pPr>
            <a:r>
              <a:t>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E2E8F0"/>
                </a:solidFill>
                <a:latin typeface="JetBrains Mono"/>
              </a:defRPr>
            </a:pPr>
            <a:r>
              <a:t>▸  Python 3.12  •  FastAPI  •  Uvicorn</a:t>
            </a:r>
          </a:p>
          <a:p>
            <a:pPr algn="l">
              <a:spcBef>
                <a:spcPts val="800"/>
              </a:spcBef>
              <a:spcAft>
                <a:spcPts val="0"/>
              </a:spcAft>
              <a:defRPr sz="1100" b="0">
                <a:solidFill>
                  <a:srgbClr val="E2E8F0"/>
                </a:solidFill>
                <a:latin typeface="JetBrains Mono"/>
              </a:defRPr>
            </a:pPr>
            <a:r>
              <a:t>▸  PostgreSQL + PostGIS + H3</a:t>
            </a:r>
          </a:p>
          <a:p>
            <a:pPr algn="l">
              <a:spcBef>
                <a:spcPts val="800"/>
              </a:spcBef>
              <a:spcAft>
                <a:spcPts val="0"/>
              </a:spcAft>
              <a:defRPr sz="1100" b="0">
                <a:solidFill>
                  <a:srgbClr val="E2E8F0"/>
                </a:solidFill>
                <a:latin typeface="JetBrains Mono"/>
              </a:defRPr>
            </a:pPr>
            <a:r>
              <a:t>▸  SQLAlchemy 2.0 Async  •  Alembic</a:t>
            </a:r>
          </a:p>
          <a:p>
            <a:pPr algn="l">
              <a:spcBef>
                <a:spcPts val="800"/>
              </a:spcBef>
              <a:spcAft>
                <a:spcPts val="0"/>
              </a:spcAft>
              <a:defRPr sz="1100" b="0">
                <a:solidFill>
                  <a:srgbClr val="E2E8F0"/>
                </a:solidFill>
                <a:latin typeface="JetBrains Mono"/>
              </a:defRPr>
            </a:pPr>
            <a:r>
              <a:t>▸  Redis (pub/sub, queues, rate limits)</a:t>
            </a:r>
          </a:p>
          <a:p>
            <a:pPr algn="l">
              <a:spcBef>
                <a:spcPts val="800"/>
              </a:spcBef>
              <a:spcAft>
                <a:spcPts val="0"/>
              </a:spcAft>
              <a:defRPr sz="1100" b="0">
                <a:solidFill>
                  <a:srgbClr val="E2E8F0"/>
                </a:solidFill>
                <a:latin typeface="JetBrains Mono"/>
              </a:defRPr>
            </a:pPr>
            <a:r>
              <a:t>▸  ARQ Background Workers</a:t>
            </a:r>
          </a:p>
          <a:p>
            <a:pPr algn="l">
              <a:spcBef>
                <a:spcPts val="800"/>
              </a:spcBef>
              <a:spcAft>
                <a:spcPts val="0"/>
              </a:spcAft>
              <a:defRPr sz="1100" b="0">
                <a:solidFill>
                  <a:srgbClr val="E2E8F0"/>
                </a:solidFill>
                <a:latin typeface="JetBrains Mono"/>
              </a:defRPr>
            </a:pPr>
            <a:r>
              <a:t>▸  M-Pesa STK Push / B2C / Reversals</a:t>
            </a:r>
          </a:p>
          <a:p>
            <a:pPr algn="l">
              <a:spcBef>
                <a:spcPts val="800"/>
              </a:spcBef>
              <a:spcAft>
                <a:spcPts val="0"/>
              </a:spcAft>
              <a:defRPr sz="1100" b="0">
                <a:solidFill>
                  <a:srgbClr val="E2E8F0"/>
                </a:solidFill>
                <a:latin typeface="JetBrains Mono"/>
              </a:defRPr>
            </a:pPr>
            <a:r>
              <a:t>▸  AWS S3 (private, presigned)</a:t>
            </a:r>
          </a:p>
          <a:p>
            <a:pPr algn="l">
              <a:spcBef>
                <a:spcPts val="800"/>
              </a:spcBef>
              <a:spcAft>
                <a:spcPts val="0"/>
              </a:spcAft>
              <a:defRPr sz="1100" b="0">
                <a:solidFill>
                  <a:srgbClr val="E2E8F0"/>
                </a:solidFill>
                <a:latin typeface="JetBrains Mono"/>
              </a:defRPr>
            </a:pPr>
            <a:r>
              <a:t>▸  Clerk RS256 JWT Auth</a:t>
            </a:r>
          </a:p>
          <a:p>
            <a:pPr algn="l">
              <a:spcBef>
                <a:spcPts val="800"/>
              </a:spcBef>
              <a:spcAft>
                <a:spcPts val="0"/>
              </a:spcAft>
              <a:defRPr sz="1100" b="0">
                <a:solidFill>
                  <a:srgbClr val="E2E8F0"/>
                </a:solidFill>
                <a:latin typeface="JetBrains Mono"/>
              </a:defRPr>
            </a:pPr>
            <a:r>
              <a:t>▸  Sentry  •  Prometheus  •  JSON Logs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A8DCFC"/>
                </a:solidFill>
                <a:latin typeface="Fredoka"/>
              </a:defRPr>
            </a:pPr>
            <a:r>
              <a:t>MOBILE &amp; WEB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E2E8F0"/>
                </a:solidFill>
                <a:latin typeface="JetBrains Mono"/>
              </a:defRPr>
            </a:pPr>
            <a:r>
              <a:t>▸  Expo SDK 54  •  React Native 0.81</a:t>
            </a:r>
          </a:p>
          <a:p>
            <a:pPr algn="l">
              <a:spcBef>
                <a:spcPts val="800"/>
              </a:spcBef>
              <a:spcAft>
                <a:spcPts val="0"/>
              </a:spcAft>
              <a:defRPr sz="1100" b="0">
                <a:solidFill>
                  <a:srgbClr val="E2E8F0"/>
                </a:solidFill>
                <a:latin typeface="JetBrains Mono"/>
              </a:defRPr>
            </a:pPr>
            <a:r>
              <a:t>▸  React 19  •  Expo Router 6</a:t>
            </a:r>
          </a:p>
          <a:p>
            <a:pPr algn="l">
              <a:spcBef>
                <a:spcPts val="800"/>
              </a:spcBef>
              <a:spcAft>
                <a:spcPts val="0"/>
              </a:spcAft>
              <a:defRPr sz="1100" b="0">
                <a:solidFill>
                  <a:srgbClr val="E2E8F0"/>
                </a:solidFill>
                <a:latin typeface="JetBrains Mono"/>
              </a:defRPr>
            </a:pPr>
            <a:r>
              <a:t>▸  NativeWind v4  •  TanStack Query v5</a:t>
            </a:r>
          </a:p>
          <a:p>
            <a:pPr algn="l">
              <a:spcBef>
                <a:spcPts val="800"/>
              </a:spcBef>
              <a:spcAft>
                <a:spcPts val="0"/>
              </a:spcAft>
              <a:defRPr sz="1100" b="0">
                <a:solidFill>
                  <a:srgbClr val="E2E8F0"/>
                </a:solidFill>
                <a:latin typeface="JetBrains Mono"/>
              </a:defRPr>
            </a:pPr>
            <a:r>
              <a:t>▸  Zustand v5 State Management</a:t>
            </a:r>
          </a:p>
          <a:p>
            <a:pPr algn="l">
              <a:spcBef>
                <a:spcPts val="800"/>
              </a:spcBef>
              <a:spcAft>
                <a:spcPts val="0"/>
              </a:spcAft>
              <a:defRPr sz="1100" b="0">
                <a:solidFill>
                  <a:srgbClr val="E2E8F0"/>
                </a:solidFill>
                <a:latin typeface="JetBrains Mono"/>
              </a:defRPr>
            </a:pPr>
            <a:r>
              <a:t>▸  @clerk/clerk-expo Auth</a:t>
            </a:r>
          </a:p>
          <a:p>
            <a:pPr algn="l">
              <a:spcBef>
                <a:spcPts val="800"/>
              </a:spcBef>
              <a:spcAft>
                <a:spcPts val="0"/>
              </a:spcAft>
              <a:defRPr sz="1100" b="0">
                <a:solidFill>
                  <a:srgbClr val="E2E8F0"/>
                </a:solidFill>
                <a:latin typeface="JetBrains Mono"/>
              </a:defRPr>
            </a:pPr>
            <a:r>
              <a:t>▸  react-native-maps + WebSocket</a:t>
            </a:r>
          </a:p>
          <a:p>
            <a:pPr algn="l">
              <a:spcBef>
                <a:spcPts val="800"/>
              </a:spcBef>
              <a:spcAft>
                <a:spcPts val="0"/>
              </a:spcAft>
              <a:defRPr sz="1100" b="0">
                <a:solidFill>
                  <a:srgbClr val="E2E8F0"/>
                </a:solidFill>
                <a:latin typeface="JetBrains Mono"/>
              </a:defRPr>
            </a:pPr>
            <a:r>
              <a:t>▸  Next.js 16 (Admin Console)</a:t>
            </a:r>
          </a:p>
          <a:p>
            <a:pPr algn="l">
              <a:spcBef>
                <a:spcPts val="800"/>
              </a:spcBef>
              <a:spcAft>
                <a:spcPts val="0"/>
              </a:spcAft>
              <a:defRPr sz="1100" b="0">
                <a:solidFill>
                  <a:srgbClr val="E2E8F0"/>
                </a:solidFill>
                <a:latin typeface="JetBrains Mono"/>
              </a:defRPr>
            </a:pPr>
            <a:r>
              <a:t>▸  Tailwind v4  •  Recharts</a:t>
            </a:r>
          </a:p>
          <a:p>
            <a:pPr algn="l">
              <a:spcBef>
                <a:spcPts val="800"/>
              </a:spcBef>
              <a:spcAft>
                <a:spcPts val="0"/>
              </a:spcAft>
              <a:defRPr sz="1100" b="0">
                <a:solidFill>
                  <a:srgbClr val="E2E8F0"/>
                </a:solidFill>
                <a:latin typeface="JetBrains Mono"/>
              </a:defRPr>
            </a:pPr>
            <a:r>
              <a:t>▸  Vercel Deployment (Console + Website)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486400"/>
            <a:ext cx="1069848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57784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50"/>
              </a:lnSpc>
              <a:spcAft>
                <a:spcPts val="0"/>
              </a:spcAft>
              <a:defRPr sz="1100" b="0">
                <a:solidFill>
                  <a:srgbClr val="E2E8F0"/>
                </a:solidFill>
                <a:latin typeface="Karla"/>
              </a:defRPr>
            </a:pPr>
            <a:r>
              <a:t>🏗️  Architecture Principle: One backend, one database, one pricing path. The console is a BFF — the browser never holds an API token.</a:t>
            </a:r>
            <a:br/>
            <a:r>
              <a:t>Geospatial: H3 hex indexing at resolution 8 with PostGIS ST_DWithin for exact-distance discovery.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64748B"/>
                </a:solidFill>
                <a:latin typeface="Karla"/>
              </a:defRPr>
            </a:pPr>
            <a: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1E293B"/>
                </a:solidFill>
                <a:latin typeface="Fredoka"/>
              </a:defRPr>
            </a:pPr>
            <a:r>
              <a:t>Operations Console — 27 Screens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548640" cy="50800"/>
          </a:xfrm>
          <a:prstGeom prst="rect">
            <a:avLst/>
          </a:prstGeom>
          <a:solidFill>
            <a:srgbClr val="006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64748B"/>
                </a:solidFill>
                <a:latin typeface="Karla"/>
              </a:defRPr>
            </a:pPr>
            <a:r>
              <a:t>Every page carries aggregates that tell an operator whether anything needs doing — not just tables with search boxes.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3383280" cy="20116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4688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06DB0"/>
                </a:solidFill>
                <a:latin typeface="Fredoka"/>
              </a:defRPr>
            </a:pPr>
            <a:r>
              <a:t>🔧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880360"/>
            <a:ext cx="2834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Aft>
                <a:spcPts val="0"/>
              </a:spcAft>
              <a:defRPr sz="1100" b="0">
                <a:solidFill>
                  <a:srgbClr val="64748B"/>
                </a:solidFill>
                <a:latin typeface="Karla"/>
              </a:defRPr>
            </a:pPr>
            <a:r>
              <a:t>Orders board  •  KYC Verification  •  Live Map  •  Catalogue</a:t>
            </a:r>
            <a:br/>
            <a:r>
              <a:t>Bottle Float  •  Vendor Verification  •  Disputes  •  Reviews</a:t>
            </a:r>
            <a:br/>
            <a:r>
              <a:t>Delivery Replay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286000"/>
            <a:ext cx="3383280" cy="20116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4688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06DB0"/>
                </a:solidFill>
                <a:latin typeface="Fredoka"/>
              </a:defRPr>
            </a:pPr>
            <a:r>
              <a:t>👥 People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880360"/>
            <a:ext cx="2834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Aft>
                <a:spcPts val="0"/>
              </a:spcAft>
              <a:defRPr sz="1100" b="0">
                <a:solidFill>
                  <a:srgbClr val="64748B"/>
                </a:solidFill>
                <a:latin typeface="Karla"/>
              </a:defRPr>
            </a:pPr>
            <a:r>
              <a:t>Performance Dashboard  •  Fleet Management</a:t>
            </a:r>
            <a:br/>
            <a:r>
              <a:t>Customers  •  Riders  •  Vendors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286000"/>
            <a:ext cx="3383280" cy="20116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4688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06DB0"/>
                </a:solidFill>
                <a:latin typeface="Fredoka"/>
              </a:defRPr>
            </a:pPr>
            <a:r>
              <a:t>💵 Finance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880360"/>
            <a:ext cx="2834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Aft>
                <a:spcPts val="0"/>
              </a:spcAft>
              <a:defRPr sz="1100" b="0">
                <a:solidFill>
                  <a:srgbClr val="64748B"/>
                </a:solidFill>
                <a:latin typeface="Karla"/>
              </a:defRPr>
            </a:pPr>
            <a:r>
              <a:t>Payouts  •  Transactions</a:t>
            </a:r>
            <a:br/>
            <a:r>
              <a:t>Reconciliation  •  Settlement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572000"/>
            <a:ext cx="5029200" cy="20116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7548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06DB0"/>
                </a:solidFill>
                <a:latin typeface="Fredoka"/>
              </a:defRPr>
            </a:pPr>
            <a:r>
              <a:t>🎧 Support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66360"/>
            <a:ext cx="4480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Aft>
                <a:spcPts val="0"/>
              </a:spcAft>
              <a:defRPr sz="1100" b="0">
                <a:solidFill>
                  <a:srgbClr val="64748B"/>
                </a:solidFill>
                <a:latin typeface="Karla"/>
              </a:defRPr>
            </a:pPr>
            <a:r>
              <a:t>Ticket Inbox</a:t>
            </a:r>
            <a:br/>
            <a:r>
              <a:t>Threaded Conversations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572000"/>
            <a:ext cx="5029200" cy="20116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7548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06DB0"/>
                </a:solidFill>
                <a:latin typeface="Fredoka"/>
              </a:defRPr>
            </a:pPr>
            <a:r>
              <a:t>⚙️ Platform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5166360"/>
            <a:ext cx="4480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Aft>
                <a:spcPts val="0"/>
              </a:spcAft>
              <a:defRPr sz="1100" b="0">
                <a:solidFill>
                  <a:srgbClr val="64748B"/>
                </a:solidFill>
                <a:latin typeface="Karla"/>
              </a:defRPr>
            </a:pPr>
            <a:r>
              <a:t>Administrators  •  Audit Log  •  Notifications</a:t>
            </a:r>
            <a:br/>
            <a:r>
              <a:t>Broadcast  •  Pricing (34 settings)  •  Settings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64748B"/>
                </a:solidFill>
                <a:latin typeface="Fredoka"/>
              </a:defRPr>
            </a:pPr>
            <a:r>
              <a:t>💧 Drop — Multivendor Water Delivery Platform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64748B"/>
                </a:solidFill>
                <a:latin typeface="Karla"/>
              </a:defRPr>
            </a:pPr>
            <a: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1E293B"/>
                </a:solidFill>
                <a:latin typeface="Fredoka"/>
              </a:defRPr>
            </a:pPr>
            <a:r>
              <a:t>Security &amp; Guardrails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548640" cy="50800"/>
          </a:xfrm>
          <a:prstGeom prst="rect">
            <a:avLst/>
          </a:prstGeom>
          <a:solidFill>
            <a:srgbClr val="006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64748B"/>
                </a:solidFill>
                <a:latin typeface="Karla"/>
              </a:defRPr>
            </a:pPr>
            <a:r>
              <a:t>Platform-wide invariants enforced by tests that fail the build — not just documented rules.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5394960" cy="13258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3317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06DB0"/>
                </a:solidFill>
                <a:latin typeface="Fredoka"/>
              </a:defRPr>
            </a:pPr>
            <a:r>
              <a:t>🔒  Financial Integrity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9748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  <a:spcAft>
                <a:spcPts val="0"/>
              </a:spcAft>
              <a:defRPr sz="1100" b="0">
                <a:solidFill>
                  <a:srgbClr val="64748B"/>
                </a:solidFill>
                <a:latin typeface="Karla"/>
              </a:defRPr>
            </a:pPr>
            <a:r>
              <a:t>Money is Decimal, never float — from DB through API to the formatted string. One quote, one charge, one stored total.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194560"/>
            <a:ext cx="5394960" cy="13258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3317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06DB0"/>
                </a:solidFill>
                <a:latin typeface="Fredoka"/>
              </a:defRPr>
            </a:pPr>
            <a:r>
              <a:t>🛡️  Auth &amp; Access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69748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  <a:spcAft>
                <a:spcPts val="0"/>
              </a:spcAft>
              <a:defRPr sz="1100" b="0">
                <a:solidFill>
                  <a:srgbClr val="64748B"/>
                </a:solidFill>
                <a:latin typeface="Karla"/>
              </a:defRPr>
            </a:pPr>
            <a:r>
              <a:t>Clerk RS256 JWT verification. Every order endpoint calls authorise_order_access. 26 admin capabilities, role-based presets.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03320"/>
            <a:ext cx="5394960" cy="13258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8404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06DB0"/>
                </a:solidFill>
                <a:latin typeface="Fredoka"/>
              </a:defRPr>
            </a:pPr>
            <a:r>
              <a:t>📸  Proof of Delivery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0624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  <a:spcAft>
                <a:spcPts val="0"/>
              </a:spcAft>
              <a:defRPr sz="1100" b="0">
                <a:solidFill>
                  <a:srgbClr val="64748B"/>
                </a:solidFill>
                <a:latin typeface="Karla"/>
              </a:defRPr>
            </a:pPr>
            <a:r>
              <a:t>Photo proof mandatory on bottle deficit. Verification wall blocks riders until KYC approved. Identity documents presigned for 5 min.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703320"/>
            <a:ext cx="5394960" cy="13258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38404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06DB0"/>
                </a:solidFill>
                <a:latin typeface="Fredoka"/>
              </a:defRPr>
            </a:pPr>
            <a:r>
              <a:t>🔐  Zero-Trust Console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20624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  <a:spcAft>
                <a:spcPts val="0"/>
              </a:spcAft>
              <a:defRPr sz="1100" b="0">
                <a:solidFill>
                  <a:srgbClr val="64748B"/>
                </a:solidFill>
                <a:latin typeface="Karla"/>
              </a:defRPr>
            </a:pPr>
            <a:r>
              <a:t>BFF architecture — browser never holds API token. No retry on reversals. Every mutation audited with written reason.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212079"/>
            <a:ext cx="5394960" cy="13258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34923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06DB0"/>
                </a:solidFill>
                <a:latin typeface="Fredoka"/>
              </a:defRPr>
            </a:pPr>
            <a:r>
              <a:t>⚡  Concurrency Safety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714999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  <a:spcAft>
                <a:spcPts val="0"/>
              </a:spcAft>
              <a:defRPr sz="1100" b="0">
                <a:solidFill>
                  <a:srgbClr val="64748B"/>
                </a:solidFill>
                <a:latin typeface="Karla"/>
              </a:defRPr>
            </a:pPr>
            <a:r>
              <a:t>FOR UPDATE ... SKIP LOCKED on all sweeps. Commit-per-item. Two sanctioned push paths only — bare create_task fails the build.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5212079"/>
            <a:ext cx="5394960" cy="13258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534923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06DB0"/>
                </a:solidFill>
                <a:latin typeface="Fredoka"/>
              </a:defRPr>
            </a:pPr>
            <a:r>
              <a:t>🧪  Structural Tests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5714999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  <a:spcAft>
                <a:spcPts val="0"/>
              </a:spcAft>
              <a:defRPr sz="1100" b="0">
                <a:solidFill>
                  <a:srgbClr val="64748B"/>
                </a:solidFill>
                <a:latin typeface="Karla"/>
              </a:defRPr>
            </a:pPr>
            <a:r>
              <a:t>704 tests including AST walkers that reject: unguarded routes, missing capability checks, bypassed proof checks, retry buttons on settlements.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64748B"/>
                </a:solidFill>
                <a:latin typeface="Fredoka"/>
              </a:defRPr>
            </a:pPr>
            <a:r>
              <a:t>💧 Drop — Multivendor Water Delivery Platform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64748B"/>
                </a:solidFill>
                <a:latin typeface="Karla"/>
              </a:defRPr>
            </a:pPr>
            <a: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1E293B"/>
                </a:solidFill>
                <a:latin typeface="Fredoka"/>
              </a:defRPr>
            </a:pPr>
            <a:r>
              <a:t>Competitive Advantage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548640" cy="50800"/>
          </a:xfrm>
          <a:prstGeom prst="rect">
            <a:avLst/>
          </a:prstGeom>
          <a:solidFill>
            <a:srgbClr val="006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10698480" cy="548640"/>
          </a:xfrm>
          <a:prstGeom prst="rect">
            <a:avLst/>
          </a:prstGeom>
          <a:solidFill>
            <a:srgbClr val="006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FFFFFF"/>
                </a:solidFill>
                <a:latin typeface="Fredoka"/>
              </a:defRPr>
            </a:pPr>
            <a:r>
              <a:t>Feature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7373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FFFFFF"/>
                </a:solidFill>
                <a:latin typeface="Fredoka"/>
              </a:defRPr>
            </a:pPr>
            <a:r>
              <a:t>Drop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17373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FFFFFF"/>
                </a:solidFill>
                <a:latin typeface="Fredoka"/>
              </a:defRPr>
            </a:pPr>
            <a:r>
              <a:t>WhatsApp Vendors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17373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FFFFFF"/>
                </a:solidFill>
                <a:latin typeface="Fredoka"/>
              </a:defRPr>
            </a:pPr>
            <a:r>
              <a:t>Maji.com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59" y="173736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FFFFFF"/>
                </a:solidFill>
                <a:latin typeface="Fredoka"/>
              </a:defRPr>
            </a:pPr>
            <a:r>
              <a:t>Traditional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286000"/>
            <a:ext cx="10698480" cy="4754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1E293B"/>
                </a:solidFill>
                <a:latin typeface="Karla"/>
              </a:defRPr>
            </a:pPr>
            <a:r>
              <a:t>Real-time GPS tracking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286000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16A34A"/>
                </a:solidFill>
                <a:latin typeface="Karla"/>
              </a:defRPr>
            </a:pPr>
            <a:r>
              <a:t>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2286000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DC2626"/>
                </a:solidFill>
                <a:latin typeface="Karla"/>
              </a:defRPr>
            </a:pPr>
            <a:r>
              <a:t>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2286000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DC2626"/>
                </a:solidFill>
                <a:latin typeface="Karla"/>
              </a:defRPr>
            </a:pPr>
            <a:r>
              <a:t>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59" y="2286000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DC2626"/>
                </a:solidFill>
                <a:latin typeface="Karla"/>
              </a:defRPr>
            </a:pPr>
            <a:r>
              <a:t>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761488"/>
            <a:ext cx="106984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761488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1E293B"/>
                </a:solidFill>
                <a:latin typeface="Karla"/>
              </a:defRPr>
            </a:pPr>
            <a:r>
              <a:t>M-Pesa integration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761488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16A34A"/>
                </a:solidFill>
                <a:latin typeface="Karla"/>
              </a:defRPr>
            </a:pPr>
            <a:r>
              <a:t>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2761488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64748B"/>
                </a:solidFill>
                <a:latin typeface="Karla"/>
              </a:defRPr>
            </a:pPr>
            <a:r>
              <a:t>Manual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2761488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16A34A"/>
                </a:solidFill>
                <a:latin typeface="Karla"/>
              </a:defRPr>
            </a:pPr>
            <a:r>
              <a:t>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59" y="2761488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64748B"/>
                </a:solidFill>
                <a:latin typeface="Karla"/>
              </a:defRPr>
            </a:pPr>
            <a:r>
              <a:t>Cash only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236976"/>
            <a:ext cx="10698480" cy="4754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236976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1E293B"/>
                </a:solidFill>
                <a:latin typeface="Karla"/>
              </a:defRPr>
            </a:pPr>
            <a:r>
              <a:t>Multi-vendor marketplace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3236976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16A34A"/>
                </a:solidFill>
                <a:latin typeface="Karla"/>
              </a:defRPr>
            </a:pPr>
            <a:r>
              <a:t>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3236976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DC2626"/>
                </a:solidFill>
                <a:latin typeface="Karla"/>
              </a:defRPr>
            </a:pPr>
            <a:r>
              <a:t>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3236976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64748B"/>
                </a:solidFill>
                <a:latin typeface="Karla"/>
              </a:defRPr>
            </a:pPr>
            <a:r>
              <a:t>Single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59" y="3236976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DC2626"/>
                </a:solidFill>
                <a:latin typeface="Karla"/>
              </a:defRPr>
            </a:pPr>
            <a:r>
              <a:t>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3712464"/>
            <a:ext cx="106984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3712464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1E293B"/>
                </a:solidFill>
                <a:latin typeface="Karla"/>
              </a:defRPr>
            </a:pPr>
            <a:r>
              <a:t>Proof of delivery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3712464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16A34A"/>
                </a:solidFill>
                <a:latin typeface="Karla"/>
              </a:defRPr>
            </a:pPr>
            <a:r>
              <a:t>✅ Photo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3712464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DC2626"/>
                </a:solidFill>
                <a:latin typeface="Karla"/>
              </a:defRPr>
            </a:pPr>
            <a:r>
              <a:t>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3712464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DC2626"/>
                </a:solidFill>
                <a:latin typeface="Karla"/>
              </a:defRPr>
            </a:pPr>
            <a:r>
              <a:t>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09759" y="3712464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DC2626"/>
                </a:solidFill>
                <a:latin typeface="Karla"/>
              </a:defRPr>
            </a:pPr>
            <a:r>
              <a:t>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4187952"/>
            <a:ext cx="10698480" cy="4754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187952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1E293B"/>
                </a:solidFill>
                <a:latin typeface="Karla"/>
              </a:defRPr>
            </a:pPr>
            <a:r>
              <a:t>Bottle deposit tracking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4187952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16A34A"/>
                </a:solidFill>
                <a:latin typeface="Karla"/>
              </a:defRPr>
            </a:pPr>
            <a:r>
              <a:t>✅ Ledger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4187952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DC2626"/>
                </a:solidFill>
                <a:latin typeface="Karla"/>
              </a:defRPr>
            </a:pPr>
            <a:r>
              <a:t>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79" y="4187952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DC2626"/>
                </a:solidFill>
                <a:latin typeface="Karla"/>
              </a:defRPr>
            </a:pPr>
            <a:r>
              <a:t>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09759" y="4187952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DC2626"/>
                </a:solidFill>
                <a:latin typeface="Karla"/>
              </a:defRPr>
            </a:pPr>
            <a:r>
              <a:t>❌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" y="4663440"/>
            <a:ext cx="106984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4663440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1E293B"/>
                </a:solidFill>
                <a:latin typeface="Karla"/>
              </a:defRPr>
            </a:pPr>
            <a:r>
              <a:t>Admin console (27 screens)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74720" y="4663440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16A34A"/>
                </a:solidFill>
                <a:latin typeface="Karla"/>
              </a:defRPr>
            </a:pPr>
            <a:r>
              <a:t>✅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0" y="4663440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DC2626"/>
                </a:solidFill>
                <a:latin typeface="Karla"/>
              </a:defRPr>
            </a:pPr>
            <a:r>
              <a:t>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98079" y="4663440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64748B"/>
                </a:solidFill>
                <a:latin typeface="Karla"/>
              </a:defRPr>
            </a:pPr>
            <a:r>
              <a:t>Basic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09759" y="4663440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DC2626"/>
                </a:solidFill>
                <a:latin typeface="Karla"/>
              </a:defRPr>
            </a:pPr>
            <a:r>
              <a:t>❌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1520" y="5138928"/>
            <a:ext cx="10698480" cy="4754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" y="5138928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1E293B"/>
                </a:solidFill>
                <a:latin typeface="Karla"/>
              </a:defRPr>
            </a:pPr>
            <a:r>
              <a:t>Smart two-tier dispatch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74720" y="5138928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16A34A"/>
                </a:solidFill>
                <a:latin typeface="Karla"/>
              </a:defRPr>
            </a:pPr>
            <a:r>
              <a:t>✅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0" y="5138928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DC2626"/>
                </a:solidFill>
                <a:latin typeface="Karla"/>
              </a:defRPr>
            </a:pPr>
            <a:r>
              <a:t>❌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98079" y="5138928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DC2626"/>
                </a:solidFill>
                <a:latin typeface="Karla"/>
              </a:defRPr>
            </a:pPr>
            <a:r>
              <a:t>❌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09759" y="5138928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DC2626"/>
                </a:solidFill>
                <a:latin typeface="Karla"/>
              </a:defRPr>
            </a:pPr>
            <a:r>
              <a:t>❌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31520" y="5614416"/>
            <a:ext cx="106984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1520" y="5614416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1E293B"/>
                </a:solidFill>
                <a:latin typeface="Karla"/>
              </a:defRPr>
            </a:pPr>
            <a:r>
              <a:t>Revenue reconciliation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74720" y="5614416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16A34A"/>
                </a:solidFill>
                <a:latin typeface="Karla"/>
              </a:defRPr>
            </a:pPr>
            <a:r>
              <a:t>✅ Auto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0" y="5614416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DC2626"/>
                </a:solidFill>
                <a:latin typeface="Karla"/>
              </a:defRPr>
            </a:pPr>
            <a:r>
              <a:t>❌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98079" y="5614416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64748B"/>
                </a:solidFill>
                <a:latin typeface="Karla"/>
              </a:defRPr>
            </a:pPr>
            <a:r>
              <a:t>Manual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509759" y="5614416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DC2626"/>
                </a:solidFill>
                <a:latin typeface="Karla"/>
              </a:defRPr>
            </a:pPr>
            <a:r>
              <a:t>❌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152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64748B"/>
                </a:solidFill>
                <a:latin typeface="Fredoka"/>
              </a:defRPr>
            </a:pPr>
            <a:r>
              <a:t>💧 Drop — Multivendor Water Delivery Platform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64748B"/>
                </a:solidFill>
                <a:latin typeface="Karla"/>
              </a:defRPr>
            </a:pPr>
            <a: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1E293B"/>
                </a:solidFill>
                <a:latin typeface="Fredoka"/>
              </a:defRPr>
            </a:pPr>
            <a:r>
              <a:t>Go-to-Market Strategy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548640" cy="50800"/>
          </a:xfrm>
          <a:prstGeom prst="rect">
            <a:avLst/>
          </a:prstGeom>
          <a:solidFill>
            <a:srgbClr val="006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3383280" cy="731520"/>
          </a:xfrm>
          <a:prstGeom prst="rect">
            <a:avLst/>
          </a:prstGeom>
          <a:solidFill>
            <a:srgbClr val="006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Fredoka"/>
              </a:defRPr>
            </a:pPr>
            <a:r>
              <a:t>Phase 1: Seed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CFEDFF"/>
                </a:solidFill>
                <a:latin typeface="Karla"/>
              </a:defRPr>
            </a:pPr>
            <a:r>
              <a:t>Months 1–6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68880"/>
            <a:ext cx="3383280" cy="34747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651760"/>
            <a:ext cx="2834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1E293B"/>
                </a:solidFill>
                <a:latin typeface="Karla"/>
              </a:defRPr>
            </a:pPr>
            <a:r>
              <a:t>▸  Launch in Ngong + Nairobi satellite towns</a:t>
            </a:r>
          </a:p>
          <a:p>
            <a:pPr algn="l">
              <a:spcBef>
                <a:spcPts val="1200"/>
              </a:spcBef>
              <a:spcAft>
                <a:spcPts val="0"/>
              </a:spcAft>
              <a:defRPr sz="1200" b="0">
                <a:solidFill>
                  <a:srgbClr val="1E293B"/>
                </a:solidFill>
                <a:latin typeface="Karla"/>
              </a:defRPr>
            </a:pPr>
            <a:r>
              <a:t>▸  Onboard 50 water vendors</a:t>
            </a:r>
          </a:p>
          <a:p>
            <a:pPr algn="l">
              <a:spcBef>
                <a:spcPts val="1200"/>
              </a:spcBef>
              <a:spcAft>
                <a:spcPts val="0"/>
              </a:spcAft>
              <a:defRPr sz="1200" b="0">
                <a:solidFill>
                  <a:srgbClr val="1E293B"/>
                </a:solidFill>
                <a:latin typeface="Karla"/>
              </a:defRPr>
            </a:pPr>
            <a:r>
              <a:t>▸  Recruit 100 gig riders</a:t>
            </a:r>
          </a:p>
          <a:p>
            <a:pPr algn="l">
              <a:spcBef>
                <a:spcPts val="1200"/>
              </a:spcBef>
              <a:spcAft>
                <a:spcPts val="0"/>
              </a:spcAft>
              <a:defRPr sz="1200" b="0">
                <a:solidFill>
                  <a:srgbClr val="1E293B"/>
                </a:solidFill>
                <a:latin typeface="Karla"/>
              </a:defRPr>
            </a:pPr>
            <a:r>
              <a:t>▸  1,000 beta customers</a:t>
            </a:r>
          </a:p>
          <a:p>
            <a:pPr algn="l">
              <a:spcBef>
                <a:spcPts val="1200"/>
              </a:spcBef>
              <a:spcAft>
                <a:spcPts val="0"/>
              </a:spcAft>
              <a:defRPr sz="1200" b="0">
                <a:solidFill>
                  <a:srgbClr val="1E293B"/>
                </a:solidFill>
                <a:latin typeface="Karla"/>
              </a:defRPr>
            </a:pPr>
            <a:r>
              <a:t>▸  Validate unit economics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737360"/>
            <a:ext cx="3383280" cy="731520"/>
          </a:xfrm>
          <a:prstGeom prst="rect">
            <a:avLst/>
          </a:prstGeom>
          <a:solidFill>
            <a:srgbClr val="006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7830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Fredoka"/>
              </a:defRPr>
            </a:pPr>
            <a:r>
              <a:t>Phase 2: Grow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031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CFEDFF"/>
                </a:solidFill>
                <a:latin typeface="Karla"/>
              </a:defRPr>
            </a:pPr>
            <a:r>
              <a:t>Months 7–18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468880"/>
            <a:ext cx="3383280" cy="34747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651760"/>
            <a:ext cx="2834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1E293B"/>
                </a:solidFill>
                <a:latin typeface="Karla"/>
              </a:defRPr>
            </a:pPr>
            <a:r>
              <a:t>▸  Expand to 5 Nairobi sub-counties</a:t>
            </a:r>
          </a:p>
          <a:p>
            <a:pPr algn="l">
              <a:spcBef>
                <a:spcPts val="1200"/>
              </a:spcBef>
              <a:spcAft>
                <a:spcPts val="0"/>
              </a:spcAft>
              <a:defRPr sz="1200" b="0">
                <a:solidFill>
                  <a:srgbClr val="1E293B"/>
                </a:solidFill>
                <a:latin typeface="Karla"/>
              </a:defRPr>
            </a:pPr>
            <a:r>
              <a:t>▸  Scale to 500 vendors, 1,000 riders</a:t>
            </a:r>
          </a:p>
          <a:p>
            <a:pPr algn="l">
              <a:spcBef>
                <a:spcPts val="1200"/>
              </a:spcBef>
              <a:spcAft>
                <a:spcPts val="0"/>
              </a:spcAft>
              <a:defRPr sz="1200" b="0">
                <a:solidFill>
                  <a:srgbClr val="1E293B"/>
                </a:solidFill>
                <a:latin typeface="Karla"/>
              </a:defRPr>
            </a:pPr>
            <a:r>
              <a:t>▸  Wholesale (B2B) channel launch</a:t>
            </a:r>
          </a:p>
          <a:p>
            <a:pPr algn="l">
              <a:spcBef>
                <a:spcPts val="1200"/>
              </a:spcBef>
              <a:spcAft>
                <a:spcPts val="0"/>
              </a:spcAft>
              <a:defRPr sz="1200" b="0">
                <a:solidFill>
                  <a:srgbClr val="1E293B"/>
                </a:solidFill>
                <a:latin typeface="Karla"/>
              </a:defRPr>
            </a:pPr>
            <a:r>
              <a:t>▸  Subscription model for offices</a:t>
            </a:r>
          </a:p>
          <a:p>
            <a:pPr algn="l">
              <a:spcBef>
                <a:spcPts val="1200"/>
              </a:spcBef>
              <a:spcAft>
                <a:spcPts val="0"/>
              </a:spcAft>
              <a:defRPr sz="1200" b="0">
                <a:solidFill>
                  <a:srgbClr val="1E293B"/>
                </a:solidFill>
                <a:latin typeface="Karla"/>
              </a:defRPr>
            </a:pPr>
            <a:r>
              <a:t>▸  Target 25,000 monthly orders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1737360"/>
            <a:ext cx="3383280" cy="731520"/>
          </a:xfrm>
          <a:prstGeom prst="rect">
            <a:avLst/>
          </a:prstGeom>
          <a:solidFill>
            <a:srgbClr val="006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7830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Fredoka"/>
              </a:defRPr>
            </a:pPr>
            <a:r>
              <a:t>Phase 3: Scale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1031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CFEDFF"/>
                </a:solidFill>
                <a:latin typeface="Karla"/>
              </a:defRPr>
            </a:pPr>
            <a:r>
              <a:t>Months 19–36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468880"/>
            <a:ext cx="3383280" cy="34747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2651760"/>
            <a:ext cx="2834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1E293B"/>
                </a:solidFill>
                <a:latin typeface="Karla"/>
              </a:defRPr>
            </a:pPr>
            <a:r>
              <a:t>▸  10 Kenyan cities (Mombasa, Kisumu, etc.)</a:t>
            </a:r>
          </a:p>
          <a:p>
            <a:pPr algn="l">
              <a:spcBef>
                <a:spcPts val="1200"/>
              </a:spcBef>
              <a:spcAft>
                <a:spcPts val="0"/>
              </a:spcAft>
              <a:defRPr sz="1200" b="0">
                <a:solidFill>
                  <a:srgbClr val="1E293B"/>
                </a:solidFill>
                <a:latin typeface="Karla"/>
              </a:defRPr>
            </a:pPr>
            <a:r>
              <a:t>▸  White-label for water corporates</a:t>
            </a:r>
          </a:p>
          <a:p>
            <a:pPr algn="l">
              <a:spcBef>
                <a:spcPts val="1200"/>
              </a:spcBef>
              <a:spcAft>
                <a:spcPts val="0"/>
              </a:spcAft>
              <a:defRPr sz="1200" b="0">
                <a:solidFill>
                  <a:srgbClr val="1E293B"/>
                </a:solidFill>
                <a:latin typeface="Karla"/>
              </a:defRPr>
            </a:pPr>
            <a:r>
              <a:t>▸  Water quality certification badges</a:t>
            </a:r>
          </a:p>
          <a:p>
            <a:pPr algn="l">
              <a:spcBef>
                <a:spcPts val="1200"/>
              </a:spcBef>
              <a:spcAft>
                <a:spcPts val="0"/>
              </a:spcAft>
              <a:defRPr sz="1200" b="0">
                <a:solidFill>
                  <a:srgbClr val="1E293B"/>
                </a:solidFill>
                <a:latin typeface="Karla"/>
              </a:defRPr>
            </a:pPr>
            <a:r>
              <a:t>▸  East Africa expansion (UG, TZ)</a:t>
            </a:r>
          </a:p>
          <a:p>
            <a:pPr algn="l">
              <a:spcBef>
                <a:spcPts val="1200"/>
              </a:spcBef>
              <a:spcAft>
                <a:spcPts val="0"/>
              </a:spcAft>
              <a:defRPr sz="1200" b="0">
                <a:solidFill>
                  <a:srgbClr val="1E293B"/>
                </a:solidFill>
                <a:latin typeface="Karla"/>
              </a:defRPr>
            </a:pPr>
            <a:r>
              <a:t>▸  Target 200,000+ monthly orders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64748B"/>
                </a:solidFill>
                <a:latin typeface="Fredoka"/>
              </a:defRPr>
            </a:pPr>
            <a:r>
              <a:t>💧 Drop — Multivendor Water Delivery 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64748B"/>
                </a:solidFill>
                <a:latin typeface="Karla"/>
              </a:defRPr>
            </a:pPr>
            <a: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1E293B"/>
                </a:solidFill>
                <a:latin typeface="Fredoka"/>
              </a:defRPr>
            </a:pPr>
            <a:r>
              <a:t>Financial Projections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548640" cy="50800"/>
          </a:xfrm>
          <a:prstGeom prst="rect">
            <a:avLst/>
          </a:prstGeom>
          <a:solidFill>
            <a:srgbClr val="006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3383280" cy="548640"/>
          </a:xfrm>
          <a:prstGeom prst="rect">
            <a:avLst/>
          </a:prstGeom>
          <a:solidFill>
            <a:srgbClr val="006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55648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Fredoka"/>
              </a:defRPr>
            </a:pPr>
            <a:r>
              <a:t>Year 1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377440"/>
            <a:ext cx="3383280" cy="5943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688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64748B"/>
                </a:solidFill>
                <a:latin typeface="Karla"/>
              </a:defRPr>
            </a:pPr>
            <a:r>
              <a:t>Monthly Orders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246888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1E293B"/>
                </a:solidFill>
                <a:latin typeface="JetBrains Mono"/>
              </a:defRPr>
            </a:pPr>
            <a:r>
              <a:t>5,000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017520"/>
            <a:ext cx="33832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1089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64748B"/>
                </a:solidFill>
                <a:latin typeface="Karla"/>
              </a:defRPr>
            </a:pPr>
            <a:r>
              <a:t>GMV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310896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1E293B"/>
                </a:solidFill>
                <a:latin typeface="JetBrains Mono"/>
              </a:defRPr>
            </a:pPr>
            <a:r>
              <a:t>KSH 35.3M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657600"/>
            <a:ext cx="3383280" cy="5943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7490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64748B"/>
                </a:solidFill>
                <a:latin typeface="Karla"/>
              </a:defRPr>
            </a:pPr>
            <a:r>
              <a:t>Platform Take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374904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1E293B"/>
                </a:solidFill>
                <a:latin typeface="JetBrains Mono"/>
              </a:defRPr>
            </a:pPr>
            <a:r>
              <a:t>KSH 4.29M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297679"/>
            <a:ext cx="33832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389119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64748B"/>
                </a:solidFill>
                <a:latin typeface="Karla"/>
              </a:defRPr>
            </a:pPr>
            <a:r>
              <a:t>Payment Costs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4389119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1E293B"/>
                </a:solidFill>
                <a:latin typeface="JetBrains Mono"/>
              </a:defRPr>
            </a:pPr>
            <a:r>
              <a:t>KSH 1.47M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937760"/>
            <a:ext cx="3383280" cy="5943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0292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64748B"/>
                </a:solidFill>
                <a:latin typeface="Karla"/>
              </a:defRPr>
            </a:pPr>
            <a:r>
              <a:t>Operating Costs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502920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1E293B"/>
                </a:solidFill>
                <a:latin typeface="JetBrains Mono"/>
              </a:defRPr>
            </a:pPr>
            <a:r>
              <a:t>KSH 3.5M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577840"/>
            <a:ext cx="33832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6692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64748B"/>
                </a:solidFill>
                <a:latin typeface="Karla"/>
              </a:defRPr>
            </a:pPr>
            <a:r>
              <a:t>Net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566928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DC2626"/>
                </a:solidFill>
                <a:latin typeface="JetBrains Mono"/>
              </a:defRPr>
            </a:pPr>
            <a:r>
              <a:t>-KSH 0.68M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9120" y="1737360"/>
            <a:ext cx="3383280" cy="548640"/>
          </a:xfrm>
          <a:prstGeom prst="rect">
            <a:avLst/>
          </a:prstGeom>
          <a:solidFill>
            <a:srgbClr val="006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0" y="1755648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Fredoka"/>
              </a:defRPr>
            </a:pPr>
            <a:r>
              <a:t>Year 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2377440"/>
            <a:ext cx="3383280" cy="5943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40" y="24688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64748B"/>
                </a:solidFill>
                <a:latin typeface="Karla"/>
              </a:defRPr>
            </a:pPr>
            <a:r>
              <a:t>Monthly Orders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246888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1E293B"/>
                </a:solidFill>
                <a:latin typeface="JetBrains Mono"/>
              </a:defRPr>
            </a:pPr>
            <a:r>
              <a:t>25,000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89120" y="3017520"/>
            <a:ext cx="33832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3440" y="31089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64748B"/>
                </a:solidFill>
                <a:latin typeface="Karla"/>
              </a:defRPr>
            </a:pPr>
            <a:r>
              <a:t>GMV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310896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1E293B"/>
                </a:solidFill>
                <a:latin typeface="JetBrains Mono"/>
              </a:defRPr>
            </a:pPr>
            <a:r>
              <a:t>KSH 334M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0" y="3657600"/>
            <a:ext cx="3383280" cy="5943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63440" y="37490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64748B"/>
                </a:solidFill>
                <a:latin typeface="Karla"/>
              </a:defRPr>
            </a:pPr>
            <a:r>
              <a:t>Platform Take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40" y="374904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1E293B"/>
                </a:solidFill>
                <a:latin typeface="JetBrains Mono"/>
              </a:defRPr>
            </a:pPr>
            <a:r>
              <a:t>KSH 33.1M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89120" y="4297679"/>
            <a:ext cx="33832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63440" y="4389119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64748B"/>
                </a:solidFill>
                <a:latin typeface="Karla"/>
              </a:defRPr>
            </a:pPr>
            <a:r>
              <a:t>Payment Costs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35040" y="4389119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1E293B"/>
                </a:solidFill>
                <a:latin typeface="JetBrains Mono"/>
              </a:defRPr>
            </a:pPr>
            <a:r>
              <a:t>KSH 6.9M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89120" y="4937760"/>
            <a:ext cx="3383280" cy="5943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63440" y="50292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64748B"/>
                </a:solidFill>
                <a:latin typeface="Karla"/>
              </a:defRPr>
            </a:pPr>
            <a:r>
              <a:t>Operating Costs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35040" y="502920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1E293B"/>
                </a:solidFill>
                <a:latin typeface="JetBrains Mono"/>
              </a:defRPr>
            </a:pPr>
            <a:r>
              <a:t>KSH 12M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89120" y="5577840"/>
            <a:ext cx="33832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63440" y="56692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64748B"/>
                </a:solidFill>
                <a:latin typeface="Karla"/>
              </a:defRPr>
            </a:pPr>
            <a:r>
              <a:t>Net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35040" y="566928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16A34A"/>
                </a:solidFill>
                <a:latin typeface="JetBrains Mono"/>
              </a:defRPr>
            </a:pPr>
            <a:r>
              <a:t>KSH 14.2M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46720" y="1737360"/>
            <a:ext cx="3383280" cy="5486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46720" y="1755648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Fredoka"/>
              </a:defRPr>
            </a:pPr>
            <a:r>
              <a:t>Year 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46720" y="2377440"/>
            <a:ext cx="3383280" cy="5943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21040" y="24688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64748B"/>
                </a:solidFill>
                <a:latin typeface="Karla"/>
              </a:defRPr>
            </a:pPr>
            <a:r>
              <a:t>Monthly Orders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92640" y="246888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1E293B"/>
                </a:solidFill>
                <a:latin typeface="JetBrains Mono"/>
              </a:defRPr>
            </a:pPr>
            <a:r>
              <a:t>200,000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46720" y="3017520"/>
            <a:ext cx="33832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21040" y="31089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64748B"/>
                </a:solidFill>
                <a:latin typeface="Karla"/>
              </a:defRPr>
            </a:pPr>
            <a:r>
              <a:t>GMV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92640" y="310896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1E293B"/>
                </a:solidFill>
                <a:latin typeface="JetBrains Mono"/>
              </a:defRPr>
            </a:pPr>
            <a:r>
              <a:t>KSH 3.9B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046720" y="3657600"/>
            <a:ext cx="3383280" cy="5943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21040" y="37490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64748B"/>
                </a:solidFill>
                <a:latin typeface="Karla"/>
              </a:defRPr>
            </a:pPr>
            <a:r>
              <a:t>Platform Take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92640" y="374904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1E293B"/>
                </a:solidFill>
                <a:latin typeface="JetBrains Mono"/>
              </a:defRPr>
            </a:pPr>
            <a:r>
              <a:t>KSH 339M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046720" y="4297679"/>
            <a:ext cx="33832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21040" y="4389119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64748B"/>
                </a:solidFill>
                <a:latin typeface="Karla"/>
              </a:defRPr>
            </a:pPr>
            <a:r>
              <a:t>Payment Costs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92640" y="4389119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1E293B"/>
                </a:solidFill>
                <a:latin typeface="JetBrains Mono"/>
              </a:defRPr>
            </a:pPr>
            <a:r>
              <a:t>KSH 57.6M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046720" y="4937760"/>
            <a:ext cx="3383280" cy="5943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321040" y="50292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64748B"/>
                </a:solidFill>
                <a:latin typeface="Karla"/>
              </a:defRPr>
            </a:pPr>
            <a:r>
              <a:t>Operating Costs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92640" y="502920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1E293B"/>
                </a:solidFill>
                <a:latin typeface="JetBrains Mono"/>
              </a:defRPr>
            </a:pPr>
            <a:r>
              <a:t>KSH 65M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046720" y="5577840"/>
            <a:ext cx="33832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321040" y="56692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64748B"/>
                </a:solidFill>
                <a:latin typeface="Karla"/>
              </a:defRPr>
            </a:pPr>
            <a:r>
              <a:t>Net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692640" y="566928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16A34A"/>
                </a:solidFill>
                <a:latin typeface="JetBrains Mono"/>
              </a:defRPr>
            </a:pPr>
            <a:r>
              <a:t>KSH 216.5M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152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64748B"/>
                </a:solidFill>
                <a:latin typeface="Fredoka"/>
              </a:defRPr>
            </a:pPr>
            <a:r>
              <a:t>💧 Drop — Multivendor Water Delivery Platform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64748B"/>
                </a:solidFill>
                <a:latin typeface="Karla"/>
              </a:defRPr>
            </a:pPr>
            <a: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B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Fredoka"/>
              </a:defRPr>
            </a:pPr>
            <a:r>
              <a:t>Current Traction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3383280" cy="2194560"/>
          </a:xfrm>
          <a:prstGeom prst="roundRect">
            <a:avLst/>
          </a:prstGeom>
          <a:solidFill>
            <a:srgbClr val="0057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Fredoka"/>
              </a:defRPr>
            </a:pPr>
            <a:r>
              <a:t>🏗️  Product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37744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0"/>
              </a:spcAft>
              <a:defRPr sz="1200" b="0">
                <a:solidFill>
                  <a:srgbClr val="CFEDFF"/>
                </a:solidFill>
                <a:latin typeface="Karla"/>
              </a:defRPr>
            </a:pPr>
            <a:r>
              <a:t>Full-stack platform complete — 3 mobile apps, admin console, backend API, all deployed and live.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54480"/>
            <a:ext cx="3383280" cy="2194560"/>
          </a:xfrm>
          <a:prstGeom prst="roundRect">
            <a:avLst/>
          </a:prstGeom>
          <a:solidFill>
            <a:srgbClr val="0057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18288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Fredoka"/>
              </a:defRPr>
            </a:pPr>
            <a:r>
              <a:t>🧪  Beta Live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237744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0"/>
              </a:spcAft>
              <a:defRPr sz="1200" b="0">
                <a:solidFill>
                  <a:srgbClr val="CFEDFF"/>
                </a:solidFill>
                <a:latin typeface="Karla"/>
              </a:defRPr>
            </a:pPr>
            <a:r>
              <a:t>APKs available for download on the website. Beta credentials active for external testers.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554480"/>
            <a:ext cx="3383280" cy="2194560"/>
          </a:xfrm>
          <a:prstGeom prst="roundRect">
            <a:avLst/>
          </a:prstGeom>
          <a:solidFill>
            <a:srgbClr val="0057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8288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Fredoka"/>
              </a:defRPr>
            </a:pPr>
            <a:r>
              <a:t>✅  704 Tests Passing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37744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0"/>
              </a:spcAft>
              <a:defRPr sz="1200" b="0">
                <a:solidFill>
                  <a:srgbClr val="CFEDFF"/>
                </a:solidFill>
                <a:latin typeface="Karla"/>
              </a:defRPr>
            </a:pPr>
            <a:r>
              <a:t>Comprehensive test suite including AST structural walkers. CI/CD pipeline on every push.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23360"/>
            <a:ext cx="3383280" cy="2194560"/>
          </a:xfrm>
          <a:prstGeom prst="roundRect">
            <a:avLst/>
          </a:prstGeom>
          <a:solidFill>
            <a:srgbClr val="0057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976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Fredoka"/>
              </a:defRPr>
            </a:pPr>
            <a:r>
              <a:t>📄  27 Admin Screens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84632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0"/>
              </a:spcAft>
              <a:defRPr sz="1200" b="0">
                <a:solidFill>
                  <a:srgbClr val="CFEDFF"/>
                </a:solidFill>
                <a:latin typeface="Karla"/>
              </a:defRPr>
            </a:pPr>
            <a:r>
              <a:t>Complete operations console with KYC, disputes, reconciliation, delivery replay, and more.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4023360"/>
            <a:ext cx="3383280" cy="2194560"/>
          </a:xfrm>
          <a:prstGeom prst="roundRect">
            <a:avLst/>
          </a:prstGeom>
          <a:solidFill>
            <a:srgbClr val="0057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42976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Fredoka"/>
              </a:defRPr>
            </a:pPr>
            <a:r>
              <a:t>🔐  Security Hardened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484632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0"/>
              </a:spcAft>
              <a:defRPr sz="1200" b="0">
                <a:solidFill>
                  <a:srgbClr val="CFEDFF"/>
                </a:solidFill>
                <a:latin typeface="Karla"/>
              </a:defRPr>
            </a:pPr>
            <a:r>
              <a:t>Clerk auth, BFF pattern, encrypted PII, audited mutations, concurrent-safe workers.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4023360"/>
            <a:ext cx="3383280" cy="2194560"/>
          </a:xfrm>
          <a:prstGeom prst="roundRect">
            <a:avLst/>
          </a:prstGeom>
          <a:solidFill>
            <a:srgbClr val="0057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42976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Fredoka"/>
              </a:defRPr>
            </a:pPr>
            <a:r>
              <a:t>📖  Fully Documented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484632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0"/>
              </a:spcAft>
              <a:defRPr sz="1200" b="0">
                <a:solidFill>
                  <a:srgbClr val="CFEDFF"/>
                </a:solidFill>
                <a:latin typeface="Karla"/>
              </a:defRPr>
            </a:pPr>
            <a:r>
              <a:t>12 architecture docs, decision records, runbooks, and deployment guides.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64748B"/>
                </a:solidFill>
                <a:latin typeface="Karla"/>
              </a:defRPr>
            </a:pPr>
            <a: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1E293B"/>
                </a:solidFill>
                <a:latin typeface="Fredoka"/>
              </a:defRPr>
            </a:pPr>
            <a:r>
              <a:t>The Ask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548640" cy="50800"/>
          </a:xfrm>
          <a:prstGeom prst="rect">
            <a:avLst/>
          </a:prstGeom>
          <a:solidFill>
            <a:srgbClr val="006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006DB0"/>
                </a:solidFill>
                <a:latin typeface="Fredoka"/>
              </a:defRPr>
            </a:pPr>
            <a:r>
              <a:t>Seed Round: KSH 15M (~$115K USD)</a:t>
            </a:r>
          </a:p>
          <a:p>
            <a:pPr algn="ctr"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64748B"/>
                </a:solidFill>
                <a:latin typeface="Karla"/>
              </a:defRPr>
            </a:pPr>
            <a:r>
              <a:t>18-month runway to achieve product-market fit and reach 25,000 monthly orders</a:t>
            </a:r>
          </a:p>
        </p:txBody>
      </p:sp>
      <p:sp>
        <p:nvSpPr>
          <p:cNvPr id="5" name="Oval 4"/>
          <p:cNvSpPr/>
          <p:nvPr/>
        </p:nvSpPr>
        <p:spPr>
          <a:xfrm>
            <a:off x="1508760" y="3200400"/>
            <a:ext cx="1005840" cy="1005840"/>
          </a:xfrm>
          <a:prstGeom prst="ellipse">
            <a:avLst/>
          </a:prstGeom>
          <a:solidFill>
            <a:srgbClr val="006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ts val="2640"/>
              </a:lnSpc>
              <a:spcAft>
                <a:spcPts val="0"/>
              </a:spcAft>
              <a:defRPr sz="2200" b="1">
                <a:solidFill>
                  <a:srgbClr val="FFFFFF"/>
                </a:solidFill>
                <a:latin typeface="Fredoka"/>
              </a:defRPr>
            </a:pPr>
            <a:r>
              <a:t>40%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06DB0"/>
                </a:solidFill>
                <a:latin typeface="Fredoka"/>
              </a:defRPr>
            </a:pPr>
            <a:r>
              <a:t>Operations &amp; Growth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39"/>
              </a:lnSpc>
              <a:spcAft>
                <a:spcPts val="0"/>
              </a:spcAft>
              <a:defRPr sz="1100" b="0">
                <a:solidFill>
                  <a:srgbClr val="64748B"/>
                </a:solidFill>
                <a:latin typeface="Karla"/>
              </a:defRPr>
            </a:pPr>
            <a:r>
              <a:t>Vendor onboarding, rider recruitment, customer acquisition, and market activation across Nairobi satellite towns.</a:t>
            </a:r>
          </a:p>
        </p:txBody>
      </p:sp>
      <p:sp>
        <p:nvSpPr>
          <p:cNvPr id="8" name="Oval 7"/>
          <p:cNvSpPr/>
          <p:nvPr/>
        </p:nvSpPr>
        <p:spPr>
          <a:xfrm>
            <a:off x="4343400" y="3200400"/>
            <a:ext cx="1005840" cy="1005840"/>
          </a:xfrm>
          <a:prstGeom prst="ellipse">
            <a:avLst/>
          </a:prstGeom>
          <a:solidFill>
            <a:srgbClr val="006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ts val="2640"/>
              </a:lnSpc>
              <a:spcAft>
                <a:spcPts val="0"/>
              </a:spcAft>
              <a:defRPr sz="2200" b="1">
                <a:solidFill>
                  <a:srgbClr val="FFFFFF"/>
                </a:solidFill>
                <a:latin typeface="Fredoka"/>
              </a:defRPr>
            </a:pPr>
            <a:r>
              <a:t>25%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40" y="43891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06DB0"/>
                </a:solidFill>
                <a:latin typeface="Fredoka"/>
              </a:defRPr>
            </a:pPr>
            <a:r>
              <a:t>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484632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39"/>
              </a:lnSpc>
              <a:spcAft>
                <a:spcPts val="0"/>
              </a:spcAft>
              <a:defRPr sz="1100" b="0">
                <a:solidFill>
                  <a:srgbClr val="64748B"/>
                </a:solidFill>
                <a:latin typeface="Karla"/>
              </a:defRPr>
            </a:pPr>
            <a:r>
              <a:t>Android + iOS builds, Play Store listing, push notification infrastructure, payment edge cases, and performance optimization.</a:t>
            </a:r>
          </a:p>
        </p:txBody>
      </p:sp>
      <p:sp>
        <p:nvSpPr>
          <p:cNvPr id="11" name="Oval 10"/>
          <p:cNvSpPr/>
          <p:nvPr/>
        </p:nvSpPr>
        <p:spPr>
          <a:xfrm>
            <a:off x="7178040" y="3200400"/>
            <a:ext cx="1005840" cy="1005840"/>
          </a:xfrm>
          <a:prstGeom prst="ellipse">
            <a:avLst/>
          </a:prstGeom>
          <a:solidFill>
            <a:srgbClr val="006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ts val="2640"/>
              </a:lnSpc>
              <a:spcAft>
                <a:spcPts val="0"/>
              </a:spcAft>
              <a:defRPr sz="2200" b="1">
                <a:solidFill>
                  <a:srgbClr val="FFFFFF"/>
                </a:solidFill>
                <a:latin typeface="Fredoka"/>
              </a:defRPr>
            </a:pPr>
            <a:r>
              <a:t>20%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3891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06DB0"/>
                </a:solidFill>
                <a:latin typeface="Fredoka"/>
              </a:defRPr>
            </a:pPr>
            <a:r>
              <a:t>Infrastructure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84632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39"/>
              </a:lnSpc>
              <a:spcAft>
                <a:spcPts val="0"/>
              </a:spcAft>
              <a:defRPr sz="1100" b="0">
                <a:solidFill>
                  <a:srgbClr val="64748B"/>
                </a:solidFill>
                <a:latin typeface="Karla"/>
              </a:defRPr>
            </a:pPr>
            <a:r>
              <a:t>Render hosting, Neon Postgres, Redis, AWS S3, Clerk auth, domain registration, and monitoring (Sentry, Prometheus).</a:t>
            </a:r>
          </a:p>
        </p:txBody>
      </p:sp>
      <p:sp>
        <p:nvSpPr>
          <p:cNvPr id="14" name="Oval 13"/>
          <p:cNvSpPr/>
          <p:nvPr/>
        </p:nvSpPr>
        <p:spPr>
          <a:xfrm>
            <a:off x="10012680" y="3200400"/>
            <a:ext cx="1005840" cy="1005840"/>
          </a:xfrm>
          <a:prstGeom prst="ellipse">
            <a:avLst/>
          </a:prstGeom>
          <a:solidFill>
            <a:srgbClr val="006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ts val="2640"/>
              </a:lnSpc>
              <a:spcAft>
                <a:spcPts val="0"/>
              </a:spcAft>
              <a:defRPr sz="2200" b="1">
                <a:solidFill>
                  <a:srgbClr val="FFFFFF"/>
                </a:solidFill>
                <a:latin typeface="Fredoka"/>
              </a:defRPr>
            </a:pPr>
            <a:r>
              <a:t>15%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43891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06DB0"/>
                </a:solidFill>
                <a:latin typeface="Fredoka"/>
              </a:defRPr>
            </a:pPr>
            <a:r>
              <a:t>Legal &amp; Compliance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484632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39"/>
              </a:lnSpc>
              <a:spcAft>
                <a:spcPts val="0"/>
              </a:spcAft>
              <a:defRPr sz="1100" b="0">
                <a:solidFill>
                  <a:srgbClr val="64748B"/>
                </a:solidFill>
                <a:latin typeface="Karla"/>
              </a:defRPr>
            </a:pPr>
            <a:r>
              <a:t>Business registration, M-Pesa partnership agreements, data protection compliance (Kenya Data Protection Act), and insurance.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64748B"/>
                </a:solidFill>
                <a:latin typeface="Fredoka"/>
              </a:defRPr>
            </a:pPr>
            <a:r>
              <a:t>💧 Drop — Multivendor Water Delivery Platform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64748B"/>
                </a:solidFill>
                <a:latin typeface="Karla"/>
              </a:defRPr>
            </a:pPr>
            <a: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B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640"/>
              </a:lnSpc>
              <a:spcAft>
                <a:spcPts val="0"/>
              </a:spcAft>
              <a:defRPr sz="7200" b="1">
                <a:solidFill>
                  <a:srgbClr val="FFFFFF"/>
                </a:solidFill>
                <a:latin typeface="Fredoka"/>
              </a:defRPr>
            </a:pPr>
            <a:r>
              <a:t>💧 Drop</a:t>
            </a:r>
          </a:p>
          <a:p>
            <a:pPr algn="ctr">
              <a:spcBef>
                <a:spcPts val="400"/>
              </a:spcBef>
              <a:spcAft>
                <a:spcPts val="0"/>
              </a:spcAft>
              <a:defRPr sz="2400" b="0">
                <a:solidFill>
                  <a:srgbClr val="CFEDFF"/>
                </a:solidFill>
                <a:latin typeface="Fredoka"/>
              </a:defRPr>
            </a:pPr>
            <a:r>
              <a:t>Clean Water, Delivered to Your Door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347472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Aft>
                <a:spcPts val="0"/>
              </a:spcAft>
              <a:defRPr sz="2800" b="1">
                <a:solidFill>
                  <a:srgbClr val="FFFFFF"/>
                </a:solidFill>
                <a:latin typeface="Fredoka"/>
              </a:defRPr>
            </a:pPr>
            <a:r>
              <a:t>Let's talk.</a:t>
            </a:r>
          </a:p>
          <a:p>
            <a:pPr algn="ctr">
              <a:spcBef>
                <a:spcPts val="1200"/>
              </a:spcBef>
              <a:spcAft>
                <a:spcPts val="0"/>
              </a:spcAft>
              <a:defRPr sz="1400" b="0">
                <a:solidFill>
                  <a:srgbClr val="CFEDFF"/>
                </a:solidFill>
                <a:latin typeface="Karla"/>
              </a:defRPr>
            </a:pPr>
            <a:r>
              <a:t>🌐  Website: drop-water-delivery-website.vercel.app</a:t>
            </a:r>
          </a:p>
          <a:p>
            <a:pPr algn="ctr">
              <a:spcBef>
                <a:spcPts val="1200"/>
              </a:spcBef>
              <a:spcAft>
                <a:spcPts val="0"/>
              </a:spcAft>
              <a:defRPr sz="1400" b="0">
                <a:solidFill>
                  <a:srgbClr val="CFEDFF"/>
                </a:solidFill>
                <a:latin typeface="Karla"/>
              </a:defRPr>
            </a:pPr>
            <a:r>
              <a:t>⚡  Admin Console: drop-admin-five.vercel.app</a:t>
            </a:r>
          </a:p>
          <a:p>
            <a:pPr algn="ctr">
              <a:spcBef>
                <a:spcPts val="1200"/>
              </a:spcBef>
              <a:spcAft>
                <a:spcPts val="0"/>
              </a:spcAft>
              <a:defRPr sz="1400" b="0">
                <a:solidFill>
                  <a:srgbClr val="CFEDFF"/>
                </a:solidFill>
                <a:latin typeface="Karla"/>
              </a:defRPr>
            </a:pPr>
            <a:r>
              <a:t>📦  GitHub: github.com/WinterJackson/drop-water-delivery-app</a:t>
            </a:r>
          </a:p>
          <a:p>
            <a:pPr algn="ctr">
              <a:spcBef>
                <a:spcPts val="1200"/>
              </a:spcBef>
              <a:spcAft>
                <a:spcPts val="0"/>
              </a:spcAft>
              <a:defRPr sz="1400" b="0">
                <a:solidFill>
                  <a:srgbClr val="CFEDFF"/>
                </a:solidFill>
                <a:latin typeface="Karla"/>
              </a:defRPr>
            </a:pPr>
            <a:r>
              <a:t>📱  Beta APKs: Available for download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594360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FFFFFF"/>
                </a:solidFill>
                <a:latin typeface="Fredoka"/>
              </a:defRPr>
            </a:pPr>
            <a:r>
              <a:t>Thank you  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64748B"/>
                </a:solidFill>
                <a:latin typeface="Karla"/>
              </a:defRPr>
            </a:pPr>
            <a: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