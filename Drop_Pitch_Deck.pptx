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Aft>
                <a:spcPts val="0"/>
              </a:spcAft>
              <a:defRPr sz="7200" b="1">
                <a:solidFill>
                  <a:srgbClr val="FFFFFF"/>
                </a:solidFill>
                <a:latin typeface="Fredoka"/>
              </a:defRPr>
            </a:pPr>
            <a:r>
              <a:t>💧 Drop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2800" b="0">
                <a:solidFill>
                  <a:srgbClr val="FFFFFF"/>
                </a:solidFill>
                <a:latin typeface="Fredoka"/>
              </a:defRPr>
            </a:pPr>
            <a:r>
              <a:t>Clean Water, Delivered to Your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9319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DBEAFE"/>
                </a:solidFill>
                <a:latin typeface="Karla"/>
              </a:defRPr>
            </a:pPr>
            <a:r>
              <a:t>Kenya's first multivendor water delivery marketplace.</a:t>
            </a:r>
            <a:br/>
            <a:r>
              <a:t>Connecting communities with clean water through technology.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6692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93C5FD"/>
                </a:solidFill>
                <a:latin typeface="Karla"/>
              </a:defRPr>
            </a:pPr>
            <a:r>
              <a:t>Pitch Deck  •  September 2026  •  Beta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1D4ED8"/>
                </a:solidFill>
                <a:latin typeface="Fredoka"/>
              </a:defRPr>
            </a:pPr>
            <a:r>
              <a:t>🚰  Unreliable Supply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4297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Millions of Kenyans face chronic water shortages. Urban and peri-urban residents rely on informal vendors with no transparency on quality, pricing, or delivery timelines.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3736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1D4ED8"/>
                </a:solidFill>
                <a:latin typeface="Fredoka"/>
              </a:defRPr>
            </a:pPr>
            <a:r>
              <a:t>💸  Fragmented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560320"/>
            <a:ext cx="4297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Water vending is hyper-local and unorganized. Vendors operate in silos with no digital presence, making discovery impossible for customers and scaling impossible for vendors.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976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1D4ED8"/>
                </a:solidFill>
                <a:latin typeface="Fredoka"/>
              </a:defRPr>
            </a:pPr>
            <a:r>
              <a:t>🚫  Zero Accountability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4297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No tracking, no proof of delivery, no dispute resolution. Cash-only transactions leave no audit trail. Bottle deposits are lost. Customers have no recourse.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402336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2976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1D4ED8"/>
                </a:solidFill>
                <a:latin typeface="Fredoka"/>
              </a:defRPr>
            </a:pPr>
            <a:r>
              <a:t>📱  Digital Divide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846320"/>
            <a:ext cx="4297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Despite 90%+ mobile penetration in Kenya, no platform connects water customers to vendors with real-time tracking, mobile payments, and quality assurance.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64748B"/>
                </a:solidFill>
                <a:latin typeface="Karla"/>
              </a:defRPr>
            </a:pPr>
            <a:r>
              <a:t>Drop is a full-stack multivendor marketplace for water delivery — purpose-built for Kenya's mobile-first economy.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383280" cy="30175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65960" y="283464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1D4ED8"/>
                </a:solidFill>
                <a:latin typeface="Fredoka"/>
              </a:defRPr>
            </a:pPr>
            <a:r>
              <a:t>Customer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Browse nearby vendors, compare prices, order with one tap, pay via M-Pesa, and track your rider in real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560320"/>
            <a:ext cx="3383280" cy="30175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23560" y="283464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1D4ED8"/>
                </a:solidFill>
                <a:latin typeface="Fredoka"/>
              </a:defRPr>
            </a:pPr>
            <a:r>
              <a:t>Vendor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Manage your storefront, accept and fulfill orders, dispatch riders, and grow your business with analytics.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560320"/>
            <a:ext cx="3383280" cy="30175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81160" y="283464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🏍️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1D4ED8"/>
                </a:solidFill>
                <a:latin typeface="Fredoka"/>
              </a:defRPr>
            </a:pPr>
            <a:r>
              <a:t>Rider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Accept deliveries, navigate efficiently, earn on your schedule, manage bottle deposits, and build your reputation.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+ Admin Operations Console  —  27 screens for real-time business management, KYC verification, dispute resolution, and financial oversight.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Market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383280" cy="23774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64748B"/>
                </a:solidFill>
                <a:latin typeface="Fredoka"/>
              </a:defRPr>
            </a:pPr>
            <a:r>
              <a:t>TAM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040"/>
              </a:lnSpc>
              <a:spcAft>
                <a:spcPts val="0"/>
              </a:spcAft>
              <a:defRPr sz="4200" b="1">
                <a:solidFill>
                  <a:srgbClr val="2563EB"/>
                </a:solidFill>
                <a:latin typeface="Fredoka"/>
              </a:defRPr>
            </a:pPr>
            <a:r>
              <a:t>$3.2B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Kenya's entire water supply &amp; sanitation market — formal and informal combined.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383280" cy="23774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64748B"/>
                </a:solidFill>
                <a:latin typeface="Fredoka"/>
              </a:defRPr>
            </a:pPr>
            <a:r>
              <a:t>SAM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8600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040"/>
              </a:lnSpc>
              <a:spcAft>
                <a:spcPts val="0"/>
              </a:spcAft>
              <a:defRPr sz="4200" b="1">
                <a:solidFill>
                  <a:srgbClr val="2563EB"/>
                </a:solidFill>
                <a:latin typeface="Fredoka"/>
              </a:defRPr>
            </a:pPr>
            <a:r>
              <a:t>$850M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10896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Urban &amp; peri-urban bottled/tanker water delivery market across Kenya's 10 largest cities.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737360"/>
            <a:ext cx="3383280" cy="23774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64748B"/>
                </a:solidFill>
                <a:latin typeface="Fredoka"/>
              </a:defRPr>
            </a:pPr>
            <a: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040"/>
              </a:lnSpc>
              <a:spcAft>
                <a:spcPts val="0"/>
              </a:spcAft>
              <a:defRPr sz="4200" b="1">
                <a:solidFill>
                  <a:srgbClr val="2563EB"/>
                </a:solidFill>
                <a:latin typeface="Fredoka"/>
              </a:defRPr>
            </a:pPr>
            <a:r>
              <a:t>$45M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10896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Nairobi metro + satellite towns (Ngong, Kiambu, Thika) — our first 24-month target.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2560320" cy="14630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548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2563EB"/>
                </a:solidFill>
                <a:latin typeface="Fredoka"/>
              </a:defRPr>
            </a:pPr>
            <a:r>
              <a:t>54M+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03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Kenya's Population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4572000"/>
            <a:ext cx="2560320" cy="14630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0" y="47548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2563EB"/>
                </a:solidFill>
                <a:latin typeface="Fredoka"/>
              </a:defRPr>
            </a:pPr>
            <a:r>
              <a:t>90%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5303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Mobile Penetration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4572000"/>
            <a:ext cx="2560320" cy="14630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7548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2563EB"/>
                </a:solidFill>
                <a:latin typeface="Fredoka"/>
              </a:defRPr>
            </a:pPr>
            <a:r>
              <a:t>28M+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03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M-Pesa Active Users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35440" y="4572000"/>
            <a:ext cx="2560320" cy="14630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47548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2563EB"/>
                </a:solidFill>
                <a:latin typeface="Fredoka"/>
              </a:defRPr>
            </a:pPr>
            <a:r>
              <a:t>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5303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Lack Reliable Water Access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78308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Browse &amp;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Customer discovers nearby vendors via H3 hex-indexed geospatial search, builds a cart, and checks out.</a:t>
            </a:r>
          </a:p>
        </p:txBody>
      </p:sp>
      <p:sp>
        <p:nvSpPr>
          <p:cNvPr id="7" name="Oval 6"/>
          <p:cNvSpPr/>
          <p:nvPr/>
        </p:nvSpPr>
        <p:spPr>
          <a:xfrm>
            <a:off x="4389120" y="178308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Pay via M-Pesa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103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STK Push triggers instant mobile payment. Backend confirms via Safaricom callback. Order moves to 'unassigned'.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0" y="178308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Smart Dispatch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103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Two-tier dispatch: in-house riders offered first, then Trip Radar broadcasts to nearby gig riders over WebSocket.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25196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Prepare &amp; 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Vendor prepares the order and marks it ready. Rider collects and begins navigation to the customer.</a:t>
            </a:r>
          </a:p>
        </p:txBody>
      </p:sp>
      <p:sp>
        <p:nvSpPr>
          <p:cNvPr id="16" name="Oval 15"/>
          <p:cNvSpPr/>
          <p:nvPr/>
        </p:nvSpPr>
        <p:spPr>
          <a:xfrm>
            <a:off x="4389120" y="425196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Track &amp; Deliver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Customer watches the rider's live location on the map. Rider delivers, collects empties, and captures photo proof.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425196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Settle &amp;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Revenue split credits wallets atomically. Bottle ledger updates. Customer rates both the store and the rider.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Multiple revenue streams, all configurable in real time from the admin console — 34 pricing parameters across 10 groups.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💰  Vendor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2563EB"/>
                </a:solidFill>
                <a:latin typeface="JetBrains Mono"/>
              </a:defRPr>
            </a:pPr>
            <a:r>
              <a:t>5% on retail (B2C)</a:t>
            </a:r>
            <a:br/>
            <a:r>
              <a:t>5% on wholesale (B2B)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Scales with every order on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🏷️  Service Fees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2563EB"/>
                </a:solidFill>
                <a:latin typeface="JetBrains Mono"/>
              </a:defRPr>
            </a:pPr>
            <a:r>
              <a:t>KSH 35 per retail order</a:t>
            </a:r>
            <a:br/>
            <a:r>
              <a:t>KSH 120 per wholesale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Covers M-Pesa tariff + platform ops costs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🚀  Surge Pricing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2563EB"/>
                </a:solidFill>
                <a:latin typeface="JetBrains Mono"/>
              </a:defRPr>
            </a:pPr>
            <a:r>
              <a:t>+KSH 10 during</a:t>
            </a:r>
            <a:br/>
            <a:r>
              <a:t>peak hours (6-8am, 5-7pm)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Dynamic pricing for high-demand windows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📦  Delivery Fees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2563EB"/>
                </a:solidFill>
                <a:latin typeface="JetBrains Mono"/>
              </a:defRPr>
            </a:pPr>
            <a:r>
              <a:t>Distance-based</a:t>
            </a:r>
            <a:br/>
            <a:r>
              <a:t>rider earns 90-100%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5% wholesale markup; retail markup at 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6035040"/>
            <a:ext cx="10698480" cy="5486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6080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D4ED8"/>
                </a:solidFill>
                <a:latin typeface="Karla"/>
              </a:defRPr>
            </a:pPr>
            <a:r>
              <a:t>💡  One pricing path: compute_order_quote is the single source of truth — client renders it, M-Pesa charges it, database stores it. Tests enforce parity.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Fredoka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B82F6"/>
                </a:solidFill>
                <a:latin typeface="Fredoka"/>
              </a:defRPr>
            </a:pPr>
            <a:r>
              <a:t>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Python 3.12  •  FastAPI  •  Uvicorn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PostgreSQL + PostGIS + H3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SQLAlchemy 2.0 Async  •  Alembic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Redis (pub/sub, queues, rate limits)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ARQ Background Workers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M-Pesa STK Push / B2C / Reversals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AWS S3 (private, presigned)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Clerk RS256 JWT Auth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Sentry  •  Prometheus  •  JSON Logs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B82F6"/>
                </a:solidFill>
                <a:latin typeface="Fredoka"/>
              </a:defRPr>
            </a:pPr>
            <a:r>
              <a:t>MOBILE &amp;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Expo SDK 54  •  React Native 0.81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React 19  •  Expo Router 6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NativeWind v4  •  TanStack Query v5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Zustand v5 State Management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@clerk/clerk-expo Auth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react-native-maps + WebSocket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Next.js 16 (Admin Console)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Tailwind v4  •  Recharts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Vercel Deployment (Console + Website)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778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E2E8F0"/>
                </a:solidFill>
                <a:latin typeface="Karla"/>
              </a:defRPr>
            </a:pPr>
            <a:r>
              <a:t>🏗️  Architecture Principle: One backend, one database, one pricing path. The console is a BFF — the browser never holds an API token.</a:t>
            </a:r>
            <a:br/>
            <a:r>
              <a:t>Geospatial: H3 hex indexing at resolution 8 with PostGIS ST_DWithin for exact-distance discovery.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Operations Console — 27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Every page carries aggregates that tell an operator whether anything needs doing — not just tables with search boxes.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🔧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Orders board  •  KYC Verification  •  Live Map  •  Catalogue</a:t>
            </a:r>
            <a:br/>
            <a:r>
              <a:t>Bottle Float  •  Vendor Verification  •  Disputes  •  Reviews</a:t>
            </a:r>
            <a:br/>
            <a:r>
              <a:t>Delivery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👥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Performance Dashboard  •  Fleet Management</a:t>
            </a:r>
            <a:br/>
            <a:r>
              <a:t>Customers  •  Riders  •  Vendors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💵 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Payouts  •  Transactions</a:t>
            </a:r>
            <a:br/>
            <a:r>
              <a:t>Reconciliation  •  Settlement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🎧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Ticket Inbox</a:t>
            </a:r>
            <a:br/>
            <a:r>
              <a:t>Threaded Conversations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57200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⚙️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1663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Administrators  •  Audit Log  •  Notifications</a:t>
            </a:r>
            <a:br/>
            <a:r>
              <a:t>Broadcast  •  Pricing (34 settings)  •  Settings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Security &amp; Guardrails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Platform-wide invariants enforced by tests that fail the build — not just documented rules.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🔒  Financial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Money is Decimal, never float — from DB through API to the formatted string. One quote, one charge, one stored total.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9456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🛡️  Auth &amp; 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974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Clerk RS256 JWT verification. Every order endpoint calls authorise_order_access. 26 admin capabilities, role-based presets.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0332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📸  Proof of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Photo proof mandatory on bottle deficit. Verification wall blocks riders until KYC approved. Identity documents presigned for 5 min.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0332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🔐  Zero-Trust Console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206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BFF architecture — browser never holds API token. No retry on reversals. Every mutation audited with written reason.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12079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3492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⚡  Concurrency 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1499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FOR UPDATE ... SKIP LOCKED on all sweeps. Commit-per-item. Two sanctioned push paths only — bare create_task fails the build.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212079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53492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🧪  Structural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71499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704 tests including AST walkers that reject: unguarded routes, missing capability checks, bypassed proof checks, retry buttons on settlements.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Competitive Advantage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Drop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WhatsApp Vendors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Maji.com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59" y="17373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Traditional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Real-time GPS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59" y="2286000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61488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76148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M-Pesa 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59" y="276148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Cash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236976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3697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Multi-vendor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Single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3236976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712464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712464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Proof of 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Photo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59" y="3712464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187952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187952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Bottle deposit tracking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Ledger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59" y="418795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4663440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6344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Admin console (27 screens)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Basic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59" y="4663440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138928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13892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Smart two-tier dispatch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0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09759" y="513892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" y="5614416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61441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Revenue reconciliation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Auto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Manual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9759" y="5614416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Go-to-Market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38328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1: 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BEAFE"/>
                </a:solidFill>
                <a:latin typeface="Karla"/>
              </a:defRPr>
            </a:pPr>
            <a:r>
              <a:t>Months 1–6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Launch in Ngong + Nairobi satellite towns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Onboard 50 water vendors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Recruit 100 gig riders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1,000 beta customers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Validate unit economics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737360"/>
            <a:ext cx="3383280" cy="7315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2: Grow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BEAFE"/>
                </a:solidFill>
                <a:latin typeface="Karla"/>
              </a:defRPr>
            </a:pPr>
            <a:r>
              <a:t>Months 7–18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Expand to 5 Nairobi sub-counties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Scale to 500 vendors, 1,000 riders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Wholesale (B2B) channel launch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Subscription model for offices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Target 25,000 monthly orders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737360"/>
            <a:ext cx="338328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3: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BEAFE"/>
                </a:solidFill>
                <a:latin typeface="Karla"/>
              </a:defRPr>
            </a:pPr>
            <a:r>
              <a:t>Months 19–36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10 Kenyan cities (Mombasa, Kisumu, etc.)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White-label for water corporates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Water quality certification badges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East Africa expansion (UG, TZ)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Target 200,000+ monthly 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Financial Projections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38328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4688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5,000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GMV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1089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35.3M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490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7490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4.29M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19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389119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1.47M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50292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3.5M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669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56692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DC2626"/>
                </a:solidFill>
                <a:latin typeface="JetBrains Mono"/>
              </a:defRPr>
            </a:pPr>
            <a:r>
              <a:t>-KSH 0.68M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1737360"/>
            <a:ext cx="338328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24688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24688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25,000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31089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GMV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31089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334M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0" y="37490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7490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33.1M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0" y="4389119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4389119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6.9M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50292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50292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12M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63440" y="5669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0" y="56692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6A34A"/>
                </a:solidFill>
                <a:latin typeface="JetBrains Mono"/>
              </a:defRPr>
            </a:pPr>
            <a:r>
              <a:t>KSH 14.2M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1737360"/>
            <a:ext cx="3383280" cy="548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467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24688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24688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200,000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31089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GMV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31089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3.9B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67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37490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92640" y="37490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339M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467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21040" y="4389119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92640" y="4389119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57.6M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467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21040" y="50292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92640" y="50292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65M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467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21040" y="5669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92640" y="56692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6A34A"/>
                </a:solidFill>
                <a:latin typeface="JetBrains Mono"/>
              </a:defRPr>
            </a:pPr>
            <a:r>
              <a:t>KSH 216.5M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Fredoka"/>
              </a:defRPr>
            </a:pPr>
            <a:r>
              <a:t>Current Traction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383280" cy="219456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🏗️  Product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DBEAFE"/>
                </a:solidFill>
                <a:latin typeface="Karla"/>
              </a:defRPr>
            </a:pPr>
            <a:r>
              <a:t>Full-stack platform complete — 3 mobile apps, admin console, backend API, all deployed and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219456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🧪  Beta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DBEAFE"/>
                </a:solidFill>
                <a:latin typeface="Karla"/>
              </a:defRPr>
            </a:pPr>
            <a:r>
              <a:t>APKs available for download on the website. Beta credentials active for external testers.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219456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✅  704 Tests 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DBEAFE"/>
                </a:solidFill>
                <a:latin typeface="Karla"/>
              </a:defRPr>
            </a:pPr>
            <a:r>
              <a:t>Comprehensive test suite including AST structural walkers. CI/CD pipeline on every push.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3383280" cy="219456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📄  27 Admin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DBEAFE"/>
                </a:solidFill>
                <a:latin typeface="Karla"/>
              </a:defRPr>
            </a:pPr>
            <a:r>
              <a:t>Complete operations console with KYC, disputes, reconciliation, delivery replay, and more.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023360"/>
            <a:ext cx="3383280" cy="219456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🔐  Security Hardened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DBEAFE"/>
                </a:solidFill>
                <a:latin typeface="Karla"/>
              </a:defRPr>
            </a:pPr>
            <a:r>
              <a:t>Clerk auth, BFF pattern, encrypted PII, audited mutations, concurrent-safe workers.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023360"/>
            <a:ext cx="3383280" cy="219456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📖  Fully Documented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DBEAFE"/>
                </a:solidFill>
                <a:latin typeface="Karla"/>
              </a:defRPr>
            </a:pPr>
            <a:r>
              <a:t>12 architecture docs, decision records, runbooks, and deployment guides.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2563EB"/>
                </a:solidFill>
                <a:latin typeface="Fredoka"/>
              </a:defRPr>
            </a:pPr>
            <a:r>
              <a:t>Seed Round: KSH 15M (~$115K USD)</a:t>
            </a:r>
          </a:p>
          <a:p>
            <a:pPr algn="ctr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18-month runway to achieve product-market fit and reach 25,000 monthly orders</a:t>
            </a:r>
          </a:p>
        </p:txBody>
      </p:sp>
      <p:sp>
        <p:nvSpPr>
          <p:cNvPr id="5" name="Oval 4"/>
          <p:cNvSpPr/>
          <p:nvPr/>
        </p:nvSpPr>
        <p:spPr>
          <a:xfrm>
            <a:off x="1508760" y="3200400"/>
            <a:ext cx="1005840" cy="10058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Operations &amp;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Vendor onboarding, rider recruitment, customer acquisition, and market activation across Nairobi satellite towns.</a:t>
            </a:r>
          </a:p>
        </p:txBody>
      </p:sp>
      <p:sp>
        <p:nvSpPr>
          <p:cNvPr id="8" name="Oval 7"/>
          <p:cNvSpPr/>
          <p:nvPr/>
        </p:nvSpPr>
        <p:spPr>
          <a:xfrm>
            <a:off x="4343400" y="3200400"/>
            <a:ext cx="1005840" cy="10058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Android + iOS builds, Play Store listing, push notification infrastructure, payment edge cases, and performance optimization.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7178040" y="3200400"/>
            <a:ext cx="1005840" cy="10058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Render hosting, Neon Postgres, Redis, AWS S3, Clerk auth, domain registration, and monitoring (Sentry, Prometheus).</a:t>
            </a:r>
          </a:p>
        </p:txBody>
      </p:sp>
      <p:sp>
        <p:nvSpPr>
          <p:cNvPr id="14" name="Oval 13"/>
          <p:cNvSpPr/>
          <p:nvPr/>
        </p:nvSpPr>
        <p:spPr>
          <a:xfrm>
            <a:off x="10012680" y="3200400"/>
            <a:ext cx="1005840" cy="10058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Legal &amp;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Business registration, M-Pesa partnership agreements, data protection compliance (Kenya Data Protection Act), and insurance.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Aft>
                <a:spcPts val="0"/>
              </a:spcAft>
              <a:defRPr sz="7200" b="1">
                <a:solidFill>
                  <a:srgbClr val="FFFFFF"/>
                </a:solidFill>
                <a:latin typeface="Fredoka"/>
              </a:defRPr>
            </a:pPr>
            <a:r>
              <a:t>💧 Drop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2400" b="0">
                <a:solidFill>
                  <a:srgbClr val="DBEAFE"/>
                </a:solidFill>
                <a:latin typeface="Fredoka"/>
              </a:defRPr>
            </a:pPr>
            <a:r>
              <a:t>Clean Water, Delivered to Your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Fredoka"/>
              </a:defRPr>
            </a:pPr>
            <a:r>
              <a:t>Let's talk.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DBEAFE"/>
                </a:solidFill>
                <a:latin typeface="Karla"/>
              </a:defRPr>
            </a:pPr>
            <a:r>
              <a:t>🌐  Website: drop-water-delivery-website.vercel.app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DBEAFE"/>
                </a:solidFill>
                <a:latin typeface="Karla"/>
              </a:defRPr>
            </a:pPr>
            <a:r>
              <a:t>⚡  Admin Console: drop-admin-five.vercel.app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DBEAFE"/>
                </a:solidFill>
                <a:latin typeface="Karla"/>
              </a:defRPr>
            </a:pPr>
            <a:r>
              <a:t>📦  GitHub: github.com/WinterJackson/drop-water-delivery-app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DBEAFE"/>
                </a:solidFill>
                <a:latin typeface="Karla"/>
              </a:defRPr>
            </a:pPr>
            <a:r>
              <a:t>📱  Beta APKs: Available for download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9436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Fredoka"/>
              </a:defRPr>
            </a:pPr>
            <a:r>
              <a:t>Thank you  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